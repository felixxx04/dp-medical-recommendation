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系统采用四层架构完整落地。前端使用React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3.2加MyBatis加MySQL，负责JWT认证、推荐代理和隐私预算管理。模型服务使用FastAPI加PyTorch，实现了四层推荐引擎、DP噪声注入和英中翻译管线。安全数据方面，禁忌症覆盖95.3%，交互覆盖81.5%，综合安全覆盖97.0%。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这是推荐审核页面，医生可以对系统生成的推荐结果进行审核、标记和确认。左侧展示待审核和已审核的推荐列表，右侧是推荐详情卡片，包含安全标签、药物信息和医生操作按钮。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这是核心的用药推荐页面。医生输入患者信息后，系统经过四层架构处理，返回个性化推荐结果。每条推荐包含药物名称、评分、安全标签（禁忌/交互/妊娠警告），以及DP噪声置信区间。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这是隐私配置页面，展示ε/δ等DP参数的实时配置界面、噪声分布可视化图和隐私预算消耗追踪。管理员可以调整DP参数，系统实时计算并展示噪声分布对推荐结果的影响。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推荐统计仪表板展示推荐历史统计、安全过滤数据和隐私消耗概览，帮助管理员监控系统运行状态和安全过滤效果。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系统首页提供登录入口和功能导航，展示系统概览信息。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15e9c96b7813d6a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2b99486caedac0f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77de95fa65c0b68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63fe7abeb16af6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82eda3b3d100410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solidFill>
            <a:srgbClr val="2E3F55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762000"/>
            <a:ext cx="2286000" cy="2286000"/>
          </a:xfrm>
          <a:prstGeom prst="ellipse">
            <a:avLst/>
          </a:prstGeom>
          <a:solidFill>
            <a:srgbClr val="AE6339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D4B5B2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62000" y="762000"/>
            <a:ext cx="571500" cy="571500"/>
            <a:chOff x="762000" y="762000"/>
            <a:chExt cx="571500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762000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8507" y="828507"/>
              <a:ext cx="428793" cy="412291"/>
              <a:chOff x="828507" y="828507"/>
              <a:chExt cx="428793" cy="4122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9806" y="828507"/>
                <a:ext cx="193829" cy="206144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4">
                    <a:moveTo>
                      <a:pt x="130405" y="13724"/>
                    </a:moveTo>
                    <a:cubicBezTo>
                      <a:pt x="171577" y="27448"/>
                      <a:pt x="193829" y="71950"/>
                      <a:pt x="180105" y="113122"/>
                    </a:cubicBezTo>
                    <a:lnTo>
                      <a:pt x="149097" y="206144"/>
                    </a:lnTo>
                    <a:lnTo>
                      <a:pt x="0" y="156445"/>
                    </a:lnTo>
                    <a:lnTo>
                      <a:pt x="31007" y="63423"/>
                    </a:lnTo>
                    <a:cubicBezTo>
                      <a:pt x="44731" y="22251"/>
                      <a:pt x="89233" y="0"/>
                      <a:pt x="130405" y="13724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507" y="1034651"/>
                <a:ext cx="193829" cy="206147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7">
                    <a:moveTo>
                      <a:pt x="193829" y="49699"/>
                    </a:moveTo>
                    <a:lnTo>
                      <a:pt x="162822" y="142721"/>
                    </a:lnTo>
                    <a:cubicBezTo>
                      <a:pt x="149098" y="183895"/>
                      <a:pt x="104595" y="206147"/>
                      <a:pt x="63423" y="192421"/>
                    </a:cubicBezTo>
                    <a:cubicBezTo>
                      <a:pt x="22251" y="178698"/>
                      <a:pt x="0" y="134195"/>
                      <a:pt x="13724" y="93024"/>
                    </a:cubicBezTo>
                    <a:lnTo>
                      <a:pt x="44732" y="0"/>
                    </a:lnTo>
                    <a:lnTo>
                      <a:pt x="193829" y="49699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3944" y="1047750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91678" y="183356"/>
                    </a:moveTo>
                    <a:cubicBezTo>
                      <a:pt x="142311" y="183356"/>
                      <a:pt x="183356" y="142311"/>
                      <a:pt x="183356" y="91678"/>
                    </a:cubicBezTo>
                    <a:cubicBezTo>
                      <a:pt x="183356" y="41046"/>
                      <a:pt x="142311" y="0"/>
                      <a:pt x="91678" y="0"/>
                    </a:cubicBezTo>
                    <a:cubicBezTo>
                      <a:pt x="41046" y="0"/>
                      <a:pt x="0" y="41046"/>
                      <a:pt x="0" y="91678"/>
                    </a:cubicBezTo>
                    <a:cubicBezTo>
                      <a:pt x="0" y="142311"/>
                      <a:pt x="41046" y="183356"/>
                      <a:pt x="91678" y="183356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1459230" y="854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河南工业大学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40" y="1105852"/>
            <a:ext cx="2326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Henan University of Technology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1476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D4B5B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20090" y="2310765"/>
            <a:ext cx="362626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差分隐私保护的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090" y="2863215"/>
            <a:ext cx="405641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AI驱动个性化医疗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090" y="341566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用药推荐系统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1045" y="4203382"/>
            <a:ext cx="51025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Differential Privacy-Protected AI-Powered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4489132"/>
            <a:ext cx="59218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Personalized Medical Drug Recommendation System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5429250"/>
            <a:ext cx="4762500" cy="952500"/>
            <a:chOff x="762000" y="5429250"/>
            <a:chExt cx="4762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62000" y="5429250"/>
              <a:ext cx="4762500" cy="95250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60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510" y="5633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本科毕业设计答辩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92693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答辩人：晋修慧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5619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8462" y="5784056"/>
              <a:ext cx="80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2026年5月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0" y="2381250"/>
            <a:ext cx="3619500" cy="2667000"/>
            <a:chOff x="7810500" y="2381250"/>
            <a:chExt cx="36195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7810500" y="2381250"/>
              <a:ext cx="3619500" cy="2667000"/>
            </a:xfrm>
            <a:prstGeom prst="roundRect">
              <a:avLst>
                <a:gd name="adj" fmla="val 7143"/>
              </a:avLst>
            </a:prstGeom>
            <a:solidFill>
              <a:srgbClr val="2E3F55">
                <a:alpha val="5000"/>
              </a:srgbClr>
            </a:solidFill>
            <a:ln w="14288">
              <a:solidFill>
                <a:srgbClr val="2E3F55">
                  <a:alpha val="10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143875" y="266700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159548" y="637837"/>
                  </a:moveTo>
                  <a:lnTo>
                    <a:pt x="333375" y="762000"/>
                  </a:lnTo>
                  <a:lnTo>
                    <a:pt x="507201" y="637837"/>
                  </a:lnTo>
                  <a:cubicBezTo>
                    <a:pt x="607328" y="566318"/>
                    <a:pt x="666750" y="450850"/>
                    <a:pt x="666750" y="327806"/>
                  </a:cubicBezTo>
                  <a:lnTo>
                    <a:pt x="666750" y="142875"/>
                  </a:lnTo>
                  <a:lnTo>
                    <a:pt x="333375" y="0"/>
                  </a:lnTo>
                  <a:lnTo>
                    <a:pt x="0" y="142875"/>
                  </a:lnTo>
                  <a:lnTo>
                    <a:pt x="0" y="327806"/>
                  </a:lnTo>
                  <a:cubicBezTo>
                    <a:pt x="0" y="450850"/>
                    <a:pt x="59423" y="566318"/>
                    <a:pt x="159548" y="637837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05938" y="295275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250031" y="250031"/>
                  </a:moveTo>
                  <a:lnTo>
                    <a:pt x="285750" y="0"/>
                  </a:lnTo>
                  <a:lnTo>
                    <a:pt x="214312" y="0"/>
                  </a:lnTo>
                  <a:lnTo>
                    <a:pt x="0" y="250031"/>
                  </a:lnTo>
                  <a:lnTo>
                    <a:pt x="0" y="321469"/>
                  </a:lnTo>
                  <a:lnTo>
                    <a:pt x="178594" y="321469"/>
                  </a:lnTo>
                  <a:lnTo>
                    <a:pt x="142875" y="571500"/>
                  </a:lnTo>
                  <a:lnTo>
                    <a:pt x="214312" y="571500"/>
                  </a:lnTo>
                  <a:lnTo>
                    <a:pt x="428625" y="321469"/>
                  </a:lnTo>
                  <a:lnTo>
                    <a:pt x="428625" y="250031"/>
                  </a:lnTo>
                  <a:lnTo>
                    <a:pt x="250031" y="250031"/>
                  </a:ln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366830" y="2651580"/>
              <a:ext cx="682170" cy="655917"/>
              <a:chOff x="10366830" y="2651580"/>
              <a:chExt cx="682170" cy="65591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464350" y="2651580"/>
                <a:ext cx="308364" cy="327956"/>
              </a:xfrm>
              <a:custGeom>
                <a:avLst/>
                <a:gdLst/>
                <a:ahLst/>
                <a:cxnLst/>
                <a:rect l="l" t="t" r="r" b="b"/>
                <a:pathLst>
                  <a:path w="308364" h="327956">
                    <a:moveTo>
                      <a:pt x="207463" y="21834"/>
                    </a:moveTo>
                    <a:cubicBezTo>
                      <a:pt x="272964" y="43667"/>
                      <a:pt x="308364" y="114466"/>
                      <a:pt x="286530" y="179967"/>
                    </a:cubicBezTo>
                    <a:lnTo>
                      <a:pt x="237200" y="327956"/>
                    </a:lnTo>
                    <a:lnTo>
                      <a:pt x="0" y="248889"/>
                    </a:lnTo>
                    <a:lnTo>
                      <a:pt x="49329" y="100901"/>
                    </a:lnTo>
                    <a:cubicBezTo>
                      <a:pt x="71163" y="35399"/>
                      <a:pt x="141962" y="0"/>
                      <a:pt x="207463" y="21834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66830" y="2979536"/>
                <a:ext cx="308365" cy="327961"/>
              </a:xfrm>
              <a:custGeom>
                <a:avLst/>
                <a:gdLst/>
                <a:ahLst/>
                <a:cxnLst/>
                <a:rect l="l" t="t" r="r" b="b"/>
                <a:pathLst>
                  <a:path w="308365" h="327961">
                    <a:moveTo>
                      <a:pt x="308365" y="79067"/>
                    </a:moveTo>
                    <a:lnTo>
                      <a:pt x="259034" y="227057"/>
                    </a:lnTo>
                    <a:cubicBezTo>
                      <a:pt x="237201" y="292561"/>
                      <a:pt x="166402" y="327961"/>
                      <a:pt x="100901" y="306125"/>
                    </a:cubicBezTo>
                    <a:cubicBezTo>
                      <a:pt x="35399" y="284293"/>
                      <a:pt x="0" y="213493"/>
                      <a:pt x="21834" y="147993"/>
                    </a:cubicBezTo>
                    <a:lnTo>
                      <a:pt x="71164" y="0"/>
                    </a:lnTo>
                    <a:lnTo>
                      <a:pt x="308365" y="79067"/>
                    </a:ln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57297" y="3000375"/>
                <a:ext cx="291703" cy="291703"/>
              </a:xfrm>
              <a:custGeom>
                <a:avLst/>
                <a:gdLst/>
                <a:ahLst/>
                <a:cxnLst/>
                <a:rect l="l" t="t" r="r" b="b"/>
                <a:pathLst>
                  <a:path w="291703" h="291703">
                    <a:moveTo>
                      <a:pt x="145852" y="291703"/>
                    </a:moveTo>
                    <a:cubicBezTo>
                      <a:pt x="226403" y="291703"/>
                      <a:pt x="291703" y="226403"/>
                      <a:pt x="291703" y="145852"/>
                    </a:cubicBezTo>
                    <a:cubicBezTo>
                      <a:pt x="291703" y="65300"/>
                      <a:pt x="226403" y="0"/>
                      <a:pt x="145852" y="0"/>
                    </a:cubicBezTo>
                    <a:cubicBezTo>
                      <a:pt x="65300" y="0"/>
                      <a:pt x="0" y="65300"/>
                      <a:pt x="0" y="145852"/>
                    </a:cubicBezTo>
                    <a:cubicBezTo>
                      <a:pt x="0" y="226403"/>
                      <a:pt x="65300" y="291703"/>
                      <a:pt x="145852" y="291703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8286750" y="3940969"/>
              <a:ext cx="571500" cy="500063"/>
              <a:chOff x="8286750" y="3940969"/>
              <a:chExt cx="571500" cy="5000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715375" y="3940969"/>
                <a:ext cx="142875" cy="500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00062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500062"/>
                    </a:lnTo>
                    <a:lnTo>
                      <a:pt x="142875" y="500062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01062" y="4083844"/>
                <a:ext cx="14287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88"/>
                    </a:lnTo>
                    <a:lnTo>
                      <a:pt x="0" y="357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86750" y="4226719"/>
                <a:ext cx="1428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14312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214312"/>
                    </a:lnTo>
                    <a:lnTo>
                      <a:pt x="0" y="214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9462492" y="4000500"/>
              <a:ext cx="458391" cy="523875"/>
              <a:chOff x="9462492" y="4000500"/>
              <a:chExt cx="458391" cy="523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462492" y="4000500"/>
                <a:ext cx="45839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261938">
                    <a:moveTo>
                      <a:pt x="0" y="163711"/>
                    </a:moveTo>
                    <a:lnTo>
                      <a:pt x="0" y="98227"/>
                    </a:lnTo>
                    <a:lnTo>
                      <a:pt x="229195" y="0"/>
                    </a:lnTo>
                    <a:lnTo>
                      <a:pt x="458391" y="98227"/>
                    </a:lnTo>
                    <a:lnTo>
                      <a:pt x="458391" y="163711"/>
                    </a:lnTo>
                    <a:lnTo>
                      <a:pt x="229195" y="261938"/>
                    </a:lnTo>
                    <a:lnTo>
                      <a:pt x="0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62492" y="4360664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229195" y="163711"/>
                    </a:moveTo>
                    <a:lnTo>
                      <a:pt x="0" y="65484"/>
                    </a:lnTo>
                    <a:lnTo>
                      <a:pt x="0" y="0"/>
                    </a:lnTo>
                    <a:lnTo>
                      <a:pt x="229195" y="98227"/>
                    </a:lnTo>
                    <a:lnTo>
                      <a:pt x="458391" y="0"/>
                    </a:lnTo>
                    <a:lnTo>
                      <a:pt x="458391" y="65484"/>
                    </a:lnTo>
                    <a:lnTo>
                      <a:pt x="229195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62492" y="4229695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0" y="65484"/>
                    </a:moveTo>
                    <a:lnTo>
                      <a:pt x="229195" y="163711"/>
                    </a:lnTo>
                    <a:lnTo>
                      <a:pt x="458391" y="65484"/>
                    </a:lnTo>
                    <a:lnTo>
                      <a:pt x="458391" y="0"/>
                    </a:lnTo>
                    <a:lnTo>
                      <a:pt x="229195" y="98227"/>
                    </a:lnTo>
                    <a:lnTo>
                      <a:pt x="0" y="0"/>
                    </a:lnTo>
                    <a:lnTo>
                      <a:pt x="0" y="65484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0382250" y="3857625"/>
              <a:ext cx="619125" cy="619125"/>
              <a:chOff x="10382250" y="3857625"/>
              <a:chExt cx="619125" cy="6191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537031" y="4012406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154781" y="0"/>
                    </a:moveTo>
                    <a:cubicBezTo>
                      <a:pt x="69298" y="0"/>
                      <a:pt x="0" y="69298"/>
                      <a:pt x="0" y="154781"/>
                    </a:cubicBezTo>
                    <a:cubicBezTo>
                      <a:pt x="0" y="240263"/>
                      <a:pt x="69298" y="309562"/>
                      <a:pt x="154781" y="309562"/>
                    </a:cubicBezTo>
                    <a:cubicBezTo>
                      <a:pt x="240263" y="309562"/>
                      <a:pt x="309562" y="240263"/>
                      <a:pt x="309562" y="154781"/>
                    </a:cubicBezTo>
                    <a:cubicBezTo>
                      <a:pt x="309562" y="69298"/>
                      <a:pt x="240263" y="0"/>
                      <a:pt x="154781" y="0"/>
                    </a:cubicBezTo>
                    <a:close/>
                    <a:moveTo>
                      <a:pt x="77391" y="154781"/>
                    </a:moveTo>
                    <a:cubicBezTo>
                      <a:pt x="77391" y="112040"/>
                      <a:pt x="112040" y="77391"/>
                      <a:pt x="154781" y="77391"/>
                    </a:cubicBezTo>
                    <a:cubicBezTo>
                      <a:pt x="197523" y="77391"/>
                      <a:pt x="232172" y="112040"/>
                      <a:pt x="232172" y="154781"/>
                    </a:cubicBezTo>
                    <a:cubicBezTo>
                      <a:pt x="232172" y="197523"/>
                      <a:pt x="197523" y="232172"/>
                      <a:pt x="154781" y="232172"/>
                    </a:cubicBezTo>
                    <a:cubicBezTo>
                      <a:pt x="112040" y="232172"/>
                      <a:pt x="77391" y="197523"/>
                      <a:pt x="77391" y="154781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382250" y="3857625"/>
                <a:ext cx="619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619125">
                    <a:moveTo>
                      <a:pt x="309562" y="0"/>
                    </a:moveTo>
                    <a:cubicBezTo>
                      <a:pt x="138596" y="0"/>
                      <a:pt x="0" y="138596"/>
                      <a:pt x="0" y="309562"/>
                    </a:cubicBezTo>
                    <a:cubicBezTo>
                      <a:pt x="0" y="480530"/>
                      <a:pt x="138596" y="619125"/>
                      <a:pt x="309562" y="619125"/>
                    </a:cubicBezTo>
                    <a:cubicBezTo>
                      <a:pt x="480530" y="619125"/>
                      <a:pt x="619125" y="480530"/>
                      <a:pt x="619125" y="309562"/>
                    </a:cubicBezTo>
                    <a:cubicBezTo>
                      <a:pt x="619125" y="138596"/>
                      <a:pt x="480530" y="0"/>
                      <a:pt x="309562" y="0"/>
                    </a:cubicBezTo>
                    <a:close/>
                    <a:moveTo>
                      <a:pt x="77391" y="309562"/>
                    </a:moveTo>
                    <a:cubicBezTo>
                      <a:pt x="77391" y="181337"/>
                      <a:pt x="181337" y="77391"/>
                      <a:pt x="309562" y="77391"/>
                    </a:cubicBezTo>
                    <a:cubicBezTo>
                      <a:pt x="437787" y="77391"/>
                      <a:pt x="541734" y="181337"/>
                      <a:pt x="541734" y="309562"/>
                    </a:cubicBezTo>
                    <a:cubicBezTo>
                      <a:pt x="541734" y="437787"/>
                      <a:pt x="437787" y="541734"/>
                      <a:pt x="309562" y="541734"/>
                    </a:cubicBezTo>
                    <a:cubicBezTo>
                      <a:pt x="181337" y="541734"/>
                      <a:pt x="77391" y="437787"/>
                      <a:pt x="77391" y="309562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</p:grpSp>
      <p:sp>
        <p:nvSpPr>
          <p:cNvPr id="48" name="Rectangle 4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9570"/>
            <a:ext cx="1775698" cy="587692"/>
            <a:chOff x="571500" y="369570"/>
            <a:chExt cx="1775698" cy="587692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1520" y="3695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研究框架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665" y="7439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RESEARCH FRAMEWORK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238250"/>
            <a:ext cx="5334000" cy="685800"/>
            <a:chOff x="762000" y="1238250"/>
            <a:chExt cx="5334000" cy="685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3916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33500" y="1390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3550" y="13906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0218" y="165687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医疗用药安全与隐私保护的双重挑战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1238250"/>
            <a:ext cx="5334000" cy="685800"/>
            <a:chOff x="6477000" y="1238250"/>
            <a:chExt cx="5334000" cy="685800"/>
          </a:xfrm>
        </p:grpSpPr>
        <p:sp>
          <p:nvSpPr>
            <p:cNvPr id="16" name="Rectangle 16"/>
            <p:cNvSpPr/>
            <p:nvPr/>
          </p:nvSpPr>
          <p:spPr>
            <a:xfrm>
              <a:off x="6477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477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9415" y="1391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086600" y="1352550"/>
              <a:ext cx="228600" cy="304800"/>
              <a:chOff x="7086600" y="1352550"/>
              <a:chExt cx="2286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162800" y="135255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86600" y="139065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448550" y="13906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5218" y="16568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功能、非功能与安全三层需求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2114550"/>
            <a:ext cx="5334000" cy="685800"/>
            <a:chOff x="762000" y="2114550"/>
            <a:chExt cx="5334000" cy="685800"/>
          </a:xfrm>
        </p:grpSpPr>
        <p:sp>
          <p:nvSpPr>
            <p:cNvPr id="25" name="Rectangle 25"/>
            <p:cNvSpPr/>
            <p:nvPr/>
          </p:nvSpPr>
          <p:spPr>
            <a:xfrm>
              <a:off x="762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762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52550" y="2228850"/>
              <a:ext cx="266700" cy="304800"/>
              <a:chOff x="1352550" y="2228850"/>
              <a:chExt cx="266700" cy="304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52550" y="2228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52550" y="24384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52550" y="23622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33550" y="226695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0218" y="2533174"/>
              <a:ext cx="38268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KnowledgeRouter → SafetyFilter → RuleMarker → DeepFM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2114550"/>
            <a:ext cx="5334000" cy="685800"/>
            <a:chOff x="6477000" y="2114550"/>
            <a:chExt cx="53340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477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477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9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067550" y="2228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48550" y="2266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5218" y="2533174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DP噪声仅作用于评分层，临床安全不受影响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2990850"/>
            <a:ext cx="5334000" cy="685800"/>
            <a:chOff x="762000" y="2990850"/>
            <a:chExt cx="5334000" cy="685800"/>
          </a:xfrm>
        </p:grpSpPr>
        <p:sp>
          <p:nvSpPr>
            <p:cNvPr id="42" name="Rectangle 42"/>
            <p:cNvSpPr/>
            <p:nvPr/>
          </p:nvSpPr>
          <p:spPr>
            <a:xfrm>
              <a:off x="762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762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371600" y="310515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33550" y="3143250"/>
              <a:ext cx="17633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0218" y="3409474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连续特征旁路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77000" y="2990850"/>
            <a:ext cx="5334000" cy="685800"/>
            <a:chOff x="6477000" y="2990850"/>
            <a:chExt cx="5334000" cy="685800"/>
          </a:xfrm>
        </p:grpSpPr>
        <p:sp>
          <p:nvSpPr>
            <p:cNvPr id="49" name="Rectangle 49"/>
            <p:cNvSpPr/>
            <p:nvPr/>
          </p:nvSpPr>
          <p:spPr>
            <a:xfrm>
              <a:off x="6477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6477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06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067550" y="31242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0"/>
                  </a:lnTo>
                  <a:close/>
                  <a:moveTo>
                    <a:pt x="95250" y="76200"/>
                  </a:moveTo>
                  <a:lnTo>
                    <a:pt x="122191" y="103141"/>
                  </a:lnTo>
                  <a:lnTo>
                    <a:pt x="91982" y="133350"/>
                  </a:lnTo>
                  <a:lnTo>
                    <a:pt x="122191" y="163559"/>
                  </a:lnTo>
                  <a:lnTo>
                    <a:pt x="95250" y="190500"/>
                  </a:lnTo>
                  <a:lnTo>
                    <a:pt x="38100" y="133350"/>
                  </a:lnTo>
                  <a:lnTo>
                    <a:pt x="95250" y="76200"/>
                  </a:lnTo>
                  <a:close/>
                  <a:moveTo>
                    <a:pt x="171450" y="76200"/>
                  </a:moveTo>
                  <a:lnTo>
                    <a:pt x="144509" y="103141"/>
                  </a:lnTo>
                  <a:lnTo>
                    <a:pt x="174719" y="133350"/>
                  </a:lnTo>
                  <a:lnTo>
                    <a:pt x="144509" y="163559"/>
                  </a:lnTo>
                  <a:lnTo>
                    <a:pt x="171450" y="190500"/>
                  </a:lnTo>
                  <a:lnTo>
                    <a:pt x="228600" y="133350"/>
                  </a:lnTo>
                  <a:lnTo>
                    <a:pt x="171450" y="7620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8550" y="31432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5218" y="3409474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React + Spring Boot + FastAPI 三层架构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2000" y="3867150"/>
            <a:ext cx="5334000" cy="685800"/>
            <a:chOff x="762000" y="3867150"/>
            <a:chExt cx="5334000" cy="685800"/>
          </a:xfrm>
        </p:grpSpPr>
        <p:sp>
          <p:nvSpPr>
            <p:cNvPr id="56" name="Rectangle 56"/>
            <p:cNvSpPr/>
            <p:nvPr/>
          </p:nvSpPr>
          <p:spPr>
            <a:xfrm>
              <a:off x="762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762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4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07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333500" y="4000500"/>
              <a:ext cx="304800" cy="266700"/>
              <a:chOff x="1333500" y="4000500"/>
              <a:chExt cx="3048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562100" y="40005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447800" y="40767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333500" y="41529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733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40218" y="4285774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DP保护不降质，模型区分度反而提升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77000" y="3867150"/>
            <a:ext cx="5334000" cy="685800"/>
            <a:chOff x="6477000" y="3867150"/>
            <a:chExt cx="5334000" cy="685800"/>
          </a:xfrm>
        </p:grpSpPr>
        <p:sp>
          <p:nvSpPr>
            <p:cNvPr id="66" name="Rectangle 66"/>
            <p:cNvSpPr/>
            <p:nvPr/>
          </p:nvSpPr>
          <p:spPr>
            <a:xfrm>
              <a:off x="6477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6477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9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08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704850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48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55218" y="42857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安全与隐私可以兼得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2000" y="5048250"/>
            <a:ext cx="11049000" cy="1428750"/>
            <a:chOff x="762000" y="5048250"/>
            <a:chExt cx="11049000" cy="1428750"/>
          </a:xfrm>
        </p:grpSpPr>
        <p:sp>
          <p:nvSpPr>
            <p:cNvPr id="73" name="Rectangle 73"/>
            <p:cNvSpPr/>
            <p:nvPr/>
          </p:nvSpPr>
          <p:spPr>
            <a:xfrm>
              <a:off x="762000" y="5048250"/>
              <a:ext cx="11049000" cy="1428750"/>
            </a:xfrm>
            <a:prstGeom prst="roundRect">
              <a:avLst>
                <a:gd name="adj" fmla="val 8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88182" y="522874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CORE METRICS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780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0.9668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552682" y="5847874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(No-DP)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2355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0.9658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28303" y="5847874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(DP ε=1.0)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54281" y="5423535"/>
              <a:ext cx="1331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+13.3%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70062" y="5847874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Separation 提升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92889" y="542353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6921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85" name="Rectangle 8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41" grpId="0"/>
      <p:bldP spid="48" grpId="0"/>
      <p:bldP spid="55" grpId="0"/>
      <p:bldP spid="65" grpId="0"/>
      <p:bldP spid="72" grpId="0"/>
      <p:bldP spid="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334250" y="762000"/>
            <a:ext cx="5334000" cy="5334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572500" y="1428750"/>
            <a:ext cx="3429000" cy="3429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47675"/>
            <a:chOff x="571500" y="381000"/>
            <a:chExt cx="2471452" cy="44767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019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83360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医疗用药推荐面临安全与隐私双重挑战，需构建安全过滤+隐私保护+个性化推荐的统一框架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66875"/>
            <a:ext cx="5334000" cy="2095500"/>
            <a:chOff x="571500" y="1666875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49320" y="1849445"/>
              <a:ext cx="350830" cy="337329"/>
              <a:chOff x="849320" y="1849445"/>
              <a:chExt cx="350830" cy="3373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99473" y="1849445"/>
                <a:ext cx="158587" cy="168663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3">
                    <a:moveTo>
                      <a:pt x="106695" y="11229"/>
                    </a:moveTo>
                    <a:cubicBezTo>
                      <a:pt x="140382" y="22458"/>
                      <a:pt x="158587" y="58868"/>
                      <a:pt x="147358" y="92555"/>
                    </a:cubicBezTo>
                    <a:lnTo>
                      <a:pt x="121989" y="168663"/>
                    </a:lnTo>
                    <a:lnTo>
                      <a:pt x="0" y="128000"/>
                    </a:lnTo>
                    <a:lnTo>
                      <a:pt x="25369" y="51892"/>
                    </a:lnTo>
                    <a:cubicBezTo>
                      <a:pt x="36598" y="18205"/>
                      <a:pt x="73009" y="0"/>
                      <a:pt x="106695" y="1122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9320" y="2018108"/>
                <a:ext cx="158587" cy="168666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6">
                    <a:moveTo>
                      <a:pt x="158587" y="40663"/>
                    </a:moveTo>
                    <a:lnTo>
                      <a:pt x="133218" y="116772"/>
                    </a:lnTo>
                    <a:cubicBezTo>
                      <a:pt x="121989" y="150460"/>
                      <a:pt x="85578" y="168666"/>
                      <a:pt x="51892" y="157436"/>
                    </a:cubicBezTo>
                    <a:cubicBezTo>
                      <a:pt x="18205" y="146208"/>
                      <a:pt x="0" y="109796"/>
                      <a:pt x="11229" y="76111"/>
                    </a:cubicBezTo>
                    <a:lnTo>
                      <a:pt x="36599" y="0"/>
                    </a:lnTo>
                    <a:lnTo>
                      <a:pt x="158587" y="40663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0131" y="2028825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75009" y="150019"/>
                    </a:moveTo>
                    <a:cubicBezTo>
                      <a:pt x="116436" y="150019"/>
                      <a:pt x="150019" y="116436"/>
                      <a:pt x="150019" y="75009"/>
                    </a:cubicBezTo>
                    <a:cubicBezTo>
                      <a:pt x="150019" y="33583"/>
                      <a:pt x="116436" y="0"/>
                      <a:pt x="75009" y="0"/>
                    </a:cubicBezTo>
                    <a:cubicBezTo>
                      <a:pt x="33583" y="0"/>
                      <a:pt x="0" y="33583"/>
                      <a:pt x="0" y="75009"/>
                    </a:cubicBezTo>
                    <a:cubicBezTo>
                      <a:pt x="0" y="116436"/>
                      <a:pt x="33583" y="150019"/>
                      <a:pt x="75009" y="15001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2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用药安全问题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24450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药物不良反应致死率居高不下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105" y="27308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传统推荐系统</a:t>
              </a:r>
              <a:r>
                <a:rPr lang="zh-CN" sz="13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缺乏安全过滤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0105" y="3016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禁忌症、过敏、药物交互未排除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33632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WHO: 不良反应位列全球十大死因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66875"/>
            <a:ext cx="5334000" cy="2095500"/>
            <a:chOff x="6286500" y="1666875"/>
            <a:chExt cx="5334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AE6339">
                  <a:alpha val="30000"/>
                </a:srgbClr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93681" y="185737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71797" y="287027"/>
                  </a:moveTo>
                  <a:lnTo>
                    <a:pt x="150019" y="342900"/>
                  </a:lnTo>
                  <a:lnTo>
                    <a:pt x="228241" y="287027"/>
                  </a:lnTo>
                  <a:cubicBezTo>
                    <a:pt x="273298" y="254843"/>
                    <a:pt x="300038" y="202883"/>
                    <a:pt x="300038" y="147513"/>
                  </a:cubicBezTo>
                  <a:lnTo>
                    <a:pt x="300038" y="64294"/>
                  </a:lnTo>
                  <a:lnTo>
                    <a:pt x="150019" y="0"/>
                  </a:lnTo>
                  <a:lnTo>
                    <a:pt x="0" y="64294"/>
                  </a:lnTo>
                  <a:lnTo>
                    <a:pt x="0" y="147513"/>
                  </a:lnTo>
                  <a:cubicBezTo>
                    <a:pt x="0" y="202883"/>
                    <a:pt x="26740" y="254843"/>
                    <a:pt x="71797" y="287027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7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72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4450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患者健康数据高度敏感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7308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推荐过程中</a:t>
              </a:r>
              <a:r>
                <a:rPr lang="zh-CN" sz="13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显著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5105" y="301656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合规要求：GDPR / 个人信息保护法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8915" y="33632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健康数据属于特殊类别个人信息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095750"/>
            <a:ext cx="11049000" cy="1209675"/>
            <a:chOff x="571500" y="4095750"/>
            <a:chExt cx="11049000" cy="1209675"/>
          </a:xfrm>
        </p:grpSpPr>
        <p:sp>
          <p:nvSpPr>
            <p:cNvPr id="35" name="Rectangle 35"/>
            <p:cNvSpPr/>
            <p:nvPr/>
          </p:nvSpPr>
          <p:spPr>
            <a:xfrm>
              <a:off x="571500" y="40957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095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57250" y="4381500"/>
              <a:ext cx="381000" cy="381000"/>
              <a:chOff x="857250" y="4381500"/>
              <a:chExt cx="381000" cy="381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2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7250" y="4381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360170" y="43748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105" y="4807268"/>
              <a:ext cx="4431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构建</a:t>
              </a:r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安全过滤 + 隐私保护 + 个性化推荐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的统一框架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5061585"/>
              <a:ext cx="62697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SafetyFilter确定性硬排除 → RuleMarker软标记 → DeepFM个性化评分 + DP噪声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26669" y="5695950"/>
            <a:ext cx="7979331" cy="352425"/>
            <a:chOff x="1926669" y="5695950"/>
            <a:chExt cx="7979331" cy="352425"/>
          </a:xfrm>
        </p:grpSpPr>
        <p:sp>
          <p:nvSpPr>
            <p:cNvPr id="44" name="TextBox 44"/>
            <p:cNvSpPr txBox="1"/>
            <p:nvPr/>
          </p:nvSpPr>
          <p:spPr>
            <a:xfrm>
              <a:off x="19266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安全问题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147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31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912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=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5695950"/>
              <a:ext cx="3429000" cy="342900"/>
            </a:xfrm>
            <a:prstGeom prst="roundRect">
              <a:avLst>
                <a:gd name="adj" fmla="val 22222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2122" y="57950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安全与隐私兼得的推荐系统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/>
      <p:bldP spid="43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2900"/>
            <a:ext cx="2149411" cy="447675"/>
            <a:chOff x="571500" y="342900"/>
            <a:chExt cx="2149411" cy="447675"/>
          </a:xfrm>
        </p:grpSpPr>
        <p:sp>
          <p:nvSpPr>
            <p:cNvPr id="5" name="Rectangle 5"/>
            <p:cNvSpPr/>
            <p:nvPr/>
          </p:nvSpPr>
          <p:spPr>
            <a:xfrm>
              <a:off x="571500" y="342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638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80962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9372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三层需求驱动系统设计：功能需求保障核心能力，非功能需求确保性能，安全需求守护生命底线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428750"/>
            <a:ext cx="3524250" cy="4762500"/>
            <a:chOff x="571500" y="1428750"/>
            <a:chExt cx="3524250" cy="4762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90700"/>
              <a:ext cx="3524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00100" y="1524000"/>
              <a:ext cx="228600" cy="304800"/>
              <a:chOff x="800100" y="1524000"/>
              <a:chExt cx="2286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76300" y="15240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0100" y="15621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25855" y="1587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功能需求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9625" y="2124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885" y="2089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患者信息管理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6790" y="2315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慢性病、过敏史、用药记录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9625" y="2695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85" y="2661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智能药物推荐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790" y="2887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基于患者画像的个性化推荐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9625" y="3267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4885" y="3232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安全审查机制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3458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禁忌症过滤、交互检查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09625" y="3838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885" y="3804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隐私预算追踪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0300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ε消耗量实时监控与预算控制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09625" y="4410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4885" y="4375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审查面板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790" y="4601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医生审核、标记、确认推荐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09625" y="4981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4885" y="4947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隐私可视化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790" y="5173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噪声分布、预算消耗图表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33875" y="1428750"/>
            <a:ext cx="3524250" cy="4762500"/>
            <a:chOff x="4333875" y="1428750"/>
            <a:chExt cx="3524250" cy="4762500"/>
          </a:xfrm>
        </p:grpSpPr>
        <p:sp>
          <p:nvSpPr>
            <p:cNvPr id="36" name="Rectangle 36"/>
            <p:cNvSpPr/>
            <p:nvPr/>
          </p:nvSpPr>
          <p:spPr>
            <a:xfrm>
              <a:off x="4333875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4333875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33875" y="1790700"/>
              <a:ext cx="3524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4562475" y="1524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88230" y="1587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非功能需求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72000" y="2124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47260" y="2089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推荐延迟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23155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端到端</a:t>
              </a:r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&lt; 2s</a:t>
              </a:r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，含模型推理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572000" y="2695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47260" y="2661285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DP预算可配置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49165" y="28870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ε/δ/mechanism 用户级配置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72000" y="3267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7260" y="3232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并发支持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49165" y="34585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多用户同时请求推荐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572000" y="3838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47260" y="3804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数据持久化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49165" y="40300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推荐历史、隐私账本审计追踪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572000" y="4410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7260" y="43757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模型可替换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9165" y="46015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离线模式/demo模式自动切换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572000" y="4981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47260" y="49472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可解释性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49165" y="51730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安全标记、置信区间、异常提示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1428750"/>
            <a:ext cx="3662362" cy="4762500"/>
            <a:chOff x="8096250" y="1428750"/>
            <a:chExt cx="3662362" cy="4762500"/>
          </a:xfrm>
        </p:grpSpPr>
        <p:sp>
          <p:nvSpPr>
            <p:cNvPr id="60" name="Rectangle 60"/>
            <p:cNvSpPr/>
            <p:nvPr/>
          </p:nvSpPr>
          <p:spPr>
            <a:xfrm>
              <a:off x="809625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1" name="Rectangle 61"/>
            <p:cNvSpPr/>
            <p:nvPr/>
          </p:nvSpPr>
          <p:spPr>
            <a:xfrm>
              <a:off x="809625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96250" y="1790700"/>
              <a:ext cx="3524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305800" y="15240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0605" y="15878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安全需求（最高优先级）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334375" y="2124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09635" y="2089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绝对禁忌硬过滤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1540" y="23155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禁忌症、过敏冲突、妊娠X级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2492" y="2514124"/>
              <a:ext cx="1534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DP噪声永远不影响此层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334375" y="2886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09635" y="2851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相对禁忌软标记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11540" y="307752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中等交互、妊娠C/D级警告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2492" y="3276124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不排除候选，标记requires_review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34375" y="3648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9635" y="3613785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DP噪声仅限评分层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11540" y="3839528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噪声仅作用于Layer 3 DeepFM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34375" y="4219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9635" y="41852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11540" y="44110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score &lt; 0.15 置零，上限 min(1.0, raw+0.35)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334375" y="4791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09635" y="4756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11540" y="4982528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MySQL持久化 + 内存组合定理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334375" y="5362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09635" y="5328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知情同意记录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11540" y="5554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每次推荐前记录用户同意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87" name="Rectangle 8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9" grpId="0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343465" cy="504825"/>
            <a:chOff x="571500" y="285750"/>
            <a:chExt cx="334346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164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SAFETY-FIRST, PRIVACY-PROTECTED, PERSONALIZED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382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45356"/>
            <a:ext cx="8542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安全优先：SafetyFilter硬排除 → RuleMarker软标记 → DeepFM个性化评分+DP噪声 | DP噪声永远不影响Layer 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1000" y="1352550"/>
            <a:ext cx="9010650" cy="1047750"/>
            <a:chOff x="381000" y="1352550"/>
            <a:chExt cx="9010650" cy="1047750"/>
          </a:xfrm>
        </p:grpSpPr>
        <p:sp>
          <p:nvSpPr>
            <p:cNvPr id="11" name="Rectangle 11"/>
            <p:cNvSpPr/>
            <p:nvPr/>
          </p:nvSpPr>
          <p:spPr>
            <a:xfrm>
              <a:off x="381000" y="13525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6B7B8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0491" y="1806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13525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6B7B8D">
                <a:alpha val="6000"/>
              </a:srgbClr>
            </a:solidFill>
            <a:ln w="9525">
              <a:solidFill>
                <a:srgbClr val="6B7B8D"/>
              </a:solidFill>
              <a:custDash>
                <a:ds d="600000" sp="4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37332" y="1464945"/>
              <a:ext cx="2631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LAYER 0 · 知识路由 · 语义匹配候选药物集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695450"/>
              <a:ext cx="1905000" cy="571500"/>
              <a:chOff x="10858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10858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249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疾病语义映射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6820" y="1998345"/>
                <a:ext cx="142932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disease_mapper EN→CN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43250" y="1695450"/>
              <a:ext cx="1905000" cy="571500"/>
              <a:chOff x="31432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31432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282315" y="17916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适应症匹配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84220" y="1998345"/>
                <a:ext cx="145561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indication → 候选药物集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200650" y="1695450"/>
              <a:ext cx="1905000" cy="571500"/>
              <a:chOff x="52006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52006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397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药物类目过滤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41620" y="1998345"/>
                <a:ext cx="97583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drug_class筛选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381000" y="2552700"/>
            <a:ext cx="9010650" cy="1047750"/>
            <a:chOff x="381000" y="2552700"/>
            <a:chExt cx="9010650" cy="1047750"/>
          </a:xfrm>
        </p:grpSpPr>
        <p:sp>
          <p:nvSpPr>
            <p:cNvPr id="28" name="Rectangle 28"/>
            <p:cNvSpPr/>
            <p:nvPr/>
          </p:nvSpPr>
          <p:spPr>
            <a:xfrm>
              <a:off x="381000" y="25527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369" y="300704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25527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C62828">
                <a:alpha val="6000"/>
              </a:srgbClr>
            </a:solidFill>
            <a:ln w="14288">
              <a:solidFill>
                <a:srgbClr val="C62828"/>
              </a:solidFill>
              <a:custDash>
                <a:ds d="400000" sp="266666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57597" y="2665095"/>
              <a:ext cx="39908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· 安全过滤器 · 确定性硬排除（DP噪声永远不影响此层）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5850" y="2895600"/>
              <a:ext cx="1905000" cy="571500"/>
              <a:chOff x="10858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2" name="Rectangle 32"/>
              <p:cNvSpPr/>
              <p:nvPr/>
            </p:nvSpPr>
            <p:spPr>
              <a:xfrm>
                <a:off x="10858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24915" y="29918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绝对禁忌症排除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6820" y="3198495"/>
                <a:ext cx="141617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contraindications检查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143250" y="2895600"/>
              <a:ext cx="1905000" cy="571500"/>
              <a:chOff x="31432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6" name="Rectangle 36"/>
              <p:cNvSpPr/>
              <p:nvPr/>
            </p:nvSpPr>
            <p:spPr>
              <a:xfrm>
                <a:off x="31432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282315" y="29918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过敏冲突排除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84220" y="3198495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allergy交叉检查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200650" y="2895600"/>
              <a:ext cx="1905000" cy="571500"/>
              <a:chOff x="52006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0" name="Rectangle 40"/>
              <p:cNvSpPr/>
              <p:nvPr/>
            </p:nvSpPr>
            <p:spPr>
              <a:xfrm>
                <a:off x="52006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339715" y="2991802"/>
                <a:ext cx="92033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妊娠X级排除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41620" y="3198495"/>
                <a:ext cx="11072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pregnancy_cat=X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381000" y="3752850"/>
            <a:ext cx="9010650" cy="1047750"/>
            <a:chOff x="381000" y="3752850"/>
            <a:chExt cx="9010650" cy="1047750"/>
          </a:xfrm>
        </p:grpSpPr>
        <p:sp>
          <p:nvSpPr>
            <p:cNvPr id="45" name="Rectangle 45"/>
            <p:cNvSpPr/>
            <p:nvPr/>
          </p:nvSpPr>
          <p:spPr>
            <a:xfrm>
              <a:off x="381000" y="37528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0491" y="4207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" y="37528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AE6339">
                <a:alpha val="6000"/>
              </a:srgbClr>
            </a:solidFill>
            <a:ln w="14288">
              <a:solidFill>
                <a:srgbClr val="AE6339"/>
              </a:solidFill>
              <a:custDash>
                <a:ds d="400000" sp="266666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12679" y="3865245"/>
              <a:ext cx="4280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· 规则标记器 · 软标记不排除（添加requires_review标志）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85850" y="4095750"/>
              <a:ext cx="1905000" cy="571500"/>
              <a:chOff x="10858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9" name="Rectangle 49"/>
              <p:cNvSpPr/>
              <p:nvPr/>
            </p:nvSpPr>
            <p:spPr>
              <a:xfrm>
                <a:off x="10858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249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相对禁忌警告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226820" y="4398645"/>
                <a:ext cx="173821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relative_contraindications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43250" y="4095750"/>
              <a:ext cx="1905000" cy="571500"/>
              <a:chOff x="31432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31432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2823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中等交互标记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284220" y="43986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moderate_interactions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200650" y="4095750"/>
              <a:ext cx="1905000" cy="571500"/>
              <a:chOff x="52006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7" name="Rectangle 57"/>
              <p:cNvSpPr/>
              <p:nvPr/>
            </p:nvSpPr>
            <p:spPr>
              <a:xfrm>
                <a:off x="52006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339715" y="4191952"/>
                <a:ext cx="93643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妊娠C/D警告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341620" y="4398645"/>
                <a:ext cx="125187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pregnancy_cat=C/D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381000" y="4953000"/>
            <a:ext cx="9010650" cy="1047750"/>
            <a:chOff x="381000" y="4953000"/>
            <a:chExt cx="9010650" cy="1047750"/>
          </a:xfrm>
        </p:grpSpPr>
        <p:sp>
          <p:nvSpPr>
            <p:cNvPr id="62" name="Rectangle 62"/>
            <p:cNvSpPr/>
            <p:nvPr/>
          </p:nvSpPr>
          <p:spPr>
            <a:xfrm>
              <a:off x="381000" y="49530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0491" y="54073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4400" y="49530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2E3F55">
                <a:alpha val="6000"/>
              </a:srgbClr>
            </a:solidFill>
            <a:ln w="14288">
              <a:solidFill>
                <a:srgbClr val="2E3F55"/>
              </a:solidFill>
              <a:custDash>
                <a:ds d="400000" sp="266666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02515" y="5065395"/>
              <a:ext cx="37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· DEEPFM排序 · 安全候选集上个性化评分 + DP噪声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085850" y="5295900"/>
              <a:ext cx="1905000" cy="571500"/>
              <a:chOff x="10858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66" name="Rectangle 66"/>
              <p:cNvSpPr/>
              <p:nvPr/>
            </p:nvSpPr>
            <p:spPr>
              <a:xfrm>
                <a:off x="10858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224915" y="53921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FM交叉特征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226820" y="55987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二阶交互捕获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143250" y="5295900"/>
              <a:ext cx="1905000" cy="571500"/>
              <a:chOff x="31432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0" name="Rectangle 70"/>
              <p:cNvSpPr/>
              <p:nvPr/>
            </p:nvSpPr>
            <p:spPr>
              <a:xfrm>
                <a:off x="31432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282315" y="5392102"/>
                <a:ext cx="102499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Deep高阶特征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284220" y="5598795"/>
                <a:ext cx="163963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MLP (64→32) + LayerNorm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200650" y="5295900"/>
              <a:ext cx="1905000" cy="571500"/>
              <a:chOff x="52006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4" name="Rectangle 74"/>
              <p:cNvSpPr/>
              <p:nvPr/>
            </p:nvSpPr>
            <p:spPr>
              <a:xfrm>
                <a:off x="52006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339715" y="5392102"/>
                <a:ext cx="9847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+ DP噪声注入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341620" y="559879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Laplace/Gaussian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620250" y="1352550"/>
            <a:ext cx="2286000" cy="4648200"/>
            <a:chOff x="9620250" y="1352550"/>
            <a:chExt cx="2286000" cy="4648200"/>
          </a:xfrm>
        </p:grpSpPr>
        <p:sp>
          <p:nvSpPr>
            <p:cNvPr id="79" name="Rectangle 79"/>
            <p:cNvSpPr/>
            <p:nvPr/>
          </p:nvSpPr>
          <p:spPr>
            <a:xfrm>
              <a:off x="9620250" y="1352550"/>
              <a:ext cx="2286000" cy="4648200"/>
            </a:xfrm>
            <a:prstGeom prst="roundRect">
              <a:avLst>
                <a:gd name="adj" fmla="val 5000"/>
              </a:avLst>
            </a:prstGeom>
            <a:solidFill>
              <a:srgbClr val="2E3F55">
                <a:alpha val="5000"/>
              </a:srgbClr>
            </a:solidFill>
            <a:ln w="9525">
              <a:solidFill>
                <a:srgbClr val="2E3F55"/>
              </a:solidFill>
              <a:prstDash val="dash"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75786" y="1541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核心原则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810750" y="1762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334625" y="190500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200025" y="457200"/>
                  </a:moveTo>
                  <a:lnTo>
                    <a:pt x="95729" y="382702"/>
                  </a:lnTo>
                  <a:cubicBezTo>
                    <a:pt x="35654" y="339791"/>
                    <a:pt x="0" y="270510"/>
                    <a:pt x="0" y="196683"/>
                  </a:cubicBez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96683"/>
                  </a:lnTo>
                  <a:cubicBezTo>
                    <a:pt x="400050" y="270510"/>
                    <a:pt x="364397" y="339791"/>
                    <a:pt x="304321" y="382702"/>
                  </a:cubicBezTo>
                  <a:lnTo>
                    <a:pt x="200025" y="457200"/>
                  </a:lnTo>
                  <a:close/>
                  <a:moveTo>
                    <a:pt x="320243" y="163081"/>
                  </a:moveTo>
                  <a:lnTo>
                    <a:pt x="279832" y="122669"/>
                  </a:lnTo>
                  <a:lnTo>
                    <a:pt x="171450" y="231051"/>
                  </a:lnTo>
                  <a:lnTo>
                    <a:pt x="120218" y="179819"/>
                  </a:lnTo>
                  <a:lnTo>
                    <a:pt x="79807" y="220231"/>
                  </a:lnTo>
                  <a:lnTo>
                    <a:pt x="171450" y="311873"/>
                  </a:lnTo>
                  <a:lnTo>
                    <a:pt x="320243" y="16308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28477" y="2447449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安全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02311" y="26379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绝对不可妥协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50913" y="287464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DP噪声零穿透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96500" y="31908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334625" y="333375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95729" y="382702"/>
                  </a:moveTo>
                  <a:lnTo>
                    <a:pt x="200025" y="457200"/>
                  </a:lnTo>
                  <a:lnTo>
                    <a:pt x="304321" y="382702"/>
                  </a:lnTo>
                  <a:cubicBezTo>
                    <a:pt x="364397" y="339791"/>
                    <a:pt x="400050" y="270510"/>
                    <a:pt x="400050" y="196683"/>
                  </a:cubicBezTo>
                  <a:lnTo>
                    <a:pt x="400050" y="85725"/>
                  </a:lnTo>
                  <a:lnTo>
                    <a:pt x="200025" y="0"/>
                  </a:lnTo>
                  <a:lnTo>
                    <a:pt x="0" y="85725"/>
                  </a:lnTo>
                  <a:lnTo>
                    <a:pt x="0" y="196683"/>
                  </a:lnTo>
                  <a:cubicBezTo>
                    <a:pt x="0" y="270510"/>
                    <a:pt x="35654" y="339791"/>
                    <a:pt x="95729" y="382702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787" y="3876199"/>
              <a:ext cx="906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标记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302311" y="40666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不排除只提醒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10096500" y="4381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363200" y="4524375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227552" y="50668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DP噪声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2311" y="52573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仅作用于评分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235898" y="5494020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 临床安全后处理</a:t>
              </a:r>
            </a:p>
          </p:txBody>
        </p:sp>
      </p:grpSp>
      <p:sp>
        <p:nvSpPr>
          <p:cNvPr id="96" name="Rectangle 96"/>
          <p:cNvSpPr/>
          <p:nvPr/>
        </p:nvSpPr>
        <p:spPr>
          <a:xfrm>
            <a:off x="381000" y="6172200"/>
            <a:ext cx="11525250" cy="476250"/>
          </a:xfrm>
          <a:prstGeom prst="roundRect">
            <a:avLst>
              <a:gd name="adj" fmla="val 20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97" name="TextBox 97"/>
          <p:cNvSpPr txBox="1"/>
          <p:nvPr/>
        </p:nvSpPr>
        <p:spPr>
          <a:xfrm>
            <a:off x="3047509" y="6265545"/>
            <a:ext cx="6192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数据流 · 患者画像输入 → L0语义匹配 → L1安全过滤 → L2规则标记 → L3个性化排序+DP → 安全推荐输出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331803" y="6464141"/>
            <a:ext cx="3623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覆盖1815种药物 | 安全数据：禁忌症95.3% / 交互81.5% / 综合97.0%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2009489" cy="414338"/>
            <a:chOff x="571500" y="285750"/>
            <a:chExt cx="2009489" cy="414338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714375"/>
            <a:ext cx="11049000" cy="361950"/>
          </a:xfrm>
          <a:prstGeom prst="roundRect">
            <a:avLst>
              <a:gd name="adj" fmla="val 21053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7712" y="831056"/>
            <a:ext cx="6239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DP噪声仅作用于评分层，临床安全不受影响 | 安全后处理确保噪声不放大低分药物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238250"/>
            <a:ext cx="5429250" cy="5334000"/>
            <a:chOff x="571500" y="1238250"/>
            <a:chExt cx="542925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542925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78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7758" y="1386364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DP原理与噪声机制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1870710"/>
              <a:ext cx="10610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Laplace机制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095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19170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scale = sensitivity / 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2379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ε越小 → 噪声越大 → 隐私保护越强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27279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Gaussian机制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" y="295275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165" y="304895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σ = sensitivity × √(2·ln(1.25/δ)) / 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32365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提供(ε,δ)-DP，δ为失败概率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85" y="35852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预算追踪：强组合定理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" y="38100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0118" y="391429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ε总 = Σ √(2k·ln(1/δ')) · εi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1070" y="4093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多次查询的总隐私消耗严格可计算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4385" y="4423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9625" y="4648200"/>
              <a:ext cx="2333625" cy="41910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4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0118" y="47334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后端：MySQL持久化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2022" y="4902041"/>
              <a:ext cx="1894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privacy_config + privacy_ledger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333750" y="4648200"/>
              <a:ext cx="2428875" cy="41910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64242" y="47334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模型：内存组合定理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66148" y="4902041"/>
              <a:ext cx="20753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PrivacyBudgetTracker (ephemeral)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6290" y="5258752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ε值与隐私-效用权衡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0962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942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ε=0.5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5544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强隐私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286000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483048" y="55606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ε=1.0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31820" y="55606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平衡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76237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D4B5B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4217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ε=5.0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0819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弱隐私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09625" y="5857875"/>
              <a:ext cx="495300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663344" y="5941695"/>
              <a:ext cx="32455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实验验证：ε=0.5时AUC-PR仍达0.9662，几乎无损失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286500" y="1238250"/>
            <a:ext cx="5334000" cy="5334000"/>
            <a:chOff x="6286500" y="1238250"/>
            <a:chExt cx="5334000" cy="5334000"/>
          </a:xfrm>
        </p:grpSpPr>
        <p:sp>
          <p:nvSpPr>
            <p:cNvPr id="47" name="Rectangle 47"/>
            <p:cNvSpPr/>
            <p:nvPr/>
          </p:nvSpPr>
          <p:spPr>
            <a:xfrm>
              <a:off x="6286500" y="1238250"/>
              <a:ext cx="533400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8" name="Rectangle 48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86500" y="1562100"/>
              <a:ext cx="533400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493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22758" y="13863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524625" y="18573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39537" y="19440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18960" y="18707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低分置零（公开阈值）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24625" y="214312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4165" y="2248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score &lt; 0.15 → 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56070" y="2455545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DP后处理定理：公开阈值操作不破坏DP保证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24625" y="28384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9409" y="29251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18960" y="28517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上限截断（防噪声放大）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24625" y="3124200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AE6339">
                <a:alpha val="5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54165" y="3229928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ceiling = min(1.0, raw_score + 0.35)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56070" y="3436620"/>
              <a:ext cx="20799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防止噪声将低分药物放大超过3.5倍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24625" y="38195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9409" y="39062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18960" y="38328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置信区间与异常标记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24625" y="410527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54165" y="42110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95% CI: score ± 1.96 × noise_std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56070" y="4417695"/>
              <a:ext cx="2487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dpAnomaly: 噪声显著改变排序方向时标记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524625" y="4810125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688931" y="49530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09460" y="5013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安全保障定理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54165" y="52682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SafetyFilter层</a:t>
              </a:r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100%保留</a:t>
              </a:r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，DP噪声零穿透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56070" y="542734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实验验证：所有安全过滤在所有ε值下完全一致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77" name="Rectangle 7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2758535" cy="504825"/>
            <a:chOff x="571500" y="285750"/>
            <a:chExt cx="275853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2923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CONTINUOUS特征旁路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84044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DeepFM = FM捕获二阶交叉 + Deep捕获高阶特征 + 连续特征旁路直连输出 | Opacus兼容的Merged Embedding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333500"/>
            <a:ext cx="381000" cy="4000500"/>
          </a:xfrm>
          <a:prstGeom prst="roundRect">
            <a:avLst>
              <a:gd name="adj" fmla="val 2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2204" y="32670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14400" y="1333500"/>
            <a:ext cx="10668000" cy="4000500"/>
          </a:xfrm>
          <a:prstGeom prst="roundRect">
            <a:avLst>
              <a:gd name="adj" fmla="val 2857"/>
            </a:avLst>
          </a:prstGeom>
          <a:solidFill>
            <a:srgbClr val="2E3F55">
              <a:alpha val="4000"/>
            </a:srgbClr>
          </a:solidFill>
          <a:ln w="14288">
            <a:solidFill>
              <a:srgbClr val="2E3F55"/>
            </a:solidFill>
            <a:custDash>
              <a:ds d="400000" sp="266666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3454575" y="1453991"/>
            <a:ext cx="55876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DEEPFM MODEL · 14 CATEGORICAL FIELDS + 4 CONTINUOUS FEATURES · OUTPUT: SIGMOID(LOGIT)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43000" y="1714500"/>
            <a:ext cx="3143250" cy="3381375"/>
            <a:chOff x="1143000" y="1714500"/>
            <a:chExt cx="3143250" cy="3381375"/>
          </a:xfrm>
        </p:grpSpPr>
        <p:sp>
          <p:nvSpPr>
            <p:cNvPr id="15" name="Rectangle 15"/>
            <p:cNvSpPr/>
            <p:nvPr/>
          </p:nvSpPr>
          <p:spPr>
            <a:xfrm>
              <a:off x="1143000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114300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7902" y="20202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1968818"/>
              <a:ext cx="1131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FM交叉模块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1445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51126" y="2465070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二阶特征交互捕获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390650" y="2867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29715" y="2839402"/>
              <a:ext cx="1427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Merged Embedding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1620" y="30460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单nn.Embedding + field_offsets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90650" y="337185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29715" y="3344228"/>
              <a:ext cx="912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Opacus兼容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1620" y="3550920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支持DP-SGD训练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390650" y="38766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29715" y="3849052"/>
              <a:ext cx="1024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embed_dim=8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1620" y="40557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14类别字段共享嵌入空间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445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3F55">
                <a:alpha val="3000"/>
              </a:srgbClr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71462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1904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字段数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5850" y="46710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644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嵌入维度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41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8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4333875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61" name="Group 61"/>
          <p:cNvGrpSpPr/>
          <p:nvPr/>
        </p:nvGrpSpPr>
        <p:grpSpPr>
          <a:xfrm>
            <a:off x="4619625" y="1714500"/>
            <a:ext cx="3143250" cy="3381375"/>
            <a:chOff x="4619625" y="1714500"/>
            <a:chExt cx="3143250" cy="3381375"/>
          </a:xfrm>
        </p:grpSpPr>
        <p:sp>
          <p:nvSpPr>
            <p:cNvPr id="39" name="Rectangle 39"/>
            <p:cNvSpPr/>
            <p:nvPr/>
          </p:nvSpPr>
          <p:spPr>
            <a:xfrm>
              <a:off x="4619625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4619625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91075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4909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1130" y="196881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Deep高阶模块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91075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58742" y="24650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高阶非线性特征组合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867275" y="2867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06340" y="28394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MLP (64 → 32)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8245" y="304609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两层全连接 + LayerNorm + ReLU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867275" y="33718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6340" y="3344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差异化Dropout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08245" y="3550920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每层独立dropout率，防过拟合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867275" y="38766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06340" y="38490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Focal Loss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08245" y="40557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处理正负样本不平衡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91075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AE6339">
                <a:alpha val="3000"/>
              </a:srgbClr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191250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5674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隐藏层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26441" y="46710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[64,32]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23066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激活函数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8910" y="4671060"/>
              <a:ext cx="435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ReLU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7810500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85" name="Group 85"/>
          <p:cNvGrpSpPr/>
          <p:nvPr/>
        </p:nvGrpSpPr>
        <p:grpSpPr>
          <a:xfrm>
            <a:off x="8096250" y="1714500"/>
            <a:ext cx="3238500" cy="3381375"/>
            <a:chOff x="8096250" y="1714500"/>
            <a:chExt cx="3238500" cy="3381375"/>
          </a:xfrm>
        </p:grpSpPr>
        <p:sp>
          <p:nvSpPr>
            <p:cNvPr id="63" name="Rectangle 63"/>
            <p:cNvSpPr/>
            <p:nvPr/>
          </p:nvSpPr>
          <p:spPr>
            <a:xfrm>
              <a:off x="8096250" y="1714500"/>
              <a:ext cx="3238500" cy="3381375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809625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26770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81534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07755" y="1968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连续特征旁路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6770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66359" y="24650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绕过嵌入直接连输出层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343900" y="28670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82965" y="28394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age_raw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8487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患者年龄（连续值）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43900" y="33718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82965" y="33442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bmi_raw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84870" y="355092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体质指数（连续值）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43900" y="38766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482965" y="38490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gfr_raw / liver_score_raw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84870" y="40557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肾功能 / 肝功能评分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6770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7D32">
                <a:alpha val="3000"/>
              </a:srgbClr>
            </a:solidFill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966787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7229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特征数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067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9969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连接方式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63937" y="46710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直连</a:t>
              </a:r>
            </a:p>
          </p:txBody>
        </p:sp>
      </p:grpSp>
      <p:sp>
        <p:nvSpPr>
          <p:cNvPr id="86" name="Rectangle 86"/>
          <p:cNvSpPr/>
          <p:nvPr/>
        </p:nvSpPr>
        <p:spPr>
          <a:xfrm>
            <a:off x="381000" y="5524500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09042" y="5947410"/>
            <a:ext cx="324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I/O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14400" y="5524500"/>
            <a:ext cx="10858500" cy="952500"/>
          </a:xfrm>
          <a:prstGeom prst="roundRect">
            <a:avLst>
              <a:gd name="adj" fmla="val 12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89" name="TextBox 89"/>
          <p:cNvSpPr txBox="1"/>
          <p:nvPr/>
        </p:nvSpPr>
        <p:spPr>
          <a:xfrm>
            <a:off x="3818671" y="5625941"/>
            <a:ext cx="504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FEATURE SCHEMA · 14 CATEGORICAL + 4 CONTINUOUS = 18 TOTAL · 1815 DRUG CANDIDATES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1049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340675" y="5960745"/>
            <a:ext cx="1147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训练样本: 58,525</a:t>
            </a:r>
          </a:p>
        </p:txBody>
      </p:sp>
      <p:sp>
        <p:nvSpPr>
          <p:cNvPr id="92" name="Rectangle 92"/>
          <p:cNvSpPr/>
          <p:nvPr/>
        </p:nvSpPr>
        <p:spPr>
          <a:xfrm>
            <a:off x="28575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165734" y="5960745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药物候选: 1,815</a:t>
            </a:r>
          </a:p>
        </p:txBody>
      </p:sp>
      <p:sp>
        <p:nvSpPr>
          <p:cNvPr id="94" name="Rectangle 94"/>
          <p:cNvSpPr/>
          <p:nvPr/>
        </p:nvSpPr>
        <p:spPr>
          <a:xfrm>
            <a:off x="46101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2E3F55">
              <a:alpha val="6000"/>
            </a:srgbClr>
          </a:solidFill>
          <a:ln w="9525">
            <a:solidFill>
              <a:srgbClr val="AE6339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4894181" y="59607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AUC-PR: 0.9466</a:t>
            </a:r>
          </a:p>
        </p:txBody>
      </p:sp>
      <p:sp>
        <p:nvSpPr>
          <p:cNvPr id="96" name="Rectangle 96"/>
          <p:cNvSpPr/>
          <p:nvPr/>
        </p:nvSpPr>
        <p:spPr>
          <a:xfrm>
            <a:off x="6362700" y="584835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2E7D32">
              <a:alpha val="8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6569554" y="5960745"/>
            <a:ext cx="1872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输出: sigmoid(logit) ∈ [0,1]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1100" y="5848350"/>
            <a:ext cx="2667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77627" y="5960745"/>
            <a:ext cx="2313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14字段: age/gender/bmi/renal/...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1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455194" cy="504825"/>
            <a:chOff x="571500" y="285750"/>
            <a:chExt cx="3455194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276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FRONTEND + BACKEND + MODEL SERVICE + SAFETY DATA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231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三层架构完整落地：React前端 + Spring Boot后端 + FastAPI模型服务 | 安全数据覆盖率达97%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333500"/>
            <a:ext cx="5429250" cy="2381250"/>
            <a:chOff x="571500" y="1333500"/>
            <a:chExt cx="5429250" cy="2381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57150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5735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583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3008" y="14816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前端 · React 18 + TypeScript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5817" y="1958816"/>
              <a:ext cx="5143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React 18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02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8618" y="1958816"/>
              <a:ext cx="6851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TypeScript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384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65380" y="195881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Tailwind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76600" y="1905000"/>
              <a:ext cx="4572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71370" y="1958816"/>
              <a:ext cx="2676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Vite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19150" y="22955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726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药物推荐页面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170" y="2455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患者画像输入 + 四层推荐结果展示 + 安全标签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19150" y="27717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265" y="27441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隐私可视化面板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2931795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噪声分布图 + ε消耗追踪 + 预算配置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19150" y="3248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7265" y="3220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医生审查面板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9170" y="34080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审核/标记/确认推荐，JWT角色权限控制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1333500"/>
            <a:ext cx="5429250" cy="2381250"/>
            <a:chOff x="6191250" y="1333500"/>
            <a:chExt cx="5429250" cy="2381250"/>
          </a:xfrm>
        </p:grpSpPr>
        <p:sp>
          <p:nvSpPr>
            <p:cNvPr id="35" name="Rectangle 35"/>
            <p:cNvSpPr/>
            <p:nvPr/>
          </p:nvSpPr>
          <p:spPr>
            <a:xfrm>
              <a:off x="619125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19125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657350"/>
              <a:ext cx="5429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558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22758" y="148161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后端 · Spring Boot 3.2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1905000"/>
              <a:ext cx="9144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391" y="1958816"/>
              <a:ext cx="7231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Spring Boot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723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6292" y="1958816"/>
              <a:ext cx="5017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MyBatis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581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3210" y="1958816"/>
              <a:ext cx="419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MySQL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439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21245" y="195881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JWT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22955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701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推荐代理服务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98920" y="2455545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前端→后端→模型服务 请求转发与结果持久化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38900" y="27717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7015" y="2744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隐私预算管理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8920" y="2931795"/>
              <a:ext cx="3138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MySQL持久化privacy_config + privacy_ledger审计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38900" y="3248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7015" y="32204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认证与权限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8920" y="3408045"/>
              <a:ext cx="3506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JWT HMAC-SHA + 角色授权（admin/doctor/researcher）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3905250"/>
            <a:ext cx="5429250" cy="2381250"/>
            <a:chOff x="571500" y="3905250"/>
            <a:chExt cx="5429250" cy="2381250"/>
          </a:xfrm>
        </p:grpSpPr>
        <p:sp>
          <p:nvSpPr>
            <p:cNvPr id="59" name="Rectangle 59"/>
            <p:cNvSpPr/>
            <p:nvPr/>
          </p:nvSpPr>
          <p:spPr>
            <a:xfrm>
              <a:off x="57150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57150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4229100"/>
              <a:ext cx="5429250" cy="114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9732" y="4115752"/>
              <a:ext cx="147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03008" y="4053364"/>
              <a:ext cx="272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模型服务 · FastAPI + PyTorch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620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85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FastAPI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4478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98580" y="453056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PyTorch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1336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206520" y="453056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Opacus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8194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8859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Uvicorn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19150" y="48672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7265" y="4839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四层推荐引擎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170" y="5027295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 → RuleMarker → DeepFM排序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19150" y="53435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7265" y="5315902"/>
              <a:ext cx="847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DP噪声注入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170" y="550354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Laplace/Gaussian + 安全后处理 + 置信区间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19150" y="58197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7265" y="5792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翻译管线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9170" y="59797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disease_mapper + drug_translator + translation_mapper EN→CN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191250" y="3905250"/>
            <a:ext cx="5429250" cy="2381250"/>
            <a:chOff x="6191250" y="3905250"/>
            <a:chExt cx="5429250" cy="2381250"/>
          </a:xfrm>
        </p:grpSpPr>
        <p:sp>
          <p:nvSpPr>
            <p:cNvPr id="83" name="Rectangle 83"/>
            <p:cNvSpPr/>
            <p:nvPr/>
          </p:nvSpPr>
          <p:spPr>
            <a:xfrm>
              <a:off x="619125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619125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191250" y="4229100"/>
              <a:ext cx="5429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38175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95584" y="41157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22758" y="40533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381750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C62828">
                <a:alpha val="5000"/>
              </a:srgbClr>
            </a:solidFill>
            <a:ln w="9525">
              <a:solidFill>
                <a:srgbClr val="C62828">
                  <a:alpha val="2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0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禁忌症覆盖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41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95.3%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048625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AE6339">
                <a:alpha val="5000"/>
              </a:srgbClr>
            </a:solidFill>
            <a:ln w="9525">
              <a:solidFill>
                <a:srgbClr val="AE6339">
                  <a:alpha val="20000"/>
                </a:srgbClr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536305" y="46653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交互覆盖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42722" y="4853940"/>
              <a:ext cx="735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81.5%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715500" y="4514850"/>
              <a:ext cx="1714500" cy="685800"/>
            </a:xfrm>
            <a:prstGeom prst="roundRect">
              <a:avLst>
                <a:gd name="adj" fmla="val 11111"/>
              </a:avLst>
            </a:prstGeom>
            <a:solidFill>
              <a:srgbClr val="2E7D32">
                <a:alpha val="5000"/>
              </a:srgbClr>
            </a:solidFill>
            <a:ln w="9525">
              <a:solidFill>
                <a:srgbClr val="2E7D32">
                  <a:alpha val="2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166985" y="4665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综合安全覆盖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70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534150" y="5410200"/>
              <a:ext cx="76200" cy="7620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92265" y="5382578"/>
              <a:ext cx="2256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绝对禁忌 + 过敏冲突 + 妊娠X级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94170" y="557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硬过滤排除，DP噪声零穿透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534150" y="58864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92265" y="5858828"/>
              <a:ext cx="2272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相对禁忌 + 中等交互 + 妊娠C/D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94170" y="6046470"/>
              <a:ext cx="2250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软标记不排除，添加requires_review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08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8" grpId="0"/>
      <p:bldP spid="82" grpId="0"/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推荐审核页面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44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REVIEW PANEL · 医生审核/标记/确认推荐 · JWT角色权限控制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用药推荐页面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9924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DRUG RECOMMENDATION · 患者画像输入 + 四层推荐结果 + 安全标签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隐私配置页面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047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PRIVACY CONFIG · ε/δ参数配置 + 噪声分布可视化 + 预算追踪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530203" y="6570345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68283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推荐统计仪表板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5192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DASHBOARD · 推荐历史统计 + 安全过滤数据 + 隐私消耗概览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27857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系统首页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2724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HOME PAGE · 登录入口 + 功能导航 + 系统概览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4164997" cy="504825"/>
            <a:chOff x="571500" y="285750"/>
            <a:chExt cx="4164997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985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PHASE 3 EXPERIMENTS · 58,525 SAMPLES · 1,815 DRUG CANDIDATES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740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核心发现：DP保护不降质，模型区分度反而提升 | AUC-PR持平0.966，Separation从0.75提升至0.85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333500"/>
            <a:ext cx="6667500" cy="3619500"/>
            <a:chOff x="571500" y="1333500"/>
            <a:chExt cx="6667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66675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746760" y="14706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AUC-PR 与 Separation 对比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0570" y="14649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No-DP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825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0" y="14649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4570" y="14649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ε=0.5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4000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3429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2857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2286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9936" y="4512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9936" y="3941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936" y="3369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9936" y="2798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9936" y="2226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797" y="1807845"/>
              <a:ext cx="2068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1.0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333500" y="18097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5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23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0.9668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953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0.9658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66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0.9662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5607" y="46682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2000" y="2495550"/>
              <a:ext cx="476250" cy="207645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90896" y="233981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0.7506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2396" y="19873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0.8505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33896" y="18730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0.8506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5612" y="46682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429500" y="1333500"/>
            <a:ext cx="4191000" cy="3619500"/>
            <a:chOff x="7429500" y="1333500"/>
            <a:chExt cx="4191000" cy="3619500"/>
          </a:xfrm>
        </p:grpSpPr>
        <p:sp>
          <p:nvSpPr>
            <p:cNvPr id="47" name="Rectangle 47"/>
            <p:cNvSpPr/>
            <p:nvPr/>
          </p:nvSpPr>
          <p:spPr>
            <a:xfrm>
              <a:off x="7429500" y="1333500"/>
              <a:ext cx="41910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8" name="TextBox 48"/>
            <p:cNvSpPr txBox="1"/>
            <p:nvPr/>
          </p:nvSpPr>
          <p:spPr>
            <a:xfrm>
              <a:off x="7604760" y="1470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核心发现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17621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34912" y="18488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06715" y="1791652"/>
              <a:ext cx="1202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AUC-PR基本持平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08620" y="19792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0.9668 → 0.9658 → 0.9662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8620" y="21316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DP噪声对推荐精度影响可忽略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0" y="24288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14784" y="2515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06715" y="24584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Separation显著提升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08620" y="264604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0.7506 → 0.8505 → 0.8506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8620" y="2798445"/>
              <a:ext cx="1906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DP模型更好区分高分/低分药物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0" y="30956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14784" y="3182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06715" y="312515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安全过滤100%保留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08620" y="3312795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SafetyFilter层DP噪声零穿透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08620" y="346519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所有ε值下安全过滤完全一致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0" y="3762375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2E7D32">
                <a:alpha val="8000"/>
              </a:srgbClr>
            </a:solidFill>
            <a:ln w="9525">
              <a:solidFill>
                <a:srgbClr val="2E7D3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97165" y="3887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安全保障验证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99070" y="409384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临床安全后处理在所有ε值下结果一致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20000" y="4429125"/>
              <a:ext cx="3810000" cy="381000"/>
            </a:xfrm>
            <a:prstGeom prst="roundRect">
              <a:avLst>
                <a:gd name="adj" fmla="val 15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99070" y="4570095"/>
              <a:ext cx="3078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训练样本: 58,525 | 药物候选: 1,815 | embed_dim=8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571500" y="514350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71" name="TextBox 71"/>
          <p:cNvSpPr txBox="1"/>
          <p:nvPr/>
        </p:nvSpPr>
        <p:spPr>
          <a:xfrm>
            <a:off x="4487020" y="5284470"/>
            <a:ext cx="3217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ε值与隐私-效用权衡 · EXPERIMENTAL VERIFICATION</a:t>
            </a:r>
          </a:p>
        </p:txBody>
      </p:sp>
      <p:sp>
        <p:nvSpPr>
          <p:cNvPr id="72" name="Rectangle 72"/>
          <p:cNvSpPr/>
          <p:nvPr/>
        </p:nvSpPr>
        <p:spPr>
          <a:xfrm>
            <a:off x="952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3F55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73" name="Rectangle 73"/>
          <p:cNvSpPr/>
          <p:nvPr/>
        </p:nvSpPr>
        <p:spPr>
          <a:xfrm>
            <a:off x="952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996602" y="56807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No-DP 基线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86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55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0.9668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882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79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0.7506</a:t>
            </a:r>
          </a:p>
        </p:txBody>
      </p:sp>
      <p:sp>
        <p:nvSpPr>
          <p:cNvPr id="79" name="Rectangle 79"/>
          <p:cNvSpPr/>
          <p:nvPr/>
        </p:nvSpPr>
        <p:spPr>
          <a:xfrm>
            <a:off x="45720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AE6339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0" name="Rectangle 80"/>
          <p:cNvSpPr/>
          <p:nvPr/>
        </p:nvSpPr>
        <p:spPr>
          <a:xfrm>
            <a:off x="45720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721915" y="5680710"/>
            <a:ext cx="748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DP ε=1.0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1056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975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0.9658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5015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499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0.8505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191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7" name="Rectangle 87"/>
          <p:cNvSpPr/>
          <p:nvPr/>
        </p:nvSpPr>
        <p:spPr>
          <a:xfrm>
            <a:off x="8191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9318412" y="56807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DP ε=0.5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725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594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0.9662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121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118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0.8506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14</a:t>
            </a:r>
          </a:p>
        </p:txBody>
      </p:sp>
      <p:sp>
        <p:nvSpPr>
          <p:cNvPr id="94" name="Rectangle 9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382000" y="1714500"/>
            <a:ext cx="4191000" cy="4191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71500" y="4381500"/>
            <a:ext cx="2667000" cy="2667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66725"/>
            <a:chOff x="571500" y="381000"/>
            <a:chExt cx="2471452" cy="46672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210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4878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安全与隐私可以兼得 — 四层架构 + DP噪声实现双保障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666875"/>
            <a:ext cx="11049000" cy="1095375"/>
            <a:chOff x="571500" y="1666875"/>
            <a:chExt cx="11049000" cy="1095375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18288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6807" y="19278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4450" y="18859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四层推荐架构实现安全过滤与个性化推荐的统一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912" y="2259806"/>
              <a:ext cx="6880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KnowledgeRouter语义匹配 → SafetyFilter硬排除 → RuleMarker软标记 → DeepFM个性化评分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506028"/>
              <a:ext cx="3691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安全数据综合覆盖率达97%，禁忌症95.3%，交互81.5%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952750"/>
            <a:ext cx="11049000" cy="1095375"/>
            <a:chOff x="571500" y="2952750"/>
            <a:chExt cx="11049000" cy="1095375"/>
          </a:xfrm>
        </p:grpSpPr>
        <p:sp>
          <p:nvSpPr>
            <p:cNvPr id="20" name="Rectangle 20"/>
            <p:cNvSpPr/>
            <p:nvPr/>
          </p:nvSpPr>
          <p:spPr>
            <a:xfrm>
              <a:off x="571500" y="2952750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71500" y="2952750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31146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804" y="32137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4450" y="3171825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差分隐私保护不降低推荐质量，反而提升模型区分度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3545681"/>
              <a:ext cx="6222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AUC-PR基本持平（0.9668→0.9662），Separation显著提升（0.75→0.85，+13.3%）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791902"/>
              <a:ext cx="2723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ε=0.5强隐私保护下仍保持高质量推荐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238625"/>
            <a:ext cx="11049000" cy="1095375"/>
            <a:chOff x="571500" y="4238625"/>
            <a:chExt cx="11049000" cy="1095375"/>
          </a:xfrm>
        </p:grpSpPr>
        <p:sp>
          <p:nvSpPr>
            <p:cNvPr id="28" name="Rectangle 28"/>
            <p:cNvSpPr/>
            <p:nvPr/>
          </p:nvSpPr>
          <p:spPr>
            <a:xfrm>
              <a:off x="571500" y="423862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71500" y="42386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" y="44005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804" y="4499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4450" y="4457700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安全后处理机制确保DP噪声不影响临床安全性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912" y="4831556"/>
              <a:ext cx="6395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低分置零（score&lt;0.15→0）+ 上限截断（min(1.0, raw+0.35)）+ 置信区间 + 异常标记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865" y="5077778"/>
              <a:ext cx="5292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SafetyFilter层100%保留，DP噪声零穿透，安全过滤在所有ε值下完全一致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572125"/>
            <a:ext cx="11049000" cy="952500"/>
            <a:chOff x="571500" y="5572125"/>
            <a:chExt cx="11049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571500" y="5572125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/>
              </a:solidFill>
              <a:custDash>
                <a:ds d="600000" sp="400000"/>
              </a:custDash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572125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255" y="5712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研究展望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763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3465" y="6030278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联邦学习扩展多机构协作，在不出域前提下联合训练模型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63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3465" y="6296978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更大规模药物数据集验证（扩展至5000+药物候选）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6769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54065" y="60302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临床专家评估推荐结果的可信度与实用性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6769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54065" y="6296978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探索R-DP（Rényi差分隐私）更紧密的隐私预算组合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15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35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619500" y="952500"/>
            <a:ext cx="4953000" cy="4953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AE6339">
              <a:alpha val="3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10418" y="18326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谢谢各位老师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2571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 cap="rnd">
            <a:solidFill>
              <a:srgbClr val="AE633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749641" y="28698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感谢指导教师的悉心指导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29150" y="3203258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感谢答辩委员会的宝贵意见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238500" y="3905250"/>
            <a:ext cx="5715000" cy="1143000"/>
            <a:chOff x="3238500" y="3905250"/>
            <a:chExt cx="5715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3905250"/>
              <a:ext cx="5715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Line 12"/>
            <p:cNvSpPr/>
            <p:nvPr/>
          </p:nvSpPr>
          <p:spPr>
            <a:xfrm>
              <a:off x="6096000" y="4048125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5830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论文题目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294" y="4431506"/>
              <a:ext cx="172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差分隐私保护的AI驱动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4094" y="46410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个性化医疗用药推荐系统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8089" y="4180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答辩人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97066" y="44072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晋修慧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8968" y="4696778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河南工业大学 · 2026年5月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5524500" y="5429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16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
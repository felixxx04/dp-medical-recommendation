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各位老师好，我是晋修慧，今天答辩的题目是"差分隐私保护的AI驱动个性化医疗用药推荐系统"。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本次答辩围绕七个部分展开：首先介绍研究背景与意义，然后分析系统需求，接着重点介绍核心架构设计和关键技术——差分隐私机制与DeepFM模型，最后展示系统实现、实验结果和结论展望。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医疗用药推荐面临两大挑战。第一是用药安全问题——药物不良反应致死率居高不下，WHO将不良反应列为全球十大死因之一，而传统推荐系统缺乏安全过滤机制，禁忌症、过敏、药物交互等风险未被排除。第二是隐私泄露风险——患者健康数据高度敏感，推荐过程中存在隐私泄露的显著风险，GDPR和个人信息保护法均将健康数据列为特殊类别个人信息。因此，本研究的目标是构建安全过滤、隐私保护、个性化推荐三者统一的推荐框架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设计由三层需求驱动。功能需求包括患者信息管理、智能药物推荐、安全审查机制、隐私预算追踪、医生审查面板和隐私可视化。非功能需求要求推荐延迟小于2秒、DP预算可配置、并发支持和数据持久化。最重要的是安全需求——绝对禁忌必须硬过滤且DP噪声永远不影响此层、相对禁忌软标记不排除、DP噪声仅作用于评分层，以及临床安全后处理和双重预算追踪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核心架构采用四层设计，遵循安全优先原则。Layer 0是知识路由，通过语义映射匹配候选药物集。Layer 1是安全过滤器，进行确定性硬排除——绝对禁忌症、过敏冲突、妊娠X级。关键是，DP噪声永远不影响这一层。Layer 2是规则标记器，进行软标记而非排除——相对禁忌、中等交互、妊娠C/D级仅添加requires_review标志。Layer 3是DeepFM排序，仅在安全候选集上进行个性化评分并注入DP噪声。覆盖1815种药物，安全数据综合覆盖率达97%。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左侧是DP原理。Laplace机制中，噪声尺度等于灵敏度除以ε，ε越小噪声越大保护越强。Gaussian机制提供(ε,δ)-DP保证。预算追踪使用强组合定理，多次查询的总隐私消耗严格可计算。实验验证ε=0.5时AUC-PR仍达0.9662，几乎无损失。右侧是安全后处理：第一步，评分低于0.15的药物置零，这是公开阈值操作，根据DP后处理定理不破坏DP保证；第二步，上限截断min(1.0, raw+0.35)，防止噪声将低分药物放大超过3.5倍；第三步，计算95%置信区间并标记异常。安全保障定理：SafetyFilter层100%保留，DP噪声零穿透。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DeepFM由三个模块组成。FM交叉模块使用Merged Embedding——单个nn.Embedding加field_offsets，这种设计兼容Opacus框架，支持DP-SGD训练，14个类别字段共享8维嵌入空间。Deep高阶模块是MLP（64→32），采用LayerNorm和ReLU激活，每层使用独立的dropout率防止过拟合，训练时使用Focal Loss处理正负样本不平衡。连续特征旁路将age_raw、bmi_raw、gfr_raw、liver_score_raw四个连续特征绕过嵌入层直接连接输出层，保留原始数值信息。最终输出为sigmoid(logit)∈[0,1]。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系统采用三层架构完整落地。前端使用React 18加TypeScript加Tailwind CSS，实现了推荐页面、隐私可视化面板和医生审查面板。后端使用Spring Boot 3.2加MyBatis加MySQL，负责JWT认证、推荐代理和隐私预算管理。模型服务使用FastAPI加PyTorch，实现了三层推荐引擎、DP噪声注入和英中翻译管线。安全数据方面，禁忌症覆盖95.3%，交互覆盖81.5%，综合安全覆盖97.0%。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实验结果表明DP保护不降质。AUC-PR在三组实验中基本持平：No-DP基线0.9668，DP ε=1.0为0.9658，DP ε=0.5为0.9662。更重要的发现是Separation指标显著提升，从0.7506提升到0.8505，提升13.3%。这意味着DP模型反而能更好地区分高分和低分药物。安全验证方面，SafetyFilter层在所有ε值下过滤结果完全一致，DP噪声零穿透。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研究得出三个结论：第一，四层推荐架构成功实现了安全过滤与个性化推荐的统一，安全数据综合覆盖率达97%；第二，差分隐私保护不降低推荐质量，反而提升了模型区分度13.3%；第三，安全后处理机制确保DP噪声不影响临床安全性。展望未来，可以探索联邦学习扩展多机构协作、更大规模药物数据集验证、临床专家评估推荐结果可信度，以及Rényi差分隐私更紧密的预算组合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谢谢各位老师，请批评指正。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-476250"/>
            <a:ext cx="3810000" cy="3810000"/>
          </a:xfrm>
          <a:prstGeom prst="ellipse">
            <a:avLst/>
          </a:prstGeom>
          <a:solidFill>
            <a:srgbClr val="2E3F55">
              <a:alpha val="4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810750" y="762000"/>
            <a:ext cx="2286000" cy="2286000"/>
          </a:xfrm>
          <a:prstGeom prst="ellipse">
            <a:avLst/>
          </a:prstGeom>
          <a:solidFill>
            <a:srgbClr val="AE6339">
              <a:alpha val="6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476250" y="4286250"/>
            <a:ext cx="2857500" cy="2857500"/>
          </a:xfrm>
          <a:prstGeom prst="ellipse">
            <a:avLst/>
          </a:prstGeom>
          <a:solidFill>
            <a:srgbClr val="D4B5B2">
              <a:alpha val="8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>
            <a:gsLst>
              <a:gs pos="0">
                <a:srgbClr val="2E3F55"/>
              </a:gs>
              <a:gs pos="60000">
                <a:srgbClr val="AE6339"/>
              </a:gs>
              <a:gs pos="100000">
                <a:srgbClr val="D4B5B2"/>
              </a:gs>
            </a:gsLst>
            <a:lin ang="0" scaled="1"/>
          </a:gra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2700000" scaled="1"/>
          </a:gradFill>
          <a:ln>
            <a:noFill/>
          </a:ln>
        </p:spPr>
      </p:sp>
      <p:grpSp>
        <p:nvGrpSpPr>
          <p:cNvPr id="13" name="Group 13"/>
          <p:cNvGrpSpPr/>
          <p:nvPr/>
        </p:nvGrpSpPr>
        <p:grpSpPr>
          <a:xfrm>
            <a:off x="762000" y="762000"/>
            <a:ext cx="571500" cy="571500"/>
            <a:chOff x="762000" y="762000"/>
            <a:chExt cx="571500" cy="571500"/>
          </a:xfrm>
        </p:grpSpPr>
        <p:sp>
          <p:nvSpPr>
            <p:cNvPr id="8" name="Rectangle 8"/>
            <p:cNvSpPr/>
            <p:nvPr/>
          </p:nvSpPr>
          <p:spPr>
            <a:xfrm>
              <a:off x="762000" y="762000"/>
              <a:ext cx="571500" cy="571500"/>
            </a:xfrm>
            <a:prstGeom prst="roundRect">
              <a:avLst>
                <a:gd name="adj" fmla="val 16667"/>
              </a:avLst>
            </a:prstGeom>
            <a:solidFill>
              <a:srgbClr val="2E3F55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828507" y="828507"/>
              <a:ext cx="428793" cy="412291"/>
              <a:chOff x="828507" y="828507"/>
              <a:chExt cx="428793" cy="41229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889806" y="828507"/>
                <a:ext cx="193829" cy="206144"/>
              </a:xfrm>
              <a:custGeom>
                <a:avLst/>
                <a:gdLst/>
                <a:ahLst/>
                <a:cxnLst/>
                <a:rect l="l" t="t" r="r" b="b"/>
                <a:pathLst>
                  <a:path w="193829" h="206144">
                    <a:moveTo>
                      <a:pt x="130405" y="13724"/>
                    </a:moveTo>
                    <a:cubicBezTo>
                      <a:pt x="171577" y="27448"/>
                      <a:pt x="193829" y="71950"/>
                      <a:pt x="180105" y="113122"/>
                    </a:cubicBezTo>
                    <a:lnTo>
                      <a:pt x="149097" y="206144"/>
                    </a:lnTo>
                    <a:lnTo>
                      <a:pt x="0" y="156445"/>
                    </a:lnTo>
                    <a:lnTo>
                      <a:pt x="31007" y="63423"/>
                    </a:lnTo>
                    <a:cubicBezTo>
                      <a:pt x="44731" y="22251"/>
                      <a:pt x="89233" y="0"/>
                      <a:pt x="130405" y="13724"/>
                    </a:cubicBezTo>
                    <a:close/>
                  </a:path>
                </a:pathLst>
              </a:custGeom>
              <a:solidFill>
                <a:srgbClr val="EFE6DD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28507" y="1034651"/>
                <a:ext cx="193829" cy="206147"/>
              </a:xfrm>
              <a:custGeom>
                <a:avLst/>
                <a:gdLst/>
                <a:ahLst/>
                <a:cxnLst/>
                <a:rect l="l" t="t" r="r" b="b"/>
                <a:pathLst>
                  <a:path w="193829" h="206147">
                    <a:moveTo>
                      <a:pt x="193829" y="49699"/>
                    </a:moveTo>
                    <a:lnTo>
                      <a:pt x="162822" y="142721"/>
                    </a:lnTo>
                    <a:cubicBezTo>
                      <a:pt x="149098" y="183895"/>
                      <a:pt x="104595" y="206147"/>
                      <a:pt x="63423" y="192421"/>
                    </a:cubicBezTo>
                    <a:cubicBezTo>
                      <a:pt x="22251" y="178698"/>
                      <a:pt x="0" y="134195"/>
                      <a:pt x="13724" y="93024"/>
                    </a:cubicBezTo>
                    <a:lnTo>
                      <a:pt x="44732" y="0"/>
                    </a:lnTo>
                    <a:lnTo>
                      <a:pt x="193829" y="49699"/>
                    </a:lnTo>
                    <a:close/>
                  </a:path>
                </a:pathLst>
              </a:custGeom>
              <a:solidFill>
                <a:srgbClr val="EFE6DD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73944" y="1047750"/>
                <a:ext cx="183356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183356" h="183356">
                    <a:moveTo>
                      <a:pt x="91678" y="183356"/>
                    </a:moveTo>
                    <a:cubicBezTo>
                      <a:pt x="142311" y="183356"/>
                      <a:pt x="183356" y="142311"/>
                      <a:pt x="183356" y="91678"/>
                    </a:cubicBezTo>
                    <a:cubicBezTo>
                      <a:pt x="183356" y="41046"/>
                      <a:pt x="142311" y="0"/>
                      <a:pt x="91678" y="0"/>
                    </a:cubicBezTo>
                    <a:cubicBezTo>
                      <a:pt x="41046" y="0"/>
                      <a:pt x="0" y="41046"/>
                      <a:pt x="0" y="91678"/>
                    </a:cubicBezTo>
                    <a:cubicBezTo>
                      <a:pt x="0" y="142311"/>
                      <a:pt x="41046" y="183356"/>
                      <a:pt x="91678" y="183356"/>
                    </a:cubicBezTo>
                    <a:close/>
                  </a:path>
                </a:pathLst>
              </a:custGeom>
              <a:solidFill>
                <a:srgbClr val="EFE6DD"/>
              </a:solidFill>
              <a:ln>
                <a:noFill/>
              </a:ln>
            </p:spPr>
          </p:sp>
        </p:grpSp>
      </p:grpSp>
      <p:sp>
        <p:nvSpPr>
          <p:cNvPr id="14" name="TextBox 14"/>
          <p:cNvSpPr txBox="1"/>
          <p:nvPr/>
        </p:nvSpPr>
        <p:spPr>
          <a:xfrm>
            <a:off x="1459230" y="854392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河南工业大学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63040" y="1105852"/>
            <a:ext cx="23269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Henan University of Technology</a:t>
            </a:r>
          </a:p>
        </p:txBody>
      </p:sp>
      <p:sp>
        <p:nvSpPr>
          <p:cNvPr id="16" name="Line 16"/>
          <p:cNvSpPr/>
          <p:nvPr/>
        </p:nvSpPr>
        <p:spPr>
          <a:xfrm>
            <a:off x="762000" y="1476375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4288">
            <a:solidFill>
              <a:srgbClr val="D4B5B2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720090" y="2310765"/>
            <a:ext cx="3626263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差分隐私保护的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0090" y="2863215"/>
            <a:ext cx="4056417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AI驱动个性化医疗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0090" y="3415665"/>
            <a:ext cx="312020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用药推荐系统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62000" y="3905250"/>
            <a:ext cx="762000" cy="38100"/>
          </a:xfrm>
          <a:prstGeom prst="roundRect">
            <a:avLst>
              <a:gd name="adj" fmla="val 50000"/>
            </a:avLst>
          </a:prstGeom>
          <a:solidFill>
            <a:srgbClr val="AE6339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41045" y="4203382"/>
            <a:ext cx="510254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Differential Privacy-Protected AI-Powered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41045" y="4489132"/>
            <a:ext cx="592188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Personalized Medical Drug Recommendation System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762000" y="5429250"/>
            <a:ext cx="4762500" cy="952500"/>
            <a:chOff x="762000" y="5429250"/>
            <a:chExt cx="4762500" cy="952500"/>
          </a:xfrm>
        </p:grpSpPr>
        <p:sp>
          <p:nvSpPr>
            <p:cNvPr id="23" name="Rectangle 23"/>
            <p:cNvSpPr/>
            <p:nvPr/>
          </p:nvSpPr>
          <p:spPr>
            <a:xfrm>
              <a:off x="762000" y="5429250"/>
              <a:ext cx="4762500" cy="952500"/>
            </a:xfrm>
            <a:prstGeom prst="roundRect">
              <a:avLst>
                <a:gd name="adj" fmla="val 12000"/>
              </a:avLst>
            </a:prstGeom>
            <a:solidFill>
              <a:srgbClr val="FFFFFF">
                <a:alpha val="60000"/>
              </a:srgbClr>
            </a:solidFill>
            <a:ln w="9525">
              <a:solidFill>
                <a:srgbClr val="D4B5B2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32510" y="5633085"/>
              <a:ext cx="15026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本科毕业设计答辩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3462" y="5926931"/>
              <a:ext cx="11787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答辩人：晋修慧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2667000" y="561975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938462" y="5784056"/>
              <a:ext cx="80903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2026年5月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810500" y="2381250"/>
            <a:ext cx="3619500" cy="2667000"/>
            <a:chOff x="7810500" y="2381250"/>
            <a:chExt cx="3619500" cy="2667000"/>
          </a:xfrm>
        </p:grpSpPr>
        <p:sp>
          <p:nvSpPr>
            <p:cNvPr id="29" name="Rectangle 29"/>
            <p:cNvSpPr/>
            <p:nvPr/>
          </p:nvSpPr>
          <p:spPr>
            <a:xfrm>
              <a:off x="7810500" y="2381250"/>
              <a:ext cx="3619500" cy="2667000"/>
            </a:xfrm>
            <a:prstGeom prst="roundRect">
              <a:avLst>
                <a:gd name="adj" fmla="val 7143"/>
              </a:avLst>
            </a:prstGeom>
            <a:solidFill>
              <a:srgbClr val="2E3F55">
                <a:alpha val="5000"/>
              </a:srgbClr>
            </a:solidFill>
            <a:ln w="14288">
              <a:solidFill>
                <a:srgbClr val="2E3F55">
                  <a:alpha val="10000"/>
                </a:srgbClr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8143875" y="2667000"/>
              <a:ext cx="666750" cy="762000"/>
            </a:xfrm>
            <a:custGeom>
              <a:avLst/>
              <a:gdLst/>
              <a:ahLst/>
              <a:cxnLst/>
              <a:rect l="l" t="t" r="r" b="b"/>
              <a:pathLst>
                <a:path w="666750" h="762000">
                  <a:moveTo>
                    <a:pt x="159548" y="637837"/>
                  </a:moveTo>
                  <a:lnTo>
                    <a:pt x="333375" y="762000"/>
                  </a:lnTo>
                  <a:lnTo>
                    <a:pt x="507201" y="637837"/>
                  </a:lnTo>
                  <a:cubicBezTo>
                    <a:pt x="607328" y="566318"/>
                    <a:pt x="666750" y="450850"/>
                    <a:pt x="666750" y="327806"/>
                  </a:cubicBezTo>
                  <a:lnTo>
                    <a:pt x="666750" y="142875"/>
                  </a:lnTo>
                  <a:lnTo>
                    <a:pt x="333375" y="0"/>
                  </a:lnTo>
                  <a:lnTo>
                    <a:pt x="0" y="142875"/>
                  </a:lnTo>
                  <a:lnTo>
                    <a:pt x="0" y="327806"/>
                  </a:lnTo>
                  <a:cubicBezTo>
                    <a:pt x="0" y="450850"/>
                    <a:pt x="59423" y="566318"/>
                    <a:pt x="159548" y="637837"/>
                  </a:cubicBezTo>
                  <a:close/>
                </a:path>
              </a:pathLst>
            </a:custGeom>
            <a:solidFill>
              <a:srgbClr val="2E3F55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9405938" y="2952750"/>
              <a:ext cx="428625" cy="571500"/>
            </a:xfrm>
            <a:custGeom>
              <a:avLst/>
              <a:gdLst/>
              <a:ahLst/>
              <a:cxnLst/>
              <a:rect l="l" t="t" r="r" b="b"/>
              <a:pathLst>
                <a:path w="428625" h="571500">
                  <a:moveTo>
                    <a:pt x="250031" y="250031"/>
                  </a:moveTo>
                  <a:lnTo>
                    <a:pt x="285750" y="0"/>
                  </a:lnTo>
                  <a:lnTo>
                    <a:pt x="214312" y="0"/>
                  </a:lnTo>
                  <a:lnTo>
                    <a:pt x="0" y="250031"/>
                  </a:lnTo>
                  <a:lnTo>
                    <a:pt x="0" y="321469"/>
                  </a:lnTo>
                  <a:lnTo>
                    <a:pt x="178594" y="321469"/>
                  </a:lnTo>
                  <a:lnTo>
                    <a:pt x="142875" y="571500"/>
                  </a:lnTo>
                  <a:lnTo>
                    <a:pt x="214312" y="571500"/>
                  </a:lnTo>
                  <a:lnTo>
                    <a:pt x="428625" y="321469"/>
                  </a:lnTo>
                  <a:lnTo>
                    <a:pt x="428625" y="250031"/>
                  </a:lnTo>
                  <a:lnTo>
                    <a:pt x="250031" y="250031"/>
                  </a:lnTo>
                  <a:close/>
                </a:path>
              </a:pathLst>
            </a:custGeom>
            <a:solidFill>
              <a:srgbClr val="AE6339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10366830" y="2651580"/>
              <a:ext cx="682170" cy="655917"/>
              <a:chOff x="10366830" y="2651580"/>
              <a:chExt cx="682170" cy="655917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10464350" y="2651580"/>
                <a:ext cx="308364" cy="327956"/>
              </a:xfrm>
              <a:custGeom>
                <a:avLst/>
                <a:gdLst/>
                <a:ahLst/>
                <a:cxnLst/>
                <a:rect l="l" t="t" r="r" b="b"/>
                <a:pathLst>
                  <a:path w="308364" h="327956">
                    <a:moveTo>
                      <a:pt x="207463" y="21834"/>
                    </a:moveTo>
                    <a:cubicBezTo>
                      <a:pt x="272964" y="43667"/>
                      <a:pt x="308364" y="114466"/>
                      <a:pt x="286530" y="179967"/>
                    </a:cubicBezTo>
                    <a:lnTo>
                      <a:pt x="237200" y="327956"/>
                    </a:lnTo>
                    <a:lnTo>
                      <a:pt x="0" y="248889"/>
                    </a:lnTo>
                    <a:lnTo>
                      <a:pt x="49329" y="100901"/>
                    </a:lnTo>
                    <a:cubicBezTo>
                      <a:pt x="71163" y="35399"/>
                      <a:pt x="141962" y="0"/>
                      <a:pt x="207463" y="21834"/>
                    </a:cubicBezTo>
                    <a:close/>
                  </a:path>
                </a:pathLst>
              </a:custGeom>
              <a:solidFill>
                <a:srgbClr val="AE6339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0366830" y="2979536"/>
                <a:ext cx="308365" cy="327961"/>
              </a:xfrm>
              <a:custGeom>
                <a:avLst/>
                <a:gdLst/>
                <a:ahLst/>
                <a:cxnLst/>
                <a:rect l="l" t="t" r="r" b="b"/>
                <a:pathLst>
                  <a:path w="308365" h="327961">
                    <a:moveTo>
                      <a:pt x="308365" y="79067"/>
                    </a:moveTo>
                    <a:lnTo>
                      <a:pt x="259034" y="227057"/>
                    </a:lnTo>
                    <a:cubicBezTo>
                      <a:pt x="237201" y="292561"/>
                      <a:pt x="166402" y="327961"/>
                      <a:pt x="100901" y="306125"/>
                    </a:cubicBezTo>
                    <a:cubicBezTo>
                      <a:pt x="35399" y="284293"/>
                      <a:pt x="0" y="213493"/>
                      <a:pt x="21834" y="147993"/>
                    </a:cubicBezTo>
                    <a:lnTo>
                      <a:pt x="71164" y="0"/>
                    </a:lnTo>
                    <a:lnTo>
                      <a:pt x="308365" y="79067"/>
                    </a:lnTo>
                    <a:close/>
                  </a:path>
                </a:pathLst>
              </a:custGeom>
              <a:solidFill>
                <a:srgbClr val="AE6339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0757297" y="3000375"/>
                <a:ext cx="291703" cy="291703"/>
              </a:xfrm>
              <a:custGeom>
                <a:avLst/>
                <a:gdLst/>
                <a:ahLst/>
                <a:cxnLst/>
                <a:rect l="l" t="t" r="r" b="b"/>
                <a:pathLst>
                  <a:path w="291703" h="291703">
                    <a:moveTo>
                      <a:pt x="145852" y="291703"/>
                    </a:moveTo>
                    <a:cubicBezTo>
                      <a:pt x="226403" y="291703"/>
                      <a:pt x="291703" y="226403"/>
                      <a:pt x="291703" y="145852"/>
                    </a:cubicBezTo>
                    <a:cubicBezTo>
                      <a:pt x="291703" y="65300"/>
                      <a:pt x="226403" y="0"/>
                      <a:pt x="145852" y="0"/>
                    </a:cubicBezTo>
                    <a:cubicBezTo>
                      <a:pt x="65300" y="0"/>
                      <a:pt x="0" y="65300"/>
                      <a:pt x="0" y="145852"/>
                    </a:cubicBezTo>
                    <a:cubicBezTo>
                      <a:pt x="0" y="226403"/>
                      <a:pt x="65300" y="291703"/>
                      <a:pt x="145852" y="291703"/>
                    </a:cubicBezTo>
                    <a:close/>
                  </a:path>
                </a:pathLst>
              </a:custGeom>
              <a:solidFill>
                <a:srgbClr val="AE6339"/>
              </a:solidFill>
              <a:ln>
                <a:noFill/>
              </a:ln>
            </p:spPr>
          </p:sp>
        </p:grpSp>
        <p:grpSp>
          <p:nvGrpSpPr>
            <p:cNvPr id="39" name="Group 39"/>
            <p:cNvGrpSpPr/>
            <p:nvPr/>
          </p:nvGrpSpPr>
          <p:grpSpPr>
            <a:xfrm>
              <a:off x="8286750" y="3940969"/>
              <a:ext cx="571500" cy="500063"/>
              <a:chOff x="8286750" y="3940969"/>
              <a:chExt cx="571500" cy="500063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8715375" y="3940969"/>
                <a:ext cx="142875" cy="500062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500062">
                    <a:moveTo>
                      <a:pt x="142875" y="0"/>
                    </a:moveTo>
                    <a:lnTo>
                      <a:pt x="0" y="0"/>
                    </a:lnTo>
                    <a:lnTo>
                      <a:pt x="0" y="500062"/>
                    </a:lnTo>
                    <a:lnTo>
                      <a:pt x="142875" y="500062"/>
                    </a:lnTo>
                    <a:lnTo>
                      <a:pt x="142875" y="0"/>
                    </a:lnTo>
                    <a:close/>
                  </a:path>
                </a:pathLst>
              </a:custGeom>
              <a:solidFill>
                <a:srgbClr val="D4B5B2"/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501062" y="4083844"/>
                <a:ext cx="142875" cy="35718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357188">
                    <a:moveTo>
                      <a:pt x="0" y="0"/>
                    </a:moveTo>
                    <a:lnTo>
                      <a:pt x="142875" y="0"/>
                    </a:lnTo>
                    <a:lnTo>
                      <a:pt x="142875" y="357188"/>
                    </a:lnTo>
                    <a:lnTo>
                      <a:pt x="0" y="3571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4B5B2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286750" y="4226719"/>
                <a:ext cx="142875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214312">
                    <a:moveTo>
                      <a:pt x="0" y="0"/>
                    </a:moveTo>
                    <a:lnTo>
                      <a:pt x="142875" y="0"/>
                    </a:lnTo>
                    <a:lnTo>
                      <a:pt x="142875" y="214312"/>
                    </a:lnTo>
                    <a:lnTo>
                      <a:pt x="0" y="2143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4B5B2"/>
              </a:solidFill>
              <a:ln>
                <a:noFill/>
              </a:ln>
            </p:spPr>
          </p:sp>
        </p:grpSp>
        <p:grpSp>
          <p:nvGrpSpPr>
            <p:cNvPr id="43" name="Group 43"/>
            <p:cNvGrpSpPr/>
            <p:nvPr/>
          </p:nvGrpSpPr>
          <p:grpSpPr>
            <a:xfrm>
              <a:off x="9462492" y="4000500"/>
              <a:ext cx="458391" cy="523875"/>
              <a:chOff x="9462492" y="4000500"/>
              <a:chExt cx="458391" cy="52387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9462492" y="4000500"/>
                <a:ext cx="458391" cy="261938"/>
              </a:xfrm>
              <a:custGeom>
                <a:avLst/>
                <a:gdLst/>
                <a:ahLst/>
                <a:cxnLst/>
                <a:rect l="l" t="t" r="r" b="b"/>
                <a:pathLst>
                  <a:path w="458391" h="261938">
                    <a:moveTo>
                      <a:pt x="0" y="163711"/>
                    </a:moveTo>
                    <a:lnTo>
                      <a:pt x="0" y="98227"/>
                    </a:lnTo>
                    <a:lnTo>
                      <a:pt x="229195" y="0"/>
                    </a:lnTo>
                    <a:lnTo>
                      <a:pt x="458391" y="98227"/>
                    </a:lnTo>
                    <a:lnTo>
                      <a:pt x="458391" y="163711"/>
                    </a:lnTo>
                    <a:lnTo>
                      <a:pt x="229195" y="261938"/>
                    </a:lnTo>
                    <a:lnTo>
                      <a:pt x="0" y="163711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462492" y="4360664"/>
                <a:ext cx="458391" cy="163711"/>
              </a:xfrm>
              <a:custGeom>
                <a:avLst/>
                <a:gdLst/>
                <a:ahLst/>
                <a:cxnLst/>
                <a:rect l="l" t="t" r="r" b="b"/>
                <a:pathLst>
                  <a:path w="458391" h="163711">
                    <a:moveTo>
                      <a:pt x="229195" y="163711"/>
                    </a:moveTo>
                    <a:lnTo>
                      <a:pt x="0" y="65484"/>
                    </a:lnTo>
                    <a:lnTo>
                      <a:pt x="0" y="0"/>
                    </a:lnTo>
                    <a:lnTo>
                      <a:pt x="229195" y="98227"/>
                    </a:lnTo>
                    <a:lnTo>
                      <a:pt x="458391" y="0"/>
                    </a:lnTo>
                    <a:lnTo>
                      <a:pt x="458391" y="65484"/>
                    </a:lnTo>
                    <a:lnTo>
                      <a:pt x="229195" y="163711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9462492" y="4229695"/>
                <a:ext cx="458391" cy="163711"/>
              </a:xfrm>
              <a:custGeom>
                <a:avLst/>
                <a:gdLst/>
                <a:ahLst/>
                <a:cxnLst/>
                <a:rect l="l" t="t" r="r" b="b"/>
                <a:pathLst>
                  <a:path w="458391" h="163711">
                    <a:moveTo>
                      <a:pt x="0" y="65484"/>
                    </a:moveTo>
                    <a:lnTo>
                      <a:pt x="229195" y="163711"/>
                    </a:lnTo>
                    <a:lnTo>
                      <a:pt x="458391" y="65484"/>
                    </a:lnTo>
                    <a:lnTo>
                      <a:pt x="458391" y="0"/>
                    </a:lnTo>
                    <a:lnTo>
                      <a:pt x="229195" y="98227"/>
                    </a:lnTo>
                    <a:lnTo>
                      <a:pt x="0" y="0"/>
                    </a:lnTo>
                    <a:lnTo>
                      <a:pt x="0" y="65484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</p:grpSp>
        <p:grpSp>
          <p:nvGrpSpPr>
            <p:cNvPr id="46" name="Group 46"/>
            <p:cNvGrpSpPr/>
            <p:nvPr/>
          </p:nvGrpSpPr>
          <p:grpSpPr>
            <a:xfrm>
              <a:off x="10382250" y="3857625"/>
              <a:ext cx="619125" cy="619125"/>
              <a:chOff x="10382250" y="3857625"/>
              <a:chExt cx="619125" cy="6191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10537031" y="4012406"/>
                <a:ext cx="309562" cy="309562"/>
              </a:xfrm>
              <a:custGeom>
                <a:avLst/>
                <a:gdLst/>
                <a:ahLst/>
                <a:cxnLst/>
                <a:rect l="l" t="t" r="r" b="b"/>
                <a:pathLst>
                  <a:path w="309562" h="309562">
                    <a:moveTo>
                      <a:pt x="154781" y="0"/>
                    </a:moveTo>
                    <a:cubicBezTo>
                      <a:pt x="69298" y="0"/>
                      <a:pt x="0" y="69298"/>
                      <a:pt x="0" y="154781"/>
                    </a:cubicBezTo>
                    <a:cubicBezTo>
                      <a:pt x="0" y="240263"/>
                      <a:pt x="69298" y="309562"/>
                      <a:pt x="154781" y="309562"/>
                    </a:cubicBezTo>
                    <a:cubicBezTo>
                      <a:pt x="240263" y="309562"/>
                      <a:pt x="309562" y="240263"/>
                      <a:pt x="309562" y="154781"/>
                    </a:cubicBezTo>
                    <a:cubicBezTo>
                      <a:pt x="309562" y="69298"/>
                      <a:pt x="240263" y="0"/>
                      <a:pt x="154781" y="0"/>
                    </a:cubicBezTo>
                    <a:close/>
                    <a:moveTo>
                      <a:pt x="77391" y="154781"/>
                    </a:moveTo>
                    <a:cubicBezTo>
                      <a:pt x="77391" y="112040"/>
                      <a:pt x="112040" y="77391"/>
                      <a:pt x="154781" y="77391"/>
                    </a:cubicBezTo>
                    <a:cubicBezTo>
                      <a:pt x="197523" y="77391"/>
                      <a:pt x="232172" y="112040"/>
                      <a:pt x="232172" y="154781"/>
                    </a:cubicBezTo>
                    <a:cubicBezTo>
                      <a:pt x="232172" y="197523"/>
                      <a:pt x="197523" y="232172"/>
                      <a:pt x="154781" y="232172"/>
                    </a:cubicBezTo>
                    <a:cubicBezTo>
                      <a:pt x="112040" y="232172"/>
                      <a:pt x="77391" y="197523"/>
                      <a:pt x="77391" y="154781"/>
                    </a:cubicBezTo>
                    <a:close/>
                  </a:path>
                </a:pathLst>
              </a:custGeom>
              <a:solidFill>
                <a:srgbClr val="D4B5B2"/>
              </a:solidFill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0382250" y="3857625"/>
                <a:ext cx="619125" cy="619125"/>
              </a:xfrm>
              <a:custGeom>
                <a:avLst/>
                <a:gdLst/>
                <a:ahLst/>
                <a:cxnLst/>
                <a:rect l="l" t="t" r="r" b="b"/>
                <a:pathLst>
                  <a:path w="619125" h="619125">
                    <a:moveTo>
                      <a:pt x="309562" y="0"/>
                    </a:moveTo>
                    <a:cubicBezTo>
                      <a:pt x="138596" y="0"/>
                      <a:pt x="0" y="138596"/>
                      <a:pt x="0" y="309562"/>
                    </a:cubicBezTo>
                    <a:cubicBezTo>
                      <a:pt x="0" y="480530"/>
                      <a:pt x="138596" y="619125"/>
                      <a:pt x="309562" y="619125"/>
                    </a:cubicBezTo>
                    <a:cubicBezTo>
                      <a:pt x="480530" y="619125"/>
                      <a:pt x="619125" y="480530"/>
                      <a:pt x="619125" y="309562"/>
                    </a:cubicBezTo>
                    <a:cubicBezTo>
                      <a:pt x="619125" y="138596"/>
                      <a:pt x="480530" y="0"/>
                      <a:pt x="309562" y="0"/>
                    </a:cubicBezTo>
                    <a:close/>
                    <a:moveTo>
                      <a:pt x="77391" y="309562"/>
                    </a:moveTo>
                    <a:cubicBezTo>
                      <a:pt x="77391" y="181337"/>
                      <a:pt x="181337" y="77391"/>
                      <a:pt x="309562" y="77391"/>
                    </a:cubicBezTo>
                    <a:cubicBezTo>
                      <a:pt x="437787" y="77391"/>
                      <a:pt x="541734" y="181337"/>
                      <a:pt x="541734" y="309562"/>
                    </a:cubicBezTo>
                    <a:cubicBezTo>
                      <a:pt x="541734" y="437787"/>
                      <a:pt x="437787" y="541734"/>
                      <a:pt x="309562" y="541734"/>
                    </a:cubicBezTo>
                    <a:cubicBezTo>
                      <a:pt x="181337" y="541734"/>
                      <a:pt x="77391" y="437787"/>
                      <a:pt x="77391" y="309562"/>
                    </a:cubicBezTo>
                    <a:close/>
                  </a:path>
                </a:pathLst>
              </a:custGeom>
              <a:solidFill>
                <a:srgbClr val="D4B5B2"/>
              </a:solidFill>
              <a:ln>
                <a:noFill/>
              </a:ln>
            </p:spPr>
          </p:sp>
        </p:grpSp>
      </p:grpSp>
      <p:sp>
        <p:nvSpPr>
          <p:cNvPr id="48" name="Rectangle 48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gradFill>
            <a:gsLst>
              <a:gs pos="0">
                <a:srgbClr val="2E3F55"/>
              </a:gs>
              <a:gs pos="60000">
                <a:srgbClr val="AE6339"/>
              </a:gs>
              <a:gs pos="100000">
                <a:srgbClr val="D4B5B2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71500" y="369570"/>
            <a:ext cx="1775698" cy="587692"/>
            <a:chOff x="571500" y="369570"/>
            <a:chExt cx="1775698" cy="587692"/>
          </a:xfrm>
        </p:grpSpPr>
        <p:sp>
          <p:nvSpPr>
            <p:cNvPr id="5" name="Rectangle 5"/>
            <p:cNvSpPr/>
            <p:nvPr/>
          </p:nvSpPr>
          <p:spPr>
            <a:xfrm>
              <a:off x="571500" y="3810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1520" y="369570"/>
              <a:ext cx="153314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研究框架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8665" y="743902"/>
              <a:ext cx="15985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RESEARCH FRAMEWORK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1238250"/>
            <a:ext cx="5334000" cy="685800"/>
            <a:chOff x="762000" y="1238250"/>
            <a:chExt cx="5334000" cy="685800"/>
          </a:xfrm>
        </p:grpSpPr>
        <p:sp>
          <p:nvSpPr>
            <p:cNvPr id="9" name="Rectangle 9"/>
            <p:cNvSpPr/>
            <p:nvPr/>
          </p:nvSpPr>
          <p:spPr>
            <a:xfrm>
              <a:off x="762000" y="12382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0" name="Rectangle 10"/>
            <p:cNvSpPr/>
            <p:nvPr/>
          </p:nvSpPr>
          <p:spPr>
            <a:xfrm>
              <a:off x="762000" y="12382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34415" y="1391602"/>
              <a:ext cx="1635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01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1333500" y="1390650"/>
              <a:ext cx="304800" cy="247650"/>
            </a:xfrm>
            <a:custGeom>
              <a:avLst/>
              <a:gdLst/>
              <a:ahLst/>
              <a:cxnLst/>
              <a:rect l="l" t="t" r="r" b="b"/>
              <a:pathLst>
                <a:path w="304800" h="247650">
                  <a:moveTo>
                    <a:pt x="0" y="0"/>
                  </a:moveTo>
                  <a:lnTo>
                    <a:pt x="68309" y="0"/>
                  </a:lnTo>
                  <a:cubicBezTo>
                    <a:pt x="85559" y="0"/>
                    <a:pt x="102102" y="6852"/>
                    <a:pt x="114300" y="19050"/>
                  </a:cubicBezTo>
                  <a:cubicBezTo>
                    <a:pt x="126498" y="31248"/>
                    <a:pt x="133350" y="47791"/>
                    <a:pt x="133350" y="65041"/>
                  </a:cubicBezTo>
                  <a:lnTo>
                    <a:pt x="133350" y="171450"/>
                  </a:lnTo>
                  <a:lnTo>
                    <a:pt x="171450" y="171450"/>
                  </a:lnTo>
                  <a:lnTo>
                    <a:pt x="171450" y="65041"/>
                  </a:lnTo>
                  <a:cubicBezTo>
                    <a:pt x="171450" y="47791"/>
                    <a:pt x="178302" y="31248"/>
                    <a:pt x="190500" y="19050"/>
                  </a:cubicBezTo>
                  <a:cubicBezTo>
                    <a:pt x="202698" y="6852"/>
                    <a:pt x="219241" y="0"/>
                    <a:pt x="236491" y="0"/>
                  </a:cubicBezTo>
                  <a:lnTo>
                    <a:pt x="304800" y="0"/>
                  </a:lnTo>
                  <a:lnTo>
                    <a:pt x="304800" y="209550"/>
                  </a:lnTo>
                  <a:lnTo>
                    <a:pt x="209550" y="209550"/>
                  </a:lnTo>
                  <a:lnTo>
                    <a:pt x="171450" y="247650"/>
                  </a:lnTo>
                  <a:lnTo>
                    <a:pt x="133350" y="247650"/>
                  </a:lnTo>
                  <a:lnTo>
                    <a:pt x="95250" y="209550"/>
                  </a:lnTo>
                  <a:lnTo>
                    <a:pt x="0" y="2095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3F5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733550" y="1390650"/>
              <a:ext cx="16483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研究背景与意义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40218" y="1656874"/>
              <a:ext cx="23031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医疗用药安全与隐私保护的双重挑战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477000" y="1238250"/>
            <a:ext cx="5334000" cy="685800"/>
            <a:chOff x="6477000" y="1238250"/>
            <a:chExt cx="5334000" cy="685800"/>
          </a:xfrm>
        </p:grpSpPr>
        <p:sp>
          <p:nvSpPr>
            <p:cNvPr id="16" name="Rectangle 16"/>
            <p:cNvSpPr/>
            <p:nvPr/>
          </p:nvSpPr>
          <p:spPr>
            <a:xfrm>
              <a:off x="6477000" y="12382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7" name="Rectangle 17"/>
            <p:cNvSpPr/>
            <p:nvPr/>
          </p:nvSpPr>
          <p:spPr>
            <a:xfrm>
              <a:off x="6477000" y="12382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49415" y="13916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02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7086600" y="1352550"/>
              <a:ext cx="228600" cy="304800"/>
              <a:chOff x="7086600" y="1352550"/>
              <a:chExt cx="228600" cy="304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162800" y="1352550"/>
                <a:ext cx="762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7150">
                    <a:moveTo>
                      <a:pt x="76200" y="0"/>
                    </a:moveTo>
                    <a:lnTo>
                      <a:pt x="0" y="0"/>
                    </a:lnTo>
                    <a:lnTo>
                      <a:pt x="0" y="57150"/>
                    </a:lnTo>
                    <a:lnTo>
                      <a:pt x="76200" y="57150"/>
                    </a:lnTo>
                    <a:lnTo>
                      <a:pt x="76200" y="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086600" y="1390650"/>
                <a:ext cx="2286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66700">
                    <a:moveTo>
                      <a:pt x="38100" y="0"/>
                    </a:moveTo>
                    <a:lnTo>
                      <a:pt x="0" y="0"/>
                    </a:lnTo>
                    <a:lnTo>
                      <a:pt x="0" y="266700"/>
                    </a:lnTo>
                    <a:lnTo>
                      <a:pt x="228600" y="266700"/>
                    </a:lnTo>
                    <a:lnTo>
                      <a:pt x="228600" y="0"/>
                    </a:lnTo>
                    <a:lnTo>
                      <a:pt x="190500" y="0"/>
                    </a:lnTo>
                    <a:lnTo>
                      <a:pt x="190500" y="57150"/>
                    </a:lnTo>
                    <a:lnTo>
                      <a:pt x="38100" y="57150"/>
                    </a:lnTo>
                    <a:lnTo>
                      <a:pt x="38100" y="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7448550" y="1390650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系统需求分析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55218" y="1656874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功能、非功能与安全三层需求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62000" y="2114550"/>
            <a:ext cx="5334000" cy="685800"/>
            <a:chOff x="762000" y="2114550"/>
            <a:chExt cx="5334000" cy="685800"/>
          </a:xfrm>
        </p:grpSpPr>
        <p:sp>
          <p:nvSpPr>
            <p:cNvPr id="25" name="Rectangle 25"/>
            <p:cNvSpPr/>
            <p:nvPr/>
          </p:nvSpPr>
          <p:spPr>
            <a:xfrm>
              <a:off x="762000" y="21145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26" name="Rectangle 26"/>
            <p:cNvSpPr/>
            <p:nvPr/>
          </p:nvSpPr>
          <p:spPr>
            <a:xfrm>
              <a:off x="762000" y="21145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34415" y="22679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03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1352550" y="2228850"/>
              <a:ext cx="266700" cy="304800"/>
              <a:chOff x="1352550" y="2228850"/>
              <a:chExt cx="266700" cy="304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1352550" y="2228850"/>
                <a:ext cx="2667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52400">
                    <a:moveTo>
                      <a:pt x="0" y="95250"/>
                    </a:moveTo>
                    <a:lnTo>
                      <a:pt x="0" y="57150"/>
                    </a:lnTo>
                    <a:lnTo>
                      <a:pt x="133350" y="0"/>
                    </a:lnTo>
                    <a:lnTo>
                      <a:pt x="266700" y="57150"/>
                    </a:lnTo>
                    <a:lnTo>
                      <a:pt x="266700" y="95250"/>
                    </a:lnTo>
                    <a:lnTo>
                      <a:pt x="133350" y="1524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352550" y="2438400"/>
                <a:ext cx="2667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95250">
                    <a:moveTo>
                      <a:pt x="133350" y="95250"/>
                    </a:moveTo>
                    <a:lnTo>
                      <a:pt x="0" y="38100"/>
                    </a:lnTo>
                    <a:lnTo>
                      <a:pt x="0" y="0"/>
                    </a:lnTo>
                    <a:lnTo>
                      <a:pt x="133350" y="57150"/>
                    </a:lnTo>
                    <a:lnTo>
                      <a:pt x="266700" y="0"/>
                    </a:lnTo>
                    <a:lnTo>
                      <a:pt x="266700" y="38100"/>
                    </a:lnTo>
                    <a:lnTo>
                      <a:pt x="133350" y="9525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352550" y="2362200"/>
                <a:ext cx="2667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95250">
                    <a:moveTo>
                      <a:pt x="0" y="38100"/>
                    </a:moveTo>
                    <a:lnTo>
                      <a:pt x="133350" y="95250"/>
                    </a:lnTo>
                    <a:lnTo>
                      <a:pt x="266700" y="38100"/>
                    </a:lnTo>
                    <a:lnTo>
                      <a:pt x="266700" y="0"/>
                    </a:lnTo>
                    <a:lnTo>
                      <a:pt x="133350" y="57150"/>
                    </a:lnTo>
                    <a:lnTo>
                      <a:pt x="0" y="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733550" y="2266950"/>
              <a:ext cx="18783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四层推荐架构设计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740218" y="2533174"/>
              <a:ext cx="38268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KnowledgeRouter → SafetyFilter → RuleMarker → DeepFM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477000" y="2114550"/>
            <a:ext cx="5334000" cy="685800"/>
            <a:chOff x="6477000" y="2114550"/>
            <a:chExt cx="5334000" cy="685800"/>
          </a:xfrm>
        </p:grpSpPr>
        <p:sp>
          <p:nvSpPr>
            <p:cNvPr id="35" name="Rectangle 35"/>
            <p:cNvSpPr/>
            <p:nvPr/>
          </p:nvSpPr>
          <p:spPr>
            <a:xfrm>
              <a:off x="6477000" y="21145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36" name="Rectangle 36"/>
            <p:cNvSpPr/>
            <p:nvPr/>
          </p:nvSpPr>
          <p:spPr>
            <a:xfrm>
              <a:off x="6477000" y="21145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49415" y="22679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04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7067550" y="222885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63819" y="255135"/>
                  </a:moveTo>
                  <a:lnTo>
                    <a:pt x="133350" y="304800"/>
                  </a:lnTo>
                  <a:lnTo>
                    <a:pt x="202881" y="255135"/>
                  </a:lnTo>
                  <a:cubicBezTo>
                    <a:pt x="242931" y="226527"/>
                    <a:pt x="266700" y="180340"/>
                    <a:pt x="266700" y="131122"/>
                  </a:cubicBezTo>
                  <a:lnTo>
                    <a:pt x="266700" y="57150"/>
                  </a:lnTo>
                  <a:lnTo>
                    <a:pt x="133350" y="0"/>
                  </a:lnTo>
                  <a:lnTo>
                    <a:pt x="0" y="57150"/>
                  </a:lnTo>
                  <a:lnTo>
                    <a:pt x="0" y="131122"/>
                  </a:lnTo>
                  <a:cubicBezTo>
                    <a:pt x="0" y="180340"/>
                    <a:pt x="23769" y="226527"/>
                    <a:pt x="63819" y="255135"/>
                  </a:cubicBezTo>
                  <a:close/>
                </a:path>
              </a:pathLst>
            </a:custGeom>
            <a:solidFill>
              <a:srgbClr val="2E3F55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448550" y="2266950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差分隐私机制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455218" y="2533174"/>
              <a:ext cx="27445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DP噪声仅作用于评分层，临床安全不受影响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62000" y="2990850"/>
            <a:ext cx="5334000" cy="685800"/>
            <a:chOff x="762000" y="2990850"/>
            <a:chExt cx="5334000" cy="685800"/>
          </a:xfrm>
        </p:grpSpPr>
        <p:sp>
          <p:nvSpPr>
            <p:cNvPr id="42" name="Rectangle 42"/>
            <p:cNvSpPr/>
            <p:nvPr/>
          </p:nvSpPr>
          <p:spPr>
            <a:xfrm>
              <a:off x="762000" y="29908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43" name="Rectangle 43"/>
            <p:cNvSpPr/>
            <p:nvPr/>
          </p:nvSpPr>
          <p:spPr>
            <a:xfrm>
              <a:off x="762000" y="29908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34415" y="31442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05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1371600" y="3105150"/>
              <a:ext cx="228600" cy="304800"/>
            </a:xfrm>
            <a:custGeom>
              <a:avLst/>
              <a:gdLst/>
              <a:ahLst/>
              <a:cxnLst/>
              <a:rect l="l" t="t" r="r" b="b"/>
              <a:pathLst>
                <a:path w="228600" h="304800">
                  <a:moveTo>
                    <a:pt x="133350" y="133350"/>
                  </a:moveTo>
                  <a:lnTo>
                    <a:pt x="152400" y="0"/>
                  </a:lnTo>
                  <a:lnTo>
                    <a:pt x="114300" y="0"/>
                  </a:lnTo>
                  <a:lnTo>
                    <a:pt x="0" y="133350"/>
                  </a:lnTo>
                  <a:lnTo>
                    <a:pt x="0" y="171450"/>
                  </a:lnTo>
                  <a:lnTo>
                    <a:pt x="95250" y="171450"/>
                  </a:lnTo>
                  <a:lnTo>
                    <a:pt x="76200" y="304800"/>
                  </a:lnTo>
                  <a:lnTo>
                    <a:pt x="114300" y="304800"/>
                  </a:lnTo>
                  <a:lnTo>
                    <a:pt x="228600" y="171450"/>
                  </a:lnTo>
                  <a:lnTo>
                    <a:pt x="228600" y="133350"/>
                  </a:lnTo>
                  <a:lnTo>
                    <a:pt x="133350" y="133350"/>
                  </a:lnTo>
                  <a:close/>
                </a:path>
              </a:pathLst>
            </a:custGeom>
            <a:solidFill>
              <a:srgbClr val="2E3F55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733550" y="3143250"/>
              <a:ext cx="17633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DeepFM模型设计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740218" y="3409474"/>
              <a:ext cx="22746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FM交叉 + Deep高阶 + 连续特征旁路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477000" y="2990850"/>
            <a:ext cx="5334000" cy="685800"/>
            <a:chOff x="6477000" y="2990850"/>
            <a:chExt cx="5334000" cy="685800"/>
          </a:xfrm>
        </p:grpSpPr>
        <p:sp>
          <p:nvSpPr>
            <p:cNvPr id="49" name="Rectangle 49"/>
            <p:cNvSpPr/>
            <p:nvPr/>
          </p:nvSpPr>
          <p:spPr>
            <a:xfrm>
              <a:off x="6477000" y="29908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50" name="Rectangle 50"/>
            <p:cNvSpPr/>
            <p:nvPr/>
          </p:nvSpPr>
          <p:spPr>
            <a:xfrm>
              <a:off x="6477000" y="29908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49415" y="31442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06</a:t>
              </a:r>
            </a:p>
          </p:txBody>
        </p:sp>
        <p:sp>
          <p:nvSpPr>
            <p:cNvPr id="52" name="Freeform 52"/>
            <p:cNvSpPr/>
            <p:nvPr/>
          </p:nvSpPr>
          <p:spPr>
            <a:xfrm>
              <a:off x="7067550" y="312420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266700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266700" y="266700"/>
                  </a:lnTo>
                  <a:lnTo>
                    <a:pt x="266700" y="0"/>
                  </a:lnTo>
                  <a:close/>
                  <a:moveTo>
                    <a:pt x="95250" y="76200"/>
                  </a:moveTo>
                  <a:lnTo>
                    <a:pt x="122191" y="103141"/>
                  </a:lnTo>
                  <a:lnTo>
                    <a:pt x="91982" y="133350"/>
                  </a:lnTo>
                  <a:lnTo>
                    <a:pt x="122191" y="163559"/>
                  </a:lnTo>
                  <a:lnTo>
                    <a:pt x="95250" y="190500"/>
                  </a:lnTo>
                  <a:lnTo>
                    <a:pt x="38100" y="133350"/>
                  </a:lnTo>
                  <a:lnTo>
                    <a:pt x="95250" y="76200"/>
                  </a:lnTo>
                  <a:close/>
                  <a:moveTo>
                    <a:pt x="171450" y="76200"/>
                  </a:moveTo>
                  <a:lnTo>
                    <a:pt x="144509" y="103141"/>
                  </a:lnTo>
                  <a:lnTo>
                    <a:pt x="174719" y="133350"/>
                  </a:lnTo>
                  <a:lnTo>
                    <a:pt x="144509" y="163559"/>
                  </a:lnTo>
                  <a:lnTo>
                    <a:pt x="171450" y="190500"/>
                  </a:lnTo>
                  <a:lnTo>
                    <a:pt x="228600" y="133350"/>
                  </a:lnTo>
                  <a:lnTo>
                    <a:pt x="171450" y="76200"/>
                  </a:lnTo>
                  <a:close/>
                </a:path>
              </a:pathLst>
            </a:custGeom>
            <a:solidFill>
              <a:srgbClr val="2E3F55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448550" y="3143250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系统实现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455218" y="3409474"/>
              <a:ext cx="26591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React + Spring Boot + FastAPI 三层架构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762000" y="3867150"/>
            <a:ext cx="5334000" cy="685800"/>
            <a:chOff x="762000" y="3867150"/>
            <a:chExt cx="5334000" cy="685800"/>
          </a:xfrm>
        </p:grpSpPr>
        <p:sp>
          <p:nvSpPr>
            <p:cNvPr id="56" name="Rectangle 56"/>
            <p:cNvSpPr/>
            <p:nvPr/>
          </p:nvSpPr>
          <p:spPr>
            <a:xfrm>
              <a:off x="762000" y="38671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57" name="Rectangle 57"/>
            <p:cNvSpPr/>
            <p:nvPr/>
          </p:nvSpPr>
          <p:spPr>
            <a:xfrm>
              <a:off x="762000" y="38671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034415" y="40205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07</a:t>
              </a:r>
            </a:p>
          </p:txBody>
        </p:sp>
        <p:grpSp>
          <p:nvGrpSpPr>
            <p:cNvPr id="62" name="Group 62"/>
            <p:cNvGrpSpPr/>
            <p:nvPr/>
          </p:nvGrpSpPr>
          <p:grpSpPr>
            <a:xfrm>
              <a:off x="1333500" y="4000500"/>
              <a:ext cx="304800" cy="266700"/>
              <a:chOff x="1333500" y="4000500"/>
              <a:chExt cx="304800" cy="26670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1562100" y="4000500"/>
                <a:ext cx="762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266700">
                    <a:moveTo>
                      <a:pt x="76200" y="0"/>
                    </a:moveTo>
                    <a:lnTo>
                      <a:pt x="0" y="0"/>
                    </a:lnTo>
                    <a:lnTo>
                      <a:pt x="0" y="266700"/>
                    </a:lnTo>
                    <a:lnTo>
                      <a:pt x="76200" y="266700"/>
                    </a:lnTo>
                    <a:lnTo>
                      <a:pt x="76200" y="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1447800" y="4076700"/>
                <a:ext cx="762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905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190500"/>
                    </a:lnTo>
                    <a:lnTo>
                      <a:pt x="0" y="1905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1333500" y="4152900"/>
                <a:ext cx="76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143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114300"/>
                    </a:lnTo>
                    <a:lnTo>
                      <a:pt x="0" y="1143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733550" y="4019550"/>
              <a:ext cx="16483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实验结果与分析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740218" y="4285774"/>
              <a:ext cx="23173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DP保护不降质，模型区分度反而提升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6477000" y="3867150"/>
            <a:ext cx="5334000" cy="685800"/>
            <a:chOff x="6477000" y="3867150"/>
            <a:chExt cx="5334000" cy="685800"/>
          </a:xfrm>
        </p:grpSpPr>
        <p:sp>
          <p:nvSpPr>
            <p:cNvPr id="66" name="Rectangle 66"/>
            <p:cNvSpPr/>
            <p:nvPr/>
          </p:nvSpPr>
          <p:spPr>
            <a:xfrm>
              <a:off x="6477000" y="38671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67" name="Rectangle 67"/>
            <p:cNvSpPr/>
            <p:nvPr/>
          </p:nvSpPr>
          <p:spPr>
            <a:xfrm>
              <a:off x="6477000" y="38671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749415" y="40205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08</a:t>
              </a:r>
            </a:p>
          </p:txBody>
        </p:sp>
        <p:sp>
          <p:nvSpPr>
            <p:cNvPr id="69" name="Freeform 69"/>
            <p:cNvSpPr/>
            <p:nvPr/>
          </p:nvSpPr>
          <p:spPr>
            <a:xfrm>
              <a:off x="7048500" y="398145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304800"/>
                  </a:moveTo>
                  <a:cubicBezTo>
                    <a:pt x="236569" y="304800"/>
                    <a:pt x="304800" y="236569"/>
                    <a:pt x="304800" y="152400"/>
                  </a:cubicBezTo>
                  <a:cubicBezTo>
                    <a:pt x="304800" y="68232"/>
                    <a:pt x="236569" y="0"/>
                    <a:pt x="152400" y="0"/>
                  </a:cubicBezTo>
                  <a:cubicBezTo>
                    <a:pt x="68232" y="0"/>
                    <a:pt x="0" y="68232"/>
                    <a:pt x="0" y="152400"/>
                  </a:cubicBezTo>
                  <a:cubicBezTo>
                    <a:pt x="0" y="236569"/>
                    <a:pt x="68232" y="304800"/>
                    <a:pt x="152400" y="304800"/>
                  </a:cubicBezTo>
                  <a:close/>
                  <a:moveTo>
                    <a:pt x="242070" y="108720"/>
                  </a:moveTo>
                  <a:lnTo>
                    <a:pt x="215130" y="81780"/>
                  </a:lnTo>
                  <a:lnTo>
                    <a:pt x="123825" y="173084"/>
                  </a:lnTo>
                  <a:lnTo>
                    <a:pt x="89670" y="138930"/>
                  </a:lnTo>
                  <a:lnTo>
                    <a:pt x="62730" y="165870"/>
                  </a:lnTo>
                  <a:lnTo>
                    <a:pt x="123825" y="226966"/>
                  </a:lnTo>
                  <a:lnTo>
                    <a:pt x="242070" y="108720"/>
                  </a:lnTo>
                  <a:close/>
                </a:path>
              </a:pathLst>
            </a:custGeom>
            <a:solidFill>
              <a:srgbClr val="2E3F55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448550" y="4019550"/>
              <a:ext cx="16483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研究结论与展望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455218" y="4285774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安全与隐私可以兼得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762000" y="5048250"/>
            <a:ext cx="11049000" cy="1428750"/>
            <a:chOff x="762000" y="5048250"/>
            <a:chExt cx="11049000" cy="1428750"/>
          </a:xfrm>
        </p:grpSpPr>
        <p:sp>
          <p:nvSpPr>
            <p:cNvPr id="73" name="Rectangle 73"/>
            <p:cNvSpPr/>
            <p:nvPr/>
          </p:nvSpPr>
          <p:spPr>
            <a:xfrm>
              <a:off x="762000" y="5048250"/>
              <a:ext cx="11049000" cy="1428750"/>
            </a:xfrm>
            <a:prstGeom prst="roundRect">
              <a:avLst>
                <a:gd name="adj" fmla="val 8000"/>
              </a:avLst>
            </a:prstGeom>
            <a:solidFill>
              <a:srgbClr val="2E3F55">
                <a:alpha val="6000"/>
              </a:srgbClr>
            </a:solidFill>
            <a:ln w="9525">
              <a:solidFill>
                <a:srgbClr val="D4B5B2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5788182" y="5228749"/>
              <a:ext cx="9966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CORE METRICS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378025" y="5423535"/>
              <a:ext cx="143495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0.9668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552682" y="5847874"/>
              <a:ext cx="10856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AUC-PR (No-DP)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4235525" y="5423535"/>
              <a:ext cx="143495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0.9658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4328303" y="5847874"/>
              <a:ext cx="12493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AUC-PR (DP ε=1.0)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954281" y="5423535"/>
              <a:ext cx="133143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+13.3%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070062" y="5847874"/>
              <a:ext cx="10998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Separation 提升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9492889" y="5423535"/>
              <a:ext cx="120722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97.0%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656921" y="5847874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安全数据覆盖</a:t>
              </a:r>
            </a:p>
          </p:txBody>
        </p:sp>
      </p:grpSp>
      <p:sp>
        <p:nvSpPr>
          <p:cNvPr id="84" name="TextBox 84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02</a:t>
            </a:r>
          </a:p>
        </p:txBody>
      </p:sp>
      <p:sp>
        <p:nvSpPr>
          <p:cNvPr id="85" name="Rectangle 85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4" grpId="0"/>
      <p:bldP spid="34" grpId="0"/>
      <p:bldP spid="41" grpId="0"/>
      <p:bldP spid="48" grpId="0"/>
      <p:bldP spid="55" grpId="0"/>
      <p:bldP spid="65" grpId="0"/>
      <p:bldP spid="72" grpId="0"/>
      <p:bldP spid="8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7334250" y="762000"/>
            <a:ext cx="5334000" cy="5334000"/>
          </a:xfrm>
          <a:prstGeom prst="ellipse">
            <a:avLst/>
          </a:prstGeom>
          <a:solidFill>
            <a:srgbClr val="2E3F55">
              <a:alpha val="3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8572500" y="1428750"/>
            <a:ext cx="3429000" cy="3429000"/>
          </a:xfrm>
          <a:prstGeom prst="ellipse">
            <a:avLst/>
          </a:prstGeom>
          <a:solidFill>
            <a:srgbClr val="AE6339">
              <a:alpha val="4000"/>
            </a:srgbClr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71500" y="381000"/>
            <a:ext cx="2471452" cy="447675"/>
            <a:chOff x="571500" y="381000"/>
            <a:chExt cx="2471452" cy="447675"/>
          </a:xfrm>
        </p:grpSpPr>
        <p:sp>
          <p:nvSpPr>
            <p:cNvPr id="7" name="Rectangle 7"/>
            <p:cNvSpPr/>
            <p:nvPr/>
          </p:nvSpPr>
          <p:spPr>
            <a:xfrm>
              <a:off x="571500" y="3810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35330" y="401955"/>
              <a:ext cx="230762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研究背景与意义</a:t>
              </a:r>
            </a:p>
          </p:txBody>
        </p:sp>
      </p:grpSp>
      <p:sp>
        <p:nvSpPr>
          <p:cNvPr id="10" name="Rectangle 10"/>
          <p:cNvSpPr/>
          <p:nvPr/>
        </p:nvSpPr>
        <p:spPr>
          <a:xfrm>
            <a:off x="571500" y="904875"/>
            <a:ext cx="11049000" cy="457200"/>
          </a:xfrm>
          <a:prstGeom prst="roundRect">
            <a:avLst>
              <a:gd name="adj" fmla="val 16667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44855" y="1044892"/>
            <a:ext cx="833602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医疗用药推荐面临安全与隐私双重挑战，需构建安全过滤+隐私保护+个性化推荐的统一框架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571500" y="1666875"/>
            <a:ext cx="5334000" cy="2095500"/>
            <a:chOff x="571500" y="1666875"/>
            <a:chExt cx="5334000" cy="2095500"/>
          </a:xfrm>
        </p:grpSpPr>
        <p:sp>
          <p:nvSpPr>
            <p:cNvPr id="12" name="Rectangle 12"/>
            <p:cNvSpPr/>
            <p:nvPr/>
          </p:nvSpPr>
          <p:spPr>
            <a:xfrm>
              <a:off x="571500" y="1666875"/>
              <a:ext cx="5334000" cy="2095500"/>
            </a:xfrm>
            <a:prstGeom prst="roundRect">
              <a:avLst>
                <a:gd name="adj" fmla="val 5455"/>
              </a:avLst>
            </a:prstGeom>
            <a:solidFill>
              <a:srgbClr val="FFFFFF"/>
            </a:solidFill>
            <a:ln w="14288">
              <a:solidFill>
                <a:srgbClr val="C62828">
                  <a:alpha val="30000"/>
                </a:srgbClr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1666875"/>
              <a:ext cx="76200" cy="2095500"/>
            </a:xfrm>
            <a:prstGeom prst="roundRect">
              <a:avLst>
                <a:gd name="adj" fmla="val 50000"/>
              </a:avLst>
            </a:prstGeom>
            <a:solidFill>
              <a:srgbClr val="C62828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849320" y="1849445"/>
              <a:ext cx="350830" cy="337329"/>
              <a:chOff x="849320" y="1849445"/>
              <a:chExt cx="350830" cy="337329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899473" y="1849445"/>
                <a:ext cx="158587" cy="168663"/>
              </a:xfrm>
              <a:custGeom>
                <a:avLst/>
                <a:gdLst/>
                <a:ahLst/>
                <a:cxnLst/>
                <a:rect l="l" t="t" r="r" b="b"/>
                <a:pathLst>
                  <a:path w="158587" h="168663">
                    <a:moveTo>
                      <a:pt x="106695" y="11229"/>
                    </a:moveTo>
                    <a:cubicBezTo>
                      <a:pt x="140382" y="22458"/>
                      <a:pt x="158587" y="58868"/>
                      <a:pt x="147358" y="92555"/>
                    </a:cubicBezTo>
                    <a:lnTo>
                      <a:pt x="121989" y="168663"/>
                    </a:lnTo>
                    <a:lnTo>
                      <a:pt x="0" y="128000"/>
                    </a:lnTo>
                    <a:lnTo>
                      <a:pt x="25369" y="51892"/>
                    </a:lnTo>
                    <a:cubicBezTo>
                      <a:pt x="36598" y="18205"/>
                      <a:pt x="73009" y="0"/>
                      <a:pt x="106695" y="11229"/>
                    </a:cubicBezTo>
                    <a:close/>
                  </a:path>
                </a:pathLst>
              </a:custGeom>
              <a:solidFill>
                <a:srgbClr val="C62828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49320" y="2018108"/>
                <a:ext cx="158587" cy="168666"/>
              </a:xfrm>
              <a:custGeom>
                <a:avLst/>
                <a:gdLst/>
                <a:ahLst/>
                <a:cxnLst/>
                <a:rect l="l" t="t" r="r" b="b"/>
                <a:pathLst>
                  <a:path w="158587" h="168666">
                    <a:moveTo>
                      <a:pt x="158587" y="40663"/>
                    </a:moveTo>
                    <a:lnTo>
                      <a:pt x="133218" y="116772"/>
                    </a:lnTo>
                    <a:cubicBezTo>
                      <a:pt x="121989" y="150460"/>
                      <a:pt x="85578" y="168666"/>
                      <a:pt x="51892" y="157436"/>
                    </a:cubicBezTo>
                    <a:cubicBezTo>
                      <a:pt x="18205" y="146208"/>
                      <a:pt x="0" y="109796"/>
                      <a:pt x="11229" y="76111"/>
                    </a:cubicBezTo>
                    <a:lnTo>
                      <a:pt x="36599" y="0"/>
                    </a:lnTo>
                    <a:lnTo>
                      <a:pt x="158587" y="40663"/>
                    </a:lnTo>
                    <a:close/>
                  </a:path>
                </a:pathLst>
              </a:custGeom>
              <a:solidFill>
                <a:srgbClr val="C62828"/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050131" y="2028825"/>
                <a:ext cx="150019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150019" h="150019">
                    <a:moveTo>
                      <a:pt x="75009" y="150019"/>
                    </a:moveTo>
                    <a:cubicBezTo>
                      <a:pt x="116436" y="150019"/>
                      <a:pt x="150019" y="116436"/>
                      <a:pt x="150019" y="75009"/>
                    </a:cubicBezTo>
                    <a:cubicBezTo>
                      <a:pt x="150019" y="33583"/>
                      <a:pt x="116436" y="0"/>
                      <a:pt x="75009" y="0"/>
                    </a:cubicBezTo>
                    <a:cubicBezTo>
                      <a:pt x="33583" y="0"/>
                      <a:pt x="0" y="33583"/>
                      <a:pt x="0" y="75009"/>
                    </a:cubicBezTo>
                    <a:cubicBezTo>
                      <a:pt x="0" y="116436"/>
                      <a:pt x="33583" y="150019"/>
                      <a:pt x="75009" y="150019"/>
                    </a:cubicBezTo>
                    <a:close/>
                  </a:path>
                </a:pathLst>
              </a:custGeom>
              <a:solidFill>
                <a:srgbClr val="C62828"/>
              </a:solidFill>
              <a:ln>
                <a:noFill/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312545" y="1917382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用药安全问题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57250" y="228600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40105" y="2445068"/>
              <a:ext cx="25974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药物不良反应致死率居高不下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0105" y="2730818"/>
              <a:ext cx="24003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传统推荐系统</a:t>
              </a:r>
              <a:r>
                <a:rPr lang="zh-CN" sz="1350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缺乏安全过滤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0105" y="3016568"/>
              <a:ext cx="27946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禁忌症、过敏、药物交互未排除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3915" y="3363278"/>
              <a:ext cx="23116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WHO: 不良反应位列全球十大死因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286500" y="1666875"/>
            <a:ext cx="5334000" cy="2095500"/>
            <a:chOff x="6286500" y="1666875"/>
            <a:chExt cx="5334000" cy="2095500"/>
          </a:xfrm>
        </p:grpSpPr>
        <p:sp>
          <p:nvSpPr>
            <p:cNvPr id="25" name="Rectangle 25"/>
            <p:cNvSpPr/>
            <p:nvPr/>
          </p:nvSpPr>
          <p:spPr>
            <a:xfrm>
              <a:off x="6286500" y="1666875"/>
              <a:ext cx="5334000" cy="2095500"/>
            </a:xfrm>
            <a:prstGeom prst="roundRect">
              <a:avLst>
                <a:gd name="adj" fmla="val 5455"/>
              </a:avLst>
            </a:prstGeom>
            <a:solidFill>
              <a:srgbClr val="FFFFFF"/>
            </a:solidFill>
            <a:ln w="14288">
              <a:solidFill>
                <a:srgbClr val="AE6339">
                  <a:alpha val="30000"/>
                </a:srgbClr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86500" y="1666875"/>
              <a:ext cx="76200" cy="20955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6593681" y="1857375"/>
              <a:ext cx="300038" cy="342900"/>
            </a:xfrm>
            <a:custGeom>
              <a:avLst/>
              <a:gdLst/>
              <a:ahLst/>
              <a:cxnLst/>
              <a:rect l="l" t="t" r="r" b="b"/>
              <a:pathLst>
                <a:path w="300038" h="342900">
                  <a:moveTo>
                    <a:pt x="71797" y="287027"/>
                  </a:moveTo>
                  <a:lnTo>
                    <a:pt x="150019" y="342900"/>
                  </a:lnTo>
                  <a:lnTo>
                    <a:pt x="228241" y="287027"/>
                  </a:lnTo>
                  <a:cubicBezTo>
                    <a:pt x="273298" y="254843"/>
                    <a:pt x="300038" y="202883"/>
                    <a:pt x="300038" y="147513"/>
                  </a:cubicBezTo>
                  <a:lnTo>
                    <a:pt x="300038" y="64294"/>
                  </a:lnTo>
                  <a:lnTo>
                    <a:pt x="150019" y="0"/>
                  </a:lnTo>
                  <a:lnTo>
                    <a:pt x="0" y="64294"/>
                  </a:lnTo>
                  <a:lnTo>
                    <a:pt x="0" y="147513"/>
                  </a:lnTo>
                  <a:cubicBezTo>
                    <a:pt x="0" y="202883"/>
                    <a:pt x="26740" y="254843"/>
                    <a:pt x="71797" y="287027"/>
                  </a:cubicBezTo>
                  <a:close/>
                </a:path>
              </a:pathLst>
            </a:custGeom>
            <a:solidFill>
              <a:srgbClr val="AE6339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027545" y="1917382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隐私泄露风险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72250" y="228600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55105" y="2445068"/>
              <a:ext cx="20059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患者健康数据高度敏感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55105" y="2730818"/>
              <a:ext cx="25974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推荐过程中</a:t>
              </a:r>
              <a:r>
                <a:rPr lang="zh-CN" sz="13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隐私泄露风险</a:t>
              </a:r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显著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55105" y="3016568"/>
              <a:ext cx="306081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合规要求：GDPR / 个人信息保护法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58915" y="3363278"/>
              <a:ext cx="21736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健康数据属于特殊类别个人信息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71500" y="4095750"/>
            <a:ext cx="11049000" cy="1209675"/>
            <a:chOff x="571500" y="4095750"/>
            <a:chExt cx="11049000" cy="1209675"/>
          </a:xfrm>
        </p:grpSpPr>
        <p:sp>
          <p:nvSpPr>
            <p:cNvPr id="35" name="Rectangle 35"/>
            <p:cNvSpPr/>
            <p:nvPr/>
          </p:nvSpPr>
          <p:spPr>
            <a:xfrm>
              <a:off x="571500" y="4095750"/>
              <a:ext cx="11049000" cy="1143000"/>
            </a:xfrm>
            <a:prstGeom prst="roundRect">
              <a:avLst>
                <a:gd name="adj" fmla="val 10000"/>
              </a:avLst>
            </a:prstGeom>
            <a:solidFill>
              <a:srgbClr val="2E3F55">
                <a:alpha val="6000"/>
              </a:srgbClr>
            </a:solidFill>
            <a:ln w="9525">
              <a:solidFill>
                <a:srgbClr val="2E3F55">
                  <a:alpha val="20000"/>
                </a:srgbClr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571500" y="4095750"/>
              <a:ext cx="76200" cy="11430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857250" y="4381500"/>
              <a:ext cx="381000" cy="381000"/>
              <a:chOff x="857250" y="4381500"/>
              <a:chExt cx="381000" cy="3810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952500" y="447675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95250" y="0"/>
                    </a:moveTo>
                    <a:cubicBezTo>
                      <a:pt x="42645" y="0"/>
                      <a:pt x="0" y="42645"/>
                      <a:pt x="0" y="95250"/>
                    </a:cubicBezTo>
                    <a:cubicBezTo>
                      <a:pt x="0" y="147854"/>
                      <a:pt x="42645" y="190500"/>
                      <a:pt x="95250" y="190500"/>
                    </a:cubicBezTo>
                    <a:cubicBezTo>
                      <a:pt x="147854" y="190500"/>
                      <a:pt x="190500" y="147854"/>
                      <a:pt x="190500" y="95250"/>
                    </a:cubicBezTo>
                    <a:cubicBezTo>
                      <a:pt x="190500" y="42645"/>
                      <a:pt x="147854" y="0"/>
                      <a:pt x="95250" y="0"/>
                    </a:cubicBezTo>
                    <a:close/>
                    <a:moveTo>
                      <a:pt x="47625" y="95250"/>
                    </a:moveTo>
                    <a:cubicBezTo>
                      <a:pt x="47625" y="68947"/>
                      <a:pt x="68947" y="47625"/>
                      <a:pt x="95250" y="47625"/>
                    </a:cubicBezTo>
                    <a:cubicBezTo>
                      <a:pt x="121553" y="47625"/>
                      <a:pt x="142875" y="68947"/>
                      <a:pt x="142875" y="95250"/>
                    </a:cubicBezTo>
                    <a:cubicBezTo>
                      <a:pt x="142875" y="121553"/>
                      <a:pt x="121553" y="142875"/>
                      <a:pt x="95250" y="142875"/>
                    </a:cubicBezTo>
                    <a:cubicBezTo>
                      <a:pt x="68947" y="142875"/>
                      <a:pt x="47625" y="121553"/>
                      <a:pt x="47625" y="95250"/>
                    </a:cubicBez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57250" y="4381500"/>
                <a:ext cx="381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381000">
                    <a:moveTo>
                      <a:pt x="190500" y="0"/>
                    </a:moveTo>
                    <a:cubicBezTo>
                      <a:pt x="85290" y="0"/>
                      <a:pt x="0" y="85290"/>
                      <a:pt x="0" y="190500"/>
                    </a:cubicBezTo>
                    <a:cubicBezTo>
                      <a:pt x="0" y="295711"/>
                      <a:pt x="85290" y="381000"/>
                      <a:pt x="190500" y="381000"/>
                    </a:cubicBezTo>
                    <a:cubicBezTo>
                      <a:pt x="295711" y="381000"/>
                      <a:pt x="381000" y="295711"/>
                      <a:pt x="381000" y="190500"/>
                    </a:cubicBezTo>
                    <a:cubicBezTo>
                      <a:pt x="381000" y="85290"/>
                      <a:pt x="295711" y="0"/>
                      <a:pt x="190500" y="0"/>
                    </a:cubicBezTo>
                    <a:close/>
                    <a:moveTo>
                      <a:pt x="47625" y="190500"/>
                    </a:moveTo>
                    <a:cubicBezTo>
                      <a:pt x="47625" y="111592"/>
                      <a:pt x="111592" y="47625"/>
                      <a:pt x="190500" y="47625"/>
                    </a:cubicBezTo>
                    <a:cubicBezTo>
                      <a:pt x="269407" y="47625"/>
                      <a:pt x="333375" y="111592"/>
                      <a:pt x="333375" y="190500"/>
                    </a:cubicBezTo>
                    <a:cubicBezTo>
                      <a:pt x="333375" y="269407"/>
                      <a:pt x="269407" y="333375"/>
                      <a:pt x="190500" y="333375"/>
                    </a:cubicBezTo>
                    <a:cubicBezTo>
                      <a:pt x="111592" y="333375"/>
                      <a:pt x="47625" y="269407"/>
                      <a:pt x="47625" y="190500"/>
                    </a:cubicBez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360170" y="4374832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研究目标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0105" y="4807268"/>
              <a:ext cx="44311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构建</a:t>
              </a:r>
              <a:r>
                <a:rPr lang="zh-CN" sz="13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安全过滤 + 隐私保护 + 个性化推荐</a:t>
              </a:r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的统一框架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2010" y="5061585"/>
              <a:ext cx="62697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SafetyFilter确定性硬排除 → RuleMarker软标记 → DeepFM个性化评分 + DP噪声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926669" y="5695950"/>
            <a:ext cx="7979331" cy="352425"/>
            <a:chOff x="1926669" y="5695950"/>
            <a:chExt cx="7979331" cy="352425"/>
          </a:xfrm>
        </p:grpSpPr>
        <p:sp>
          <p:nvSpPr>
            <p:cNvPr id="44" name="TextBox 44"/>
            <p:cNvSpPr txBox="1"/>
            <p:nvPr/>
          </p:nvSpPr>
          <p:spPr>
            <a:xfrm>
              <a:off x="1926669" y="578405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安全问题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314700" y="5743575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+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403169" y="578405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隐私风险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791200" y="5743575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=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77000" y="5695950"/>
              <a:ext cx="3429000" cy="342900"/>
            </a:xfrm>
            <a:prstGeom prst="roundRect">
              <a:avLst>
                <a:gd name="adj" fmla="val 22222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072122" y="5795010"/>
              <a:ext cx="22387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安全与隐私兼得的推荐系统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03</a:t>
            </a:r>
          </a:p>
        </p:txBody>
      </p:sp>
      <p:sp>
        <p:nvSpPr>
          <p:cNvPr id="52" name="Rectangle 52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4" grpId="0"/>
      <p:bldP spid="43" grpId="0"/>
      <p:bldP spid="5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342900"/>
            <a:ext cx="2149411" cy="447675"/>
            <a:chOff x="571500" y="342900"/>
            <a:chExt cx="2149411" cy="447675"/>
          </a:xfrm>
        </p:grpSpPr>
        <p:sp>
          <p:nvSpPr>
            <p:cNvPr id="5" name="Rectangle 5"/>
            <p:cNvSpPr/>
            <p:nvPr/>
          </p:nvSpPr>
          <p:spPr>
            <a:xfrm>
              <a:off x="571500" y="3429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5330" y="363855"/>
              <a:ext cx="198558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系统需求分析</a:t>
              </a:r>
            </a:p>
          </p:txBody>
        </p:sp>
      </p:grpSp>
      <p:sp>
        <p:nvSpPr>
          <p:cNvPr id="8" name="Rectangle 8"/>
          <p:cNvSpPr/>
          <p:nvPr/>
        </p:nvSpPr>
        <p:spPr>
          <a:xfrm>
            <a:off x="571500" y="809625"/>
            <a:ext cx="11049000" cy="400050"/>
          </a:xfrm>
          <a:prstGeom prst="roundRect">
            <a:avLst>
              <a:gd name="adj" fmla="val 19048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46760" y="937260"/>
            <a:ext cx="77594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三层需求驱动系统设计：功能需求保障核心能力，非功能需求确保性能，安全需求守护生命底线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571500" y="1428750"/>
            <a:ext cx="3524250" cy="4762500"/>
            <a:chOff x="571500" y="1428750"/>
            <a:chExt cx="3524250" cy="4762500"/>
          </a:xfrm>
        </p:grpSpPr>
        <p:sp>
          <p:nvSpPr>
            <p:cNvPr id="10" name="Rectangle 10"/>
            <p:cNvSpPr/>
            <p:nvPr/>
          </p:nvSpPr>
          <p:spPr>
            <a:xfrm>
              <a:off x="571500" y="1428750"/>
              <a:ext cx="3524250" cy="4762500"/>
            </a:xfrm>
            <a:prstGeom prst="roundRect">
              <a:avLst>
                <a:gd name="adj" fmla="val 3243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1" name="Rectangle 11"/>
            <p:cNvSpPr/>
            <p:nvPr/>
          </p:nvSpPr>
          <p:spPr>
            <a:xfrm>
              <a:off x="571500" y="1428750"/>
              <a:ext cx="3524250" cy="476250"/>
            </a:xfrm>
            <a:prstGeom prst="roundRect">
              <a:avLst>
                <a:gd name="adj" fmla="val 24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71500" y="1790700"/>
              <a:ext cx="3524250" cy="114300"/>
            </a:xfrm>
            <a:prstGeom prst="rect">
              <a:avLst/>
            </a:prstGeom>
            <a:solidFill>
              <a:srgbClr val="2E3F55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800100" y="1524000"/>
              <a:ext cx="228600" cy="304800"/>
              <a:chOff x="800100" y="1524000"/>
              <a:chExt cx="228600" cy="304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876300" y="1524000"/>
                <a:ext cx="762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7150">
                    <a:moveTo>
                      <a:pt x="76200" y="0"/>
                    </a:moveTo>
                    <a:lnTo>
                      <a:pt x="0" y="0"/>
                    </a:lnTo>
                    <a:lnTo>
                      <a:pt x="0" y="57150"/>
                    </a:lnTo>
                    <a:lnTo>
                      <a:pt x="76200" y="57150"/>
                    </a:lnTo>
                    <a:lnTo>
                      <a:pt x="76200" y="0"/>
                    </a:lnTo>
                    <a:close/>
                  </a:path>
                </a:pathLst>
              </a:custGeom>
              <a:solidFill>
                <a:srgbClr val="EFE6DD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00100" y="1562100"/>
                <a:ext cx="2286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66700">
                    <a:moveTo>
                      <a:pt x="38100" y="0"/>
                    </a:moveTo>
                    <a:lnTo>
                      <a:pt x="0" y="0"/>
                    </a:lnTo>
                    <a:lnTo>
                      <a:pt x="0" y="266700"/>
                    </a:lnTo>
                    <a:lnTo>
                      <a:pt x="228600" y="266700"/>
                    </a:lnTo>
                    <a:lnTo>
                      <a:pt x="228600" y="0"/>
                    </a:lnTo>
                    <a:lnTo>
                      <a:pt x="190500" y="0"/>
                    </a:lnTo>
                    <a:lnTo>
                      <a:pt x="190500" y="57150"/>
                    </a:lnTo>
                    <a:lnTo>
                      <a:pt x="38100" y="57150"/>
                    </a:lnTo>
                    <a:lnTo>
                      <a:pt x="38100" y="0"/>
                    </a:lnTo>
                    <a:close/>
                  </a:path>
                </a:pathLst>
              </a:custGeom>
              <a:solidFill>
                <a:srgbClr val="EFE6DD"/>
              </a:solidFill>
              <a:ln>
                <a:noFill/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125855" y="15878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功能需求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809625" y="2124075"/>
              <a:ext cx="95250" cy="9525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84885" y="208978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患者信息管理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86790" y="2315528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慢性病、过敏史、用药记录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809625" y="2695575"/>
              <a:ext cx="95250" cy="9525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84885" y="266128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智能药物推荐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86790" y="2887028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基于患者画像的个性化推荐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809625" y="3267075"/>
              <a:ext cx="95250" cy="9525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84885" y="323278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安全审查机制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86790" y="3458528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禁忌症过滤、交互检查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809625" y="3838575"/>
              <a:ext cx="95250" cy="9525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84885" y="380428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隐私预算追踪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86790" y="4030028"/>
              <a:ext cx="19512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ε消耗量实时监控与预算控制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809625" y="4410075"/>
              <a:ext cx="95250" cy="9525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84885" y="43757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审查面板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86790" y="4601528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医生审核、标记、确认推荐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809625" y="4981575"/>
              <a:ext cx="95250" cy="9525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84885" y="4947285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隐私可视化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86790" y="5173028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噪声分布、预算消耗图表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4333875" y="1428750"/>
            <a:ext cx="3524250" cy="4762500"/>
            <a:chOff x="4333875" y="1428750"/>
            <a:chExt cx="3524250" cy="4762500"/>
          </a:xfrm>
        </p:grpSpPr>
        <p:sp>
          <p:nvSpPr>
            <p:cNvPr id="36" name="Rectangle 36"/>
            <p:cNvSpPr/>
            <p:nvPr/>
          </p:nvSpPr>
          <p:spPr>
            <a:xfrm>
              <a:off x="4333875" y="1428750"/>
              <a:ext cx="3524250" cy="4762500"/>
            </a:xfrm>
            <a:prstGeom prst="roundRect">
              <a:avLst>
                <a:gd name="adj" fmla="val 3243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37" name="Rectangle 37"/>
            <p:cNvSpPr/>
            <p:nvPr/>
          </p:nvSpPr>
          <p:spPr>
            <a:xfrm>
              <a:off x="4333875" y="1428750"/>
              <a:ext cx="3524250" cy="476250"/>
            </a:xfrm>
            <a:prstGeom prst="roundRect">
              <a:avLst>
                <a:gd name="adj" fmla="val 24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4333875" y="1790700"/>
              <a:ext cx="3524250" cy="114300"/>
            </a:xfrm>
            <a:prstGeom prst="rect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4562475" y="1524000"/>
              <a:ext cx="228600" cy="304800"/>
            </a:xfrm>
            <a:custGeom>
              <a:avLst/>
              <a:gdLst/>
              <a:ahLst/>
              <a:cxnLst/>
              <a:rect l="l" t="t" r="r" b="b"/>
              <a:pathLst>
                <a:path w="228600" h="304800">
                  <a:moveTo>
                    <a:pt x="133350" y="133350"/>
                  </a:moveTo>
                  <a:lnTo>
                    <a:pt x="152400" y="0"/>
                  </a:lnTo>
                  <a:lnTo>
                    <a:pt x="114300" y="0"/>
                  </a:lnTo>
                  <a:lnTo>
                    <a:pt x="0" y="133350"/>
                  </a:lnTo>
                  <a:lnTo>
                    <a:pt x="0" y="171450"/>
                  </a:lnTo>
                  <a:lnTo>
                    <a:pt x="95250" y="171450"/>
                  </a:lnTo>
                  <a:lnTo>
                    <a:pt x="76200" y="304800"/>
                  </a:lnTo>
                  <a:lnTo>
                    <a:pt x="114300" y="304800"/>
                  </a:lnTo>
                  <a:lnTo>
                    <a:pt x="228600" y="171450"/>
                  </a:lnTo>
                  <a:lnTo>
                    <a:pt x="228600" y="133350"/>
                  </a:lnTo>
                  <a:lnTo>
                    <a:pt x="133350" y="133350"/>
                  </a:lnTo>
                  <a:close/>
                </a:path>
              </a:pathLst>
            </a:custGeom>
            <a:solidFill>
              <a:srgbClr val="EFE6DD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888230" y="158781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非功能需求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4572000" y="2124075"/>
              <a:ext cx="95250" cy="9525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747260" y="20897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推荐延迟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749165" y="2315528"/>
              <a:ext cx="1705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端到端</a:t>
              </a:r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&lt; 2s</a:t>
              </a:r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，含模型推理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4572000" y="2695575"/>
              <a:ext cx="95250" cy="9525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747260" y="2661285"/>
              <a:ext cx="11530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DP预算可配置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749165" y="2887028"/>
              <a:ext cx="19589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ε/δ/mechanism 用户级配置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4572000" y="3267075"/>
              <a:ext cx="95250" cy="9525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747260" y="32327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并发支持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749165" y="3458528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多用户同时请求推荐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4572000" y="3838575"/>
              <a:ext cx="95250" cy="9525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747260" y="3804285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数据持久化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749165" y="4030028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推荐历史、隐私账本审计追踪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4572000" y="4410075"/>
              <a:ext cx="95250" cy="9525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747260" y="4375785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模型可替换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749165" y="4601528"/>
              <a:ext cx="20125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离线模式/demo模式自动切换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4572000" y="4981575"/>
              <a:ext cx="95250" cy="9525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747260" y="49472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可解释性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749165" y="5173028"/>
              <a:ext cx="21736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安全标记、置信区间、异常提示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8096250" y="1428750"/>
            <a:ext cx="3662362" cy="4762500"/>
            <a:chOff x="8096250" y="1428750"/>
            <a:chExt cx="3662362" cy="4762500"/>
          </a:xfrm>
        </p:grpSpPr>
        <p:sp>
          <p:nvSpPr>
            <p:cNvPr id="60" name="Rectangle 60"/>
            <p:cNvSpPr/>
            <p:nvPr/>
          </p:nvSpPr>
          <p:spPr>
            <a:xfrm>
              <a:off x="8096250" y="1428750"/>
              <a:ext cx="3524250" cy="4762500"/>
            </a:xfrm>
            <a:prstGeom prst="roundRect">
              <a:avLst>
                <a:gd name="adj" fmla="val 3243"/>
              </a:avLst>
            </a:prstGeom>
            <a:solidFill>
              <a:srgbClr val="FFFFFF"/>
            </a:solidFill>
            <a:ln w="14288">
              <a:solidFill>
                <a:srgbClr val="C62828">
                  <a:alpha val="30000"/>
                </a:srgbClr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61" name="Rectangle 61"/>
            <p:cNvSpPr/>
            <p:nvPr/>
          </p:nvSpPr>
          <p:spPr>
            <a:xfrm>
              <a:off x="8096250" y="1428750"/>
              <a:ext cx="3524250" cy="476250"/>
            </a:xfrm>
            <a:prstGeom prst="roundRect">
              <a:avLst>
                <a:gd name="adj" fmla="val 24000"/>
              </a:avLst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8096250" y="1790700"/>
              <a:ext cx="3524250" cy="11430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63" name="Freeform 63"/>
            <p:cNvSpPr/>
            <p:nvPr/>
          </p:nvSpPr>
          <p:spPr>
            <a:xfrm>
              <a:off x="8305800" y="152400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133350" y="304800"/>
                  </a:moveTo>
                  <a:lnTo>
                    <a:pt x="63819" y="255135"/>
                  </a:lnTo>
                  <a:cubicBezTo>
                    <a:pt x="23769" y="226527"/>
                    <a:pt x="0" y="180340"/>
                    <a:pt x="0" y="131122"/>
                  </a:cubicBezTo>
                  <a:lnTo>
                    <a:pt x="0" y="57150"/>
                  </a:lnTo>
                  <a:lnTo>
                    <a:pt x="133350" y="0"/>
                  </a:lnTo>
                  <a:lnTo>
                    <a:pt x="266700" y="57150"/>
                  </a:lnTo>
                  <a:lnTo>
                    <a:pt x="266700" y="131122"/>
                  </a:lnTo>
                  <a:cubicBezTo>
                    <a:pt x="266700" y="180340"/>
                    <a:pt x="242931" y="226527"/>
                    <a:pt x="202881" y="255135"/>
                  </a:cubicBezTo>
                  <a:lnTo>
                    <a:pt x="133350" y="304800"/>
                  </a:lnTo>
                  <a:close/>
                  <a:moveTo>
                    <a:pt x="213495" y="108720"/>
                  </a:moveTo>
                  <a:lnTo>
                    <a:pt x="186555" y="81780"/>
                  </a:lnTo>
                  <a:lnTo>
                    <a:pt x="114300" y="154034"/>
                  </a:lnTo>
                  <a:lnTo>
                    <a:pt x="80145" y="119880"/>
                  </a:lnTo>
                  <a:lnTo>
                    <a:pt x="53205" y="146820"/>
                  </a:lnTo>
                  <a:lnTo>
                    <a:pt x="114300" y="207916"/>
                  </a:lnTo>
                  <a:lnTo>
                    <a:pt x="213495" y="108720"/>
                  </a:lnTo>
                  <a:close/>
                </a:path>
              </a:pathLst>
            </a:custGeom>
            <a:solidFill>
              <a:srgbClr val="EFE6DD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650605" y="1587818"/>
              <a:ext cx="23115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安全需求（最高优先级）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8334375" y="2124075"/>
              <a:ext cx="95250" cy="9525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509635" y="2089785"/>
              <a:ext cx="13186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绝对禁忌硬过滤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511540" y="2315528"/>
              <a:ext cx="19512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禁忌症、过敏冲突、妊娠X级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512492" y="2514124"/>
              <a:ext cx="15349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DP噪声永远不影响此层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8334375" y="2886075"/>
              <a:ext cx="95250" cy="9525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509635" y="2851785"/>
              <a:ext cx="13186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相对禁忌软标记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511540" y="3077528"/>
              <a:ext cx="18132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中等交互、妊娠C/D级警告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512492" y="3276124"/>
              <a:ext cx="22960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不排除候选，标记requires_review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8334375" y="3648075"/>
              <a:ext cx="95250" cy="9525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509635" y="3613785"/>
              <a:ext cx="15210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DP噪声仅限评分层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511540" y="3839528"/>
              <a:ext cx="20815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噪声仅作用于Layer 3 DeepFM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8334375" y="4219575"/>
              <a:ext cx="95250" cy="9525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509635" y="4185285"/>
              <a:ext cx="13186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临床安全后处理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511540" y="4411028"/>
              <a:ext cx="32470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score &lt; 0.15 置零，上限 min(1.0, raw+0.35)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8334375" y="4791075"/>
              <a:ext cx="95250" cy="9525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8509635" y="475678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双重预算追踪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511540" y="4982528"/>
              <a:ext cx="20662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MySQL持久化 + 内存组合定理</a:t>
              </a:r>
            </a:p>
          </p:txBody>
        </p:sp>
        <p:sp>
          <p:nvSpPr>
            <p:cNvPr id="82" name="Ellipse 82"/>
            <p:cNvSpPr/>
            <p:nvPr/>
          </p:nvSpPr>
          <p:spPr>
            <a:xfrm>
              <a:off x="8334375" y="5362575"/>
              <a:ext cx="95250" cy="9525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8509635" y="532828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知情同意记录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511540" y="5554028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每次推荐前记录用户同意</a:t>
              </a:r>
            </a:p>
          </p:txBody>
        </p:sp>
      </p:grpSp>
      <p:sp>
        <p:nvSpPr>
          <p:cNvPr id="86" name="TextBox 86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04</a:t>
            </a:r>
          </a:p>
        </p:txBody>
      </p:sp>
      <p:sp>
        <p:nvSpPr>
          <p:cNvPr id="87" name="Rectangle 87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9" grpId="0"/>
      <p:bldP spid="8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71500" y="285750"/>
            <a:ext cx="3343465" cy="504825"/>
            <a:chOff x="571500" y="285750"/>
            <a:chExt cx="3343465" cy="504825"/>
          </a:xfrm>
        </p:grpSpPr>
        <p:sp>
          <p:nvSpPr>
            <p:cNvPr id="5" name="Rectangle 5"/>
            <p:cNvSpPr/>
            <p:nvPr/>
          </p:nvSpPr>
          <p:spPr>
            <a:xfrm>
              <a:off x="571500" y="285750"/>
              <a:ext cx="57150" cy="304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7235" y="303848"/>
              <a:ext cx="244182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四层推荐架构设计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0570" y="607695"/>
              <a:ext cx="31643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SAFETY-FIRST, PRIVACY-PROTECTED, PERSONALIZED</a:t>
              </a:r>
            </a:p>
          </p:txBody>
        </p:sp>
      </p:grpSp>
      <p:sp>
        <p:nvSpPr>
          <p:cNvPr id="9" name="Rectangle 9"/>
          <p:cNvSpPr/>
          <p:nvPr/>
        </p:nvSpPr>
        <p:spPr>
          <a:xfrm>
            <a:off x="571500" y="838200"/>
            <a:ext cx="11049000" cy="342900"/>
          </a:xfrm>
          <a:prstGeom prst="roundRect">
            <a:avLst>
              <a:gd name="adj" fmla="val 22222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7712" y="945356"/>
            <a:ext cx="854251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安全优先：SafetyFilter硬排除 → RuleMarker软标记 → DeepFM个性化评分+DP噪声 | DP噪声永远不影响Layer 1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381000" y="1352550"/>
            <a:ext cx="9010650" cy="1047750"/>
            <a:chOff x="381000" y="1352550"/>
            <a:chExt cx="9010650" cy="1047750"/>
          </a:xfrm>
        </p:grpSpPr>
        <p:sp>
          <p:nvSpPr>
            <p:cNvPr id="11" name="Rectangle 11"/>
            <p:cNvSpPr/>
            <p:nvPr/>
          </p:nvSpPr>
          <p:spPr>
            <a:xfrm>
              <a:off x="381000" y="1352550"/>
              <a:ext cx="381000" cy="1047750"/>
            </a:xfrm>
            <a:prstGeom prst="roundRect">
              <a:avLst>
                <a:gd name="adj" fmla="val 20000"/>
              </a:avLst>
            </a:prstGeom>
            <a:solidFill>
              <a:srgbClr val="6B7B8D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40491" y="1806892"/>
              <a:ext cx="262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L0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14400" y="1352550"/>
              <a:ext cx="8477250" cy="1047750"/>
            </a:xfrm>
            <a:prstGeom prst="roundRect">
              <a:avLst>
                <a:gd name="adj" fmla="val 9091"/>
              </a:avLst>
            </a:prstGeom>
            <a:solidFill>
              <a:srgbClr val="6B7B8D">
                <a:alpha val="6000"/>
              </a:srgbClr>
            </a:solidFill>
            <a:ln w="9525">
              <a:solidFill>
                <a:srgbClr val="6B7B8D"/>
              </a:solidFill>
              <a:custDash>
                <a:ds d="600000" sp="400000"/>
              </a:custDash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837332" y="1464945"/>
              <a:ext cx="26313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LAYER 0 · 知识路由 · 语义匹配候选药物集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1085850" y="1695450"/>
              <a:ext cx="1905000" cy="571500"/>
              <a:chOff x="1085850" y="169545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15" name="Rectangle 15"/>
              <p:cNvSpPr/>
              <p:nvPr/>
            </p:nvSpPr>
            <p:spPr>
              <a:xfrm>
                <a:off x="1085850" y="169545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224915" y="1791652"/>
                <a:ext cx="992791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E3F55"/>
                    </a:solidFill>
                    <a:latin typeface="Georgia"/>
                    <a:ea typeface="SimSun"/>
                    <a:cs typeface="Georgia"/>
                  </a:rPr>
                  <a:t>疾病语义映射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226820" y="1998345"/>
                <a:ext cx="1429321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disease_mapper EN→CN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3143250" y="1695450"/>
              <a:ext cx="1905000" cy="571500"/>
              <a:chOff x="3143250" y="169545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19" name="Rectangle 19"/>
              <p:cNvSpPr/>
              <p:nvPr/>
            </p:nvSpPr>
            <p:spPr>
              <a:xfrm>
                <a:off x="3143250" y="169545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3282315" y="1791652"/>
                <a:ext cx="831771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E3F55"/>
                    </a:solidFill>
                    <a:latin typeface="Georgia"/>
                    <a:ea typeface="SimSun"/>
                    <a:cs typeface="Georgia"/>
                  </a:rPr>
                  <a:t>适应症匹配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284220" y="1998345"/>
                <a:ext cx="1455610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indication → 候选药物集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5200650" y="1695450"/>
              <a:ext cx="1905000" cy="571500"/>
              <a:chOff x="5200650" y="169545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23" name="Rectangle 23"/>
              <p:cNvSpPr/>
              <p:nvPr/>
            </p:nvSpPr>
            <p:spPr>
              <a:xfrm>
                <a:off x="5200650" y="169545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5339715" y="1791652"/>
                <a:ext cx="992791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E3F55"/>
                    </a:solidFill>
                    <a:latin typeface="Georgia"/>
                    <a:ea typeface="SimSun"/>
                    <a:cs typeface="Georgia"/>
                  </a:rPr>
                  <a:t>药物类目过滤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341620" y="1998345"/>
                <a:ext cx="975836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drug_class筛选</a:t>
                </a:r>
              </a:p>
            </p:txBody>
          </p:sp>
        </p:grpSp>
      </p:grpSp>
      <p:grpSp>
        <p:nvGrpSpPr>
          <p:cNvPr id="44" name="Group 44"/>
          <p:cNvGrpSpPr/>
          <p:nvPr/>
        </p:nvGrpSpPr>
        <p:grpSpPr>
          <a:xfrm>
            <a:off x="381000" y="2552700"/>
            <a:ext cx="9010650" cy="1047750"/>
            <a:chOff x="381000" y="2552700"/>
            <a:chExt cx="9010650" cy="1047750"/>
          </a:xfrm>
        </p:grpSpPr>
        <p:sp>
          <p:nvSpPr>
            <p:cNvPr id="28" name="Rectangle 28"/>
            <p:cNvSpPr/>
            <p:nvPr/>
          </p:nvSpPr>
          <p:spPr>
            <a:xfrm>
              <a:off x="381000" y="2552700"/>
              <a:ext cx="381000" cy="1047750"/>
            </a:xfrm>
            <a:prstGeom prst="roundRect">
              <a:avLst>
                <a:gd name="adj" fmla="val 20000"/>
              </a:avLst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6369" y="3007042"/>
              <a:ext cx="2102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L1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914400" y="2552700"/>
              <a:ext cx="8477250" cy="1047750"/>
            </a:xfrm>
            <a:prstGeom prst="roundRect">
              <a:avLst>
                <a:gd name="adj" fmla="val 9091"/>
              </a:avLst>
            </a:prstGeom>
            <a:solidFill>
              <a:srgbClr val="C62828">
                <a:alpha val="6000"/>
              </a:srgbClr>
            </a:solidFill>
            <a:ln w="14288">
              <a:solidFill>
                <a:srgbClr val="C62828"/>
              </a:solidFill>
              <a:custDash>
                <a:ds d="400000" sp="266666"/>
              </a:custDash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157597" y="2665095"/>
              <a:ext cx="39908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LAYER 1 · 安全过滤器 · 确定性硬排除（DP噪声永远不影响此层）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1085850" y="2895600"/>
              <a:ext cx="1905000" cy="571500"/>
              <a:chOff x="1085850" y="289560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32" name="Rectangle 32"/>
              <p:cNvSpPr/>
              <p:nvPr/>
            </p:nvSpPr>
            <p:spPr>
              <a:xfrm>
                <a:off x="1085850" y="289560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224915" y="2991802"/>
                <a:ext cx="1153811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C62828"/>
                    </a:solidFill>
                    <a:latin typeface="Georgia"/>
                    <a:ea typeface="SimSun"/>
                    <a:cs typeface="Georgia"/>
                  </a:rPr>
                  <a:t>绝对禁忌症排除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226820" y="3198495"/>
                <a:ext cx="1416177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contraindications检查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3143250" y="2895600"/>
              <a:ext cx="1905000" cy="571500"/>
              <a:chOff x="3143250" y="289560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36" name="Rectangle 36"/>
              <p:cNvSpPr/>
              <p:nvPr/>
            </p:nvSpPr>
            <p:spPr>
              <a:xfrm>
                <a:off x="3143250" y="289560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3282315" y="2991802"/>
                <a:ext cx="992791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C62828"/>
                    </a:solidFill>
                    <a:latin typeface="Georgia"/>
                    <a:ea typeface="SimSun"/>
                    <a:cs typeface="Georgia"/>
                  </a:rPr>
                  <a:t>过敏冲突排除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3284220" y="3198495"/>
                <a:ext cx="988981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allergy交叉检查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5200650" y="2895600"/>
              <a:ext cx="1905000" cy="571500"/>
              <a:chOff x="5200650" y="289560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40" name="Rectangle 40"/>
              <p:cNvSpPr/>
              <p:nvPr/>
            </p:nvSpPr>
            <p:spPr>
              <a:xfrm>
                <a:off x="5200650" y="289560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5339715" y="2991802"/>
                <a:ext cx="920332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C62828"/>
                    </a:solidFill>
                    <a:latin typeface="Georgia"/>
                    <a:ea typeface="SimSun"/>
                    <a:cs typeface="Georgia"/>
                  </a:rPr>
                  <a:t>妊娠X级排除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5341620" y="3198495"/>
                <a:ext cx="1107281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pregnancy_cat=X</a:t>
                </a:r>
              </a:p>
            </p:txBody>
          </p:sp>
        </p:grpSp>
      </p:grpSp>
      <p:grpSp>
        <p:nvGrpSpPr>
          <p:cNvPr id="61" name="Group 61"/>
          <p:cNvGrpSpPr/>
          <p:nvPr/>
        </p:nvGrpSpPr>
        <p:grpSpPr>
          <a:xfrm>
            <a:off x="381000" y="3752850"/>
            <a:ext cx="9010650" cy="1047750"/>
            <a:chOff x="381000" y="3752850"/>
            <a:chExt cx="9010650" cy="1047750"/>
          </a:xfrm>
        </p:grpSpPr>
        <p:sp>
          <p:nvSpPr>
            <p:cNvPr id="45" name="Rectangle 45"/>
            <p:cNvSpPr/>
            <p:nvPr/>
          </p:nvSpPr>
          <p:spPr>
            <a:xfrm>
              <a:off x="381000" y="3752850"/>
              <a:ext cx="381000" cy="1047750"/>
            </a:xfrm>
            <a:prstGeom prst="roundRect">
              <a:avLst>
                <a:gd name="adj" fmla="val 2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40491" y="4207192"/>
              <a:ext cx="262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L2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914400" y="3752850"/>
              <a:ext cx="8477250" cy="1047750"/>
            </a:xfrm>
            <a:prstGeom prst="roundRect">
              <a:avLst>
                <a:gd name="adj" fmla="val 9091"/>
              </a:avLst>
            </a:prstGeom>
            <a:solidFill>
              <a:srgbClr val="AE6339">
                <a:alpha val="6000"/>
              </a:srgbClr>
            </a:solidFill>
            <a:ln w="14288">
              <a:solidFill>
                <a:srgbClr val="AE6339"/>
              </a:solidFill>
              <a:custDash>
                <a:ds d="400000" sp="266666"/>
              </a:custDash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012679" y="3865245"/>
              <a:ext cx="42806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LAYER 2 · 规则标记器 · 软标记不排除（添加requires_review标志）</a:t>
              </a:r>
            </a:p>
          </p:txBody>
        </p:sp>
        <p:grpSp>
          <p:nvGrpSpPr>
            <p:cNvPr id="52" name="Group 52"/>
            <p:cNvGrpSpPr/>
            <p:nvPr/>
          </p:nvGrpSpPr>
          <p:grpSpPr>
            <a:xfrm>
              <a:off x="1085850" y="4095750"/>
              <a:ext cx="1905000" cy="571500"/>
              <a:chOff x="1085850" y="409575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49" name="Rectangle 49"/>
              <p:cNvSpPr/>
              <p:nvPr/>
            </p:nvSpPr>
            <p:spPr>
              <a:xfrm>
                <a:off x="1085850" y="409575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1224915" y="4191952"/>
                <a:ext cx="992791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AE6339"/>
                    </a:solidFill>
                    <a:latin typeface="Georgia"/>
                    <a:ea typeface="SimSun"/>
                    <a:cs typeface="Georgia"/>
                  </a:rPr>
                  <a:t>相对禁忌警告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1226820" y="4398645"/>
                <a:ext cx="1738217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relative_contraindications</a:t>
                </a: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3143250" y="4095750"/>
              <a:ext cx="1905000" cy="571500"/>
              <a:chOff x="3143250" y="409575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53" name="Rectangle 53"/>
              <p:cNvSpPr/>
              <p:nvPr/>
            </p:nvSpPr>
            <p:spPr>
              <a:xfrm>
                <a:off x="3143250" y="409575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3282315" y="4191952"/>
                <a:ext cx="992791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AE6339"/>
                    </a:solidFill>
                    <a:latin typeface="Georgia"/>
                    <a:ea typeface="SimSun"/>
                    <a:cs typeface="Georgia"/>
                  </a:rPr>
                  <a:t>中等交互标记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3284220" y="4398645"/>
                <a:ext cx="1501616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moderate_interactions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5200650" y="4095750"/>
              <a:ext cx="1905000" cy="571500"/>
              <a:chOff x="5200650" y="409575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57" name="Rectangle 57"/>
              <p:cNvSpPr/>
              <p:nvPr/>
            </p:nvSpPr>
            <p:spPr>
              <a:xfrm>
                <a:off x="5200650" y="409575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5339715" y="4191952"/>
                <a:ext cx="936434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AE6339"/>
                    </a:solidFill>
                    <a:latin typeface="Georgia"/>
                    <a:ea typeface="SimSun"/>
                    <a:cs typeface="Georgia"/>
                  </a:rPr>
                  <a:t>妊娠C/D警告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5341620" y="4398645"/>
                <a:ext cx="1251871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pregnancy_cat=C/D</a:t>
                </a:r>
              </a:p>
            </p:txBody>
          </p:sp>
        </p:grpSp>
      </p:grpSp>
      <p:grpSp>
        <p:nvGrpSpPr>
          <p:cNvPr id="78" name="Group 78"/>
          <p:cNvGrpSpPr/>
          <p:nvPr/>
        </p:nvGrpSpPr>
        <p:grpSpPr>
          <a:xfrm>
            <a:off x="381000" y="4953000"/>
            <a:ext cx="9010650" cy="1047750"/>
            <a:chOff x="381000" y="4953000"/>
            <a:chExt cx="9010650" cy="1047750"/>
          </a:xfrm>
        </p:grpSpPr>
        <p:sp>
          <p:nvSpPr>
            <p:cNvPr id="62" name="Rectangle 62"/>
            <p:cNvSpPr/>
            <p:nvPr/>
          </p:nvSpPr>
          <p:spPr>
            <a:xfrm>
              <a:off x="381000" y="4953000"/>
              <a:ext cx="381000" cy="1047750"/>
            </a:xfrm>
            <a:prstGeom prst="roundRect">
              <a:avLst>
                <a:gd name="adj" fmla="val 2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40491" y="5407342"/>
              <a:ext cx="262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L3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914400" y="4953000"/>
              <a:ext cx="8477250" cy="1047750"/>
            </a:xfrm>
            <a:prstGeom prst="roundRect">
              <a:avLst>
                <a:gd name="adj" fmla="val 9091"/>
              </a:avLst>
            </a:prstGeom>
            <a:solidFill>
              <a:srgbClr val="2E3F55">
                <a:alpha val="6000"/>
              </a:srgbClr>
            </a:solidFill>
            <a:ln w="14288">
              <a:solidFill>
                <a:srgbClr val="2E3F55"/>
              </a:solidFill>
              <a:custDash>
                <a:ds d="400000" sp="266666"/>
              </a:custDash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3302515" y="5065395"/>
              <a:ext cx="37010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LAYER 3 · DEEPFM排序 · 安全候选集上个性化评分 + DP噪声</a:t>
              </a:r>
            </a:p>
          </p:txBody>
        </p:sp>
        <p:grpSp>
          <p:nvGrpSpPr>
            <p:cNvPr id="69" name="Group 69"/>
            <p:cNvGrpSpPr/>
            <p:nvPr/>
          </p:nvGrpSpPr>
          <p:grpSpPr>
            <a:xfrm>
              <a:off x="1085850" y="5295900"/>
              <a:ext cx="1905000" cy="571500"/>
              <a:chOff x="1085850" y="529590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66" name="Rectangle 66"/>
              <p:cNvSpPr/>
              <p:nvPr/>
            </p:nvSpPr>
            <p:spPr>
              <a:xfrm>
                <a:off x="1085850" y="529590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1224915" y="5392102"/>
                <a:ext cx="880077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E3F55"/>
                    </a:solidFill>
                    <a:latin typeface="Georgia"/>
                    <a:ea typeface="SimSun"/>
                    <a:cs typeface="Georgia"/>
                  </a:rPr>
                  <a:t>FM交叉特征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1226820" y="5598795"/>
                <a:ext cx="811530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二阶交互捕获</a:t>
                </a:r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3143250" y="5295900"/>
              <a:ext cx="1905000" cy="571500"/>
              <a:chOff x="3143250" y="529590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70" name="Rectangle 70"/>
              <p:cNvSpPr/>
              <p:nvPr/>
            </p:nvSpPr>
            <p:spPr>
              <a:xfrm>
                <a:off x="3143250" y="529590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3282315" y="5392102"/>
                <a:ext cx="1024995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E3F55"/>
                    </a:solidFill>
                    <a:latin typeface="Georgia"/>
                    <a:ea typeface="SimSun"/>
                    <a:cs typeface="Georgia"/>
                  </a:rPr>
                  <a:t>Deep高阶特征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3284220" y="5598795"/>
                <a:ext cx="1639633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MLP (64→32) + LayerNorm</a:t>
                </a:r>
              </a:p>
            </p:txBody>
          </p:sp>
        </p:grpSp>
        <p:grpSp>
          <p:nvGrpSpPr>
            <p:cNvPr id="77" name="Group 77"/>
            <p:cNvGrpSpPr/>
            <p:nvPr/>
          </p:nvGrpSpPr>
          <p:grpSpPr>
            <a:xfrm>
              <a:off x="5200650" y="5295900"/>
              <a:ext cx="1905000" cy="571500"/>
              <a:chOff x="5200650" y="529590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74" name="Rectangle 74"/>
              <p:cNvSpPr/>
              <p:nvPr/>
            </p:nvSpPr>
            <p:spPr>
              <a:xfrm>
                <a:off x="5200650" y="529590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5339715" y="5392102"/>
                <a:ext cx="984740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E3F55"/>
                    </a:solidFill>
                    <a:latin typeface="Georgia"/>
                    <a:ea typeface="SimSun"/>
                    <a:cs typeface="Georgia"/>
                  </a:rPr>
                  <a:t>+ DP噪声注入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5341620" y="5598795"/>
                <a:ext cx="1113853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Laplace/Gaussian</a:t>
                </a:r>
              </a:p>
            </p:txBody>
          </p:sp>
        </p:grpSp>
      </p:grpSp>
      <p:grpSp>
        <p:nvGrpSpPr>
          <p:cNvPr id="95" name="Group 95"/>
          <p:cNvGrpSpPr/>
          <p:nvPr/>
        </p:nvGrpSpPr>
        <p:grpSpPr>
          <a:xfrm>
            <a:off x="9620250" y="1352550"/>
            <a:ext cx="2286000" cy="4648200"/>
            <a:chOff x="9620250" y="1352550"/>
            <a:chExt cx="2286000" cy="4648200"/>
          </a:xfrm>
        </p:grpSpPr>
        <p:sp>
          <p:nvSpPr>
            <p:cNvPr id="79" name="Rectangle 79"/>
            <p:cNvSpPr/>
            <p:nvPr/>
          </p:nvSpPr>
          <p:spPr>
            <a:xfrm>
              <a:off x="9620250" y="1352550"/>
              <a:ext cx="2286000" cy="4648200"/>
            </a:xfrm>
            <a:prstGeom prst="roundRect">
              <a:avLst>
                <a:gd name="adj" fmla="val 5000"/>
              </a:avLst>
            </a:prstGeom>
            <a:solidFill>
              <a:srgbClr val="2E3F55">
                <a:alpha val="5000"/>
              </a:srgbClr>
            </a:solidFill>
            <a:ln w="9525">
              <a:solidFill>
                <a:srgbClr val="2E3F55"/>
              </a:solidFill>
              <a:prstDash val="dash"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10475786" y="1541145"/>
              <a:ext cx="5749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核心原则</a:t>
              </a:r>
            </a:p>
          </p:txBody>
        </p:sp>
        <p:sp>
          <p:nvSpPr>
            <p:cNvPr id="81" name="Line 81"/>
            <p:cNvSpPr/>
            <p:nvPr/>
          </p:nvSpPr>
          <p:spPr>
            <a:xfrm>
              <a:off x="9810750" y="1762125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82" name="Freeform 82"/>
            <p:cNvSpPr/>
            <p:nvPr/>
          </p:nvSpPr>
          <p:spPr>
            <a:xfrm>
              <a:off x="10334625" y="1905000"/>
              <a:ext cx="400050" cy="457200"/>
            </a:xfrm>
            <a:custGeom>
              <a:avLst/>
              <a:gdLst/>
              <a:ahLst/>
              <a:cxnLst/>
              <a:rect l="l" t="t" r="r" b="b"/>
              <a:pathLst>
                <a:path w="400050" h="457200">
                  <a:moveTo>
                    <a:pt x="200025" y="457200"/>
                  </a:moveTo>
                  <a:lnTo>
                    <a:pt x="95729" y="382702"/>
                  </a:lnTo>
                  <a:cubicBezTo>
                    <a:pt x="35654" y="339791"/>
                    <a:pt x="0" y="270510"/>
                    <a:pt x="0" y="196683"/>
                  </a:cubicBezTo>
                  <a:lnTo>
                    <a:pt x="0" y="85725"/>
                  </a:lnTo>
                  <a:lnTo>
                    <a:pt x="200025" y="0"/>
                  </a:lnTo>
                  <a:lnTo>
                    <a:pt x="400050" y="85725"/>
                  </a:lnTo>
                  <a:lnTo>
                    <a:pt x="400050" y="196683"/>
                  </a:lnTo>
                  <a:cubicBezTo>
                    <a:pt x="400050" y="270510"/>
                    <a:pt x="364397" y="339791"/>
                    <a:pt x="304321" y="382702"/>
                  </a:cubicBezTo>
                  <a:lnTo>
                    <a:pt x="200025" y="457200"/>
                  </a:lnTo>
                  <a:close/>
                  <a:moveTo>
                    <a:pt x="320243" y="163081"/>
                  </a:moveTo>
                  <a:lnTo>
                    <a:pt x="279832" y="122669"/>
                  </a:lnTo>
                  <a:lnTo>
                    <a:pt x="171450" y="231051"/>
                  </a:lnTo>
                  <a:lnTo>
                    <a:pt x="120218" y="179819"/>
                  </a:lnTo>
                  <a:lnTo>
                    <a:pt x="79807" y="220231"/>
                  </a:lnTo>
                  <a:lnTo>
                    <a:pt x="171450" y="311873"/>
                  </a:lnTo>
                  <a:lnTo>
                    <a:pt x="320243" y="163081"/>
                  </a:lnTo>
                  <a:close/>
                </a:path>
              </a:pathLst>
            </a:custGeom>
            <a:solidFill>
              <a:srgbClr val="C62828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10328477" y="2447449"/>
              <a:ext cx="8695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Layer 1 安全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0302311" y="2637949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绝对不可妥协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0350913" y="2874645"/>
              <a:ext cx="82467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DP噪声零穿透</a:t>
              </a:r>
            </a:p>
          </p:txBody>
        </p:sp>
        <p:sp>
          <p:nvSpPr>
            <p:cNvPr id="86" name="Line 86"/>
            <p:cNvSpPr/>
            <p:nvPr/>
          </p:nvSpPr>
          <p:spPr>
            <a:xfrm>
              <a:off x="10096500" y="3190875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87" name="Freeform 87"/>
            <p:cNvSpPr/>
            <p:nvPr/>
          </p:nvSpPr>
          <p:spPr>
            <a:xfrm>
              <a:off x="10334625" y="3333750"/>
              <a:ext cx="400050" cy="457200"/>
            </a:xfrm>
            <a:custGeom>
              <a:avLst/>
              <a:gdLst/>
              <a:ahLst/>
              <a:cxnLst/>
              <a:rect l="l" t="t" r="r" b="b"/>
              <a:pathLst>
                <a:path w="400050" h="457200">
                  <a:moveTo>
                    <a:pt x="95729" y="382702"/>
                  </a:moveTo>
                  <a:lnTo>
                    <a:pt x="200025" y="457200"/>
                  </a:lnTo>
                  <a:lnTo>
                    <a:pt x="304321" y="382702"/>
                  </a:lnTo>
                  <a:cubicBezTo>
                    <a:pt x="364397" y="339791"/>
                    <a:pt x="400050" y="270510"/>
                    <a:pt x="400050" y="196683"/>
                  </a:cubicBezTo>
                  <a:lnTo>
                    <a:pt x="400050" y="85725"/>
                  </a:lnTo>
                  <a:lnTo>
                    <a:pt x="200025" y="0"/>
                  </a:lnTo>
                  <a:lnTo>
                    <a:pt x="0" y="85725"/>
                  </a:lnTo>
                  <a:lnTo>
                    <a:pt x="0" y="196683"/>
                  </a:lnTo>
                  <a:cubicBezTo>
                    <a:pt x="0" y="270510"/>
                    <a:pt x="35654" y="339791"/>
                    <a:pt x="95729" y="382702"/>
                  </a:cubicBezTo>
                  <a:close/>
                </a:path>
              </a:pathLst>
            </a:custGeom>
            <a:solidFill>
              <a:srgbClr val="AE6339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10309787" y="3876199"/>
              <a:ext cx="9069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Layer 2 标记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0302311" y="4066699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不排除只提醒</a:t>
              </a:r>
            </a:p>
          </p:txBody>
        </p:sp>
        <p:sp>
          <p:nvSpPr>
            <p:cNvPr id="90" name="Line 90"/>
            <p:cNvSpPr/>
            <p:nvPr/>
          </p:nvSpPr>
          <p:spPr>
            <a:xfrm>
              <a:off x="10096500" y="43815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91" name="Freeform 91"/>
            <p:cNvSpPr/>
            <p:nvPr/>
          </p:nvSpPr>
          <p:spPr>
            <a:xfrm>
              <a:off x="10363200" y="4524375"/>
              <a:ext cx="342900" cy="457200"/>
            </a:xfrm>
            <a:custGeom>
              <a:avLst/>
              <a:gdLst/>
              <a:ahLst/>
              <a:cxnLst/>
              <a:rect l="l" t="t" r="r" b="b"/>
              <a:pathLst>
                <a:path w="342900" h="457200">
                  <a:moveTo>
                    <a:pt x="200025" y="200025"/>
                  </a:moveTo>
                  <a:lnTo>
                    <a:pt x="228600" y="0"/>
                  </a:lnTo>
                  <a:lnTo>
                    <a:pt x="171450" y="0"/>
                  </a:lnTo>
                  <a:lnTo>
                    <a:pt x="0" y="200025"/>
                  </a:lnTo>
                  <a:lnTo>
                    <a:pt x="0" y="257175"/>
                  </a:lnTo>
                  <a:lnTo>
                    <a:pt x="142875" y="257175"/>
                  </a:lnTo>
                  <a:lnTo>
                    <a:pt x="114300" y="457200"/>
                  </a:lnTo>
                  <a:lnTo>
                    <a:pt x="171450" y="457200"/>
                  </a:lnTo>
                  <a:lnTo>
                    <a:pt x="342900" y="257175"/>
                  </a:lnTo>
                  <a:lnTo>
                    <a:pt x="342900" y="200025"/>
                  </a:lnTo>
                  <a:lnTo>
                    <a:pt x="200025" y="200025"/>
                  </a:lnTo>
                  <a:close/>
                </a:path>
              </a:pathLst>
            </a:custGeom>
            <a:solidFill>
              <a:srgbClr val="2E3F55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10227552" y="5066824"/>
              <a:ext cx="10713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Layer 3 DP噪声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0302311" y="5257324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仅作用于评分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0235898" y="5494020"/>
              <a:ext cx="10547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+ 临床安全后处理</a:t>
              </a:r>
            </a:p>
          </p:txBody>
        </p:sp>
      </p:grpSp>
      <p:sp>
        <p:nvSpPr>
          <p:cNvPr id="96" name="Rectangle 96"/>
          <p:cNvSpPr/>
          <p:nvPr/>
        </p:nvSpPr>
        <p:spPr>
          <a:xfrm>
            <a:off x="381000" y="6172200"/>
            <a:ext cx="11525250" cy="476250"/>
          </a:xfrm>
          <a:prstGeom prst="roundRect">
            <a:avLst>
              <a:gd name="adj" fmla="val 20000"/>
            </a:avLst>
          </a:prstGeom>
          <a:solidFill>
            <a:srgbClr val="2E3F55">
              <a:alpha val="4000"/>
            </a:srgbClr>
          </a:solidFill>
          <a:ln w="9525">
            <a:solidFill>
              <a:srgbClr val="D4B5B2"/>
            </a:solidFill>
            <a:prstDash val="dash"/>
          </a:ln>
        </p:spPr>
      </p:sp>
      <p:sp>
        <p:nvSpPr>
          <p:cNvPr id="97" name="TextBox 97"/>
          <p:cNvSpPr txBox="1"/>
          <p:nvPr/>
        </p:nvSpPr>
        <p:spPr>
          <a:xfrm>
            <a:off x="3047509" y="6265545"/>
            <a:ext cx="619223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数据流 · 患者画像输入 → L0语义匹配 → L1安全过滤 → L2规则标记 → L3个性化排序+DP → 安全推荐输出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4331803" y="6464141"/>
            <a:ext cx="362364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覆盖1815种药物 | 安全数据：禁忌症95.3% / 交互81.5% / 综合97.0%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05</a:t>
            </a:r>
          </a:p>
        </p:txBody>
      </p:sp>
      <p:sp>
        <p:nvSpPr>
          <p:cNvPr id="100" name="Rectangle 100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4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44" grpId="0"/>
      <p:bldP spid="61" grpId="0"/>
      <p:bldP spid="78" grpId="0"/>
      <p:bldP spid="9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285750"/>
            <a:ext cx="2009489" cy="414338"/>
            <a:chOff x="571500" y="285750"/>
            <a:chExt cx="2009489" cy="414338"/>
          </a:xfrm>
        </p:grpSpPr>
        <p:sp>
          <p:nvSpPr>
            <p:cNvPr id="5" name="Rectangle 5"/>
            <p:cNvSpPr/>
            <p:nvPr/>
          </p:nvSpPr>
          <p:spPr>
            <a:xfrm>
              <a:off x="571500" y="285750"/>
              <a:ext cx="57150" cy="304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7235" y="303848"/>
              <a:ext cx="184375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差分隐私机制</a:t>
              </a:r>
            </a:p>
          </p:txBody>
        </p:sp>
      </p:grpSp>
      <p:sp>
        <p:nvSpPr>
          <p:cNvPr id="8" name="Rectangle 8"/>
          <p:cNvSpPr/>
          <p:nvPr/>
        </p:nvSpPr>
        <p:spPr>
          <a:xfrm>
            <a:off x="571500" y="714375"/>
            <a:ext cx="11049000" cy="361950"/>
          </a:xfrm>
          <a:prstGeom prst="roundRect">
            <a:avLst>
              <a:gd name="adj" fmla="val 21053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47712" y="831056"/>
            <a:ext cx="623935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DP噪声仅作用于评分层，临床安全不受影响 | 安全后处理确保噪声不放大低分药物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571500" y="1238250"/>
            <a:ext cx="5429250" cy="5334000"/>
            <a:chOff x="571500" y="1238250"/>
            <a:chExt cx="5429250" cy="5334000"/>
          </a:xfrm>
        </p:grpSpPr>
        <p:sp>
          <p:nvSpPr>
            <p:cNvPr id="10" name="Rectangle 10"/>
            <p:cNvSpPr/>
            <p:nvPr/>
          </p:nvSpPr>
          <p:spPr>
            <a:xfrm>
              <a:off x="571500" y="1238250"/>
              <a:ext cx="5429250" cy="5334000"/>
            </a:xfrm>
            <a:prstGeom prst="roundRect">
              <a:avLst>
                <a:gd name="adj" fmla="val 2143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1" name="Rectangle 11"/>
            <p:cNvSpPr/>
            <p:nvPr/>
          </p:nvSpPr>
          <p:spPr>
            <a:xfrm>
              <a:off x="571500" y="1238250"/>
              <a:ext cx="5429250" cy="438150"/>
            </a:xfrm>
            <a:prstGeom prst="roundRect">
              <a:avLst>
                <a:gd name="adj" fmla="val 26087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71500" y="1562100"/>
              <a:ext cx="5429250" cy="114300"/>
            </a:xfrm>
            <a:prstGeom prst="rect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778669" y="1333500"/>
              <a:ext cx="233362" cy="266700"/>
            </a:xfrm>
            <a:custGeom>
              <a:avLst/>
              <a:gdLst/>
              <a:ahLst/>
              <a:cxnLst/>
              <a:rect l="l" t="t" r="r" b="b"/>
              <a:pathLst>
                <a:path w="233362" h="266700">
                  <a:moveTo>
                    <a:pt x="55842" y="223243"/>
                  </a:moveTo>
                  <a:lnTo>
                    <a:pt x="116681" y="266700"/>
                  </a:lnTo>
                  <a:lnTo>
                    <a:pt x="177521" y="223243"/>
                  </a:lnTo>
                  <a:cubicBezTo>
                    <a:pt x="212565" y="198211"/>
                    <a:pt x="233362" y="157798"/>
                    <a:pt x="233362" y="114732"/>
                  </a:cubicBezTo>
                  <a:lnTo>
                    <a:pt x="233362" y="50006"/>
                  </a:lnTo>
                  <a:lnTo>
                    <a:pt x="116681" y="0"/>
                  </a:lnTo>
                  <a:lnTo>
                    <a:pt x="0" y="50006"/>
                  </a:lnTo>
                  <a:lnTo>
                    <a:pt x="0" y="114732"/>
                  </a:lnTo>
                  <a:cubicBezTo>
                    <a:pt x="0" y="157798"/>
                    <a:pt x="20798" y="198211"/>
                    <a:pt x="55842" y="223243"/>
                  </a:cubicBezTo>
                  <a:close/>
                </a:path>
              </a:pathLst>
            </a:custGeom>
            <a:solidFill>
              <a:srgbClr val="EFE6DD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07758" y="1386364"/>
              <a:ext cx="161613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DP原理与噪声机制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4385" y="1870710"/>
              <a:ext cx="106100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Laplace机制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09625" y="2095500"/>
              <a:ext cx="4953000" cy="476250"/>
            </a:xfrm>
            <a:prstGeom prst="roundRect">
              <a:avLst>
                <a:gd name="adj" fmla="val 16000"/>
              </a:avLst>
            </a:prstGeom>
            <a:solidFill>
              <a:srgbClr val="2E3F55">
                <a:alpha val="4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9165" y="2191702"/>
              <a:ext cx="16598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scale = sensitivity / ε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1070" y="2379345"/>
              <a:ext cx="19748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ε越小 → 噪声越大 → 隐私保护越强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4385" y="2727960"/>
              <a:ext cx="116222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Gaussian机制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09625" y="2952750"/>
              <a:ext cx="4953000" cy="476250"/>
            </a:xfrm>
            <a:prstGeom prst="roundRect">
              <a:avLst>
                <a:gd name="adj" fmla="val 16000"/>
              </a:avLst>
            </a:prstGeom>
            <a:solidFill>
              <a:srgbClr val="2E3F55">
                <a:alpha val="4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9165" y="3048952"/>
              <a:ext cx="27256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σ = sensitivity × √(2·ln(1.25/δ)) / ε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1070" y="3236595"/>
              <a:ext cx="17250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提供(ε,δ)-DP，δ为失败概率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94385" y="3585210"/>
              <a:ext cx="18707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预算追踪：强组合定理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09625" y="3810000"/>
              <a:ext cx="4953000" cy="476250"/>
            </a:xfrm>
            <a:prstGeom prst="roundRect">
              <a:avLst>
                <a:gd name="adj" fmla="val 16000"/>
              </a:avLst>
            </a:prstGeom>
            <a:solidFill>
              <a:srgbClr val="AE6339">
                <a:alpha val="6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40118" y="39142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ε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2975" y="3967162"/>
              <a:ext cx="12858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总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0118" y="3914299"/>
              <a:ext cx="15341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= Σ √(2k·ln(1/δ')) · ε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2975" y="3967162"/>
              <a:ext cx="5191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i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1070" y="4093845"/>
              <a:ext cx="19945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多次查询的总隐私消耗严格可计算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94385" y="442341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双重预算追踪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09625" y="4648200"/>
              <a:ext cx="2333625" cy="419100"/>
            </a:xfrm>
            <a:prstGeom prst="roundRect">
              <a:avLst>
                <a:gd name="adj" fmla="val 18182"/>
              </a:avLst>
            </a:prstGeom>
            <a:solidFill>
              <a:srgbClr val="2E3F55">
                <a:alpha val="4000"/>
              </a:srgbClr>
            </a:solidFill>
            <a:ln w="9525">
              <a:solidFill>
                <a:srgbClr val="D4B5B2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40118" y="4733449"/>
              <a:ext cx="13928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后端：MySQL持久化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2022" y="4902041"/>
              <a:ext cx="18945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privacy_config + privacy_ledger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333750" y="4648200"/>
              <a:ext cx="2428875" cy="419100"/>
            </a:xfrm>
            <a:prstGeom prst="roundRect">
              <a:avLst>
                <a:gd name="adj" fmla="val 18182"/>
              </a:avLst>
            </a:prstGeom>
            <a:solidFill>
              <a:srgbClr val="AE6339">
                <a:alpha val="6000"/>
              </a:srgbClr>
            </a:solidFill>
            <a:ln w="9525">
              <a:solidFill>
                <a:srgbClr val="D4B5B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464242" y="4733449"/>
              <a:ext cx="13704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模型：内存组合定理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466148" y="4902041"/>
              <a:ext cx="207533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PrivacyBudgetTracker (ephemeral)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96290" y="5258752"/>
              <a:ext cx="14919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ε值与隐私-效用权衡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09625" y="5476875"/>
              <a:ext cx="762000" cy="266700"/>
            </a:xfrm>
            <a:prstGeom prst="roundRect">
              <a:avLst>
                <a:gd name="adj" fmla="val 21429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89421" y="5560695"/>
              <a:ext cx="4024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ε=0.5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655445" y="5560695"/>
              <a:ext cx="4171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强隐私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286000" y="5476875"/>
              <a:ext cx="762000" cy="266700"/>
            </a:xfrm>
            <a:prstGeom prst="roundRect">
              <a:avLst>
                <a:gd name="adj" fmla="val 21429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483048" y="5560695"/>
              <a:ext cx="3679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ε=1.0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131820" y="5560695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平衡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3762375" y="5476875"/>
              <a:ext cx="762000" cy="266700"/>
            </a:xfrm>
            <a:prstGeom prst="roundRect">
              <a:avLst>
                <a:gd name="adj" fmla="val 21429"/>
              </a:avLst>
            </a:prstGeom>
            <a:solidFill>
              <a:srgbClr val="D4B5B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942171" y="5560695"/>
              <a:ext cx="4024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ε=5.0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608195" y="5560695"/>
              <a:ext cx="4171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弱隐私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09625" y="5857875"/>
              <a:ext cx="4953000" cy="266700"/>
            </a:xfrm>
            <a:prstGeom prst="roundRect">
              <a:avLst>
                <a:gd name="adj" fmla="val 21429"/>
              </a:avLst>
            </a:prstGeom>
            <a:solidFill>
              <a:srgbClr val="2E7D32">
                <a:alpha val="8000"/>
              </a:srgb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663344" y="5941695"/>
              <a:ext cx="32455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实验验证：ε=0.5时AUC-PR仍达0.9662，几乎无损失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6286500" y="1238250"/>
            <a:ext cx="5334000" cy="5334000"/>
            <a:chOff x="6286500" y="1238250"/>
            <a:chExt cx="5334000" cy="5334000"/>
          </a:xfrm>
        </p:grpSpPr>
        <p:sp>
          <p:nvSpPr>
            <p:cNvPr id="50" name="Rectangle 50"/>
            <p:cNvSpPr/>
            <p:nvPr/>
          </p:nvSpPr>
          <p:spPr>
            <a:xfrm>
              <a:off x="6286500" y="1238250"/>
              <a:ext cx="5334000" cy="5334000"/>
            </a:xfrm>
            <a:prstGeom prst="roundRect">
              <a:avLst>
                <a:gd name="adj" fmla="val 2143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51" name="Rectangle 51"/>
            <p:cNvSpPr/>
            <p:nvPr/>
          </p:nvSpPr>
          <p:spPr>
            <a:xfrm>
              <a:off x="6286500" y="1238250"/>
              <a:ext cx="5334000" cy="438150"/>
            </a:xfrm>
            <a:prstGeom prst="roundRect">
              <a:avLst>
                <a:gd name="adj" fmla="val 26087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286500" y="1562100"/>
              <a:ext cx="5334000" cy="114300"/>
            </a:xfrm>
            <a:prstGeom prst="rect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6493669" y="1333500"/>
              <a:ext cx="233362" cy="266700"/>
            </a:xfrm>
            <a:custGeom>
              <a:avLst/>
              <a:gdLst/>
              <a:ahLst/>
              <a:cxnLst/>
              <a:rect l="l" t="t" r="r" b="b"/>
              <a:pathLst>
                <a:path w="233362" h="266700">
                  <a:moveTo>
                    <a:pt x="116681" y="266700"/>
                  </a:moveTo>
                  <a:lnTo>
                    <a:pt x="55842" y="223243"/>
                  </a:lnTo>
                  <a:cubicBezTo>
                    <a:pt x="20798" y="198211"/>
                    <a:pt x="0" y="157798"/>
                    <a:pt x="0" y="114732"/>
                  </a:cubicBezTo>
                  <a:lnTo>
                    <a:pt x="0" y="50006"/>
                  </a:lnTo>
                  <a:lnTo>
                    <a:pt x="116681" y="0"/>
                  </a:lnTo>
                  <a:lnTo>
                    <a:pt x="233362" y="50006"/>
                  </a:lnTo>
                  <a:lnTo>
                    <a:pt x="233362" y="114732"/>
                  </a:lnTo>
                  <a:cubicBezTo>
                    <a:pt x="233362" y="157798"/>
                    <a:pt x="212565" y="198211"/>
                    <a:pt x="177521" y="223243"/>
                  </a:cubicBezTo>
                  <a:lnTo>
                    <a:pt x="116681" y="266700"/>
                  </a:lnTo>
                  <a:close/>
                  <a:moveTo>
                    <a:pt x="186808" y="95130"/>
                  </a:moveTo>
                  <a:lnTo>
                    <a:pt x="163235" y="71557"/>
                  </a:lnTo>
                  <a:lnTo>
                    <a:pt x="100012" y="134780"/>
                  </a:lnTo>
                  <a:lnTo>
                    <a:pt x="70127" y="104895"/>
                  </a:lnTo>
                  <a:lnTo>
                    <a:pt x="46554" y="128468"/>
                  </a:lnTo>
                  <a:lnTo>
                    <a:pt x="100012" y="181926"/>
                  </a:lnTo>
                  <a:lnTo>
                    <a:pt x="186808" y="95130"/>
                  </a:lnTo>
                  <a:close/>
                </a:path>
              </a:pathLst>
            </a:custGeom>
            <a:solidFill>
              <a:srgbClr val="EFE6DD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822758" y="1386364"/>
              <a:ext cx="140105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临床安全后处理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524625" y="1857375"/>
              <a:ext cx="304800" cy="304800"/>
            </a:xfrm>
            <a:prstGeom prst="roundRect">
              <a:avLst>
                <a:gd name="adj" fmla="val 50000"/>
              </a:avLst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39537" y="1944052"/>
              <a:ext cx="749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1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918960" y="1870710"/>
              <a:ext cx="18707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低分置零（公开阈值）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524625" y="2143125"/>
              <a:ext cx="4762500" cy="523875"/>
            </a:xfrm>
            <a:prstGeom prst="roundRect">
              <a:avLst>
                <a:gd name="adj" fmla="val 14545"/>
              </a:avLst>
            </a:prstGeom>
            <a:solidFill>
              <a:srgbClr val="C62828">
                <a:alpha val="5000"/>
              </a:srgbClr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654165" y="2248852"/>
              <a:ext cx="11844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score &lt; 0.15 → 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56070" y="2455545"/>
              <a:ext cx="254660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DP后处理定理：公开阈值操作不破坏DP保证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524625" y="2838450"/>
              <a:ext cx="304800" cy="304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619409" y="2925128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2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918960" y="2851785"/>
              <a:ext cx="20547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上限截断（防噪声放大）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524625" y="3124200"/>
              <a:ext cx="4762500" cy="523875"/>
            </a:xfrm>
            <a:prstGeom prst="roundRect">
              <a:avLst>
                <a:gd name="adj" fmla="val 14545"/>
              </a:avLst>
            </a:prstGeom>
            <a:solidFill>
              <a:srgbClr val="AE6339">
                <a:alpha val="5000"/>
              </a:srgbClr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654165" y="3229928"/>
              <a:ext cx="27410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ceiling = min(1.0, raw_score + 0.35)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656070" y="3436620"/>
              <a:ext cx="207997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防止噪声将低分药物放大超过3.5倍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524625" y="3819525"/>
              <a:ext cx="304800" cy="3048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619409" y="390620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3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918960" y="3832860"/>
              <a:ext cx="1686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置信区间与异常标记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524625" y="4105275"/>
              <a:ext cx="4762500" cy="523875"/>
            </a:xfrm>
            <a:prstGeom prst="roundRect">
              <a:avLst>
                <a:gd name="adj" fmla="val 14545"/>
              </a:avLst>
            </a:prstGeom>
            <a:solidFill>
              <a:srgbClr val="2E3F55">
                <a:alpha val="4000"/>
              </a:srgbClr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654165" y="4211002"/>
              <a:ext cx="23806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95% CI: score ± 1.96 × noise_std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656070" y="4417695"/>
              <a:ext cx="248745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dpAnomaly: 噪声显著改变排序方向时标记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524625" y="4810125"/>
              <a:ext cx="4762500" cy="762000"/>
            </a:xfrm>
            <a:prstGeom prst="roundRect">
              <a:avLst>
                <a:gd name="adj" fmla="val 12500"/>
              </a:avLst>
            </a:prstGeom>
            <a:solidFill>
              <a:srgbClr val="2E7D32">
                <a:alpha val="8000"/>
              </a:srgbClr>
            </a:solidFill>
            <a:ln w="14288">
              <a:solidFill>
                <a:srgbClr val="2E7D32"/>
              </a:solidFill>
            </a:ln>
          </p:spPr>
        </p:sp>
        <p:sp>
          <p:nvSpPr>
            <p:cNvPr id="74" name="Freeform 74"/>
            <p:cNvSpPr/>
            <p:nvPr/>
          </p:nvSpPr>
          <p:spPr>
            <a:xfrm>
              <a:off x="6688931" y="4953000"/>
              <a:ext cx="300038" cy="342900"/>
            </a:xfrm>
            <a:custGeom>
              <a:avLst/>
              <a:gdLst/>
              <a:ahLst/>
              <a:cxnLst/>
              <a:rect l="l" t="t" r="r" b="b"/>
              <a:pathLst>
                <a:path w="300038" h="342900">
                  <a:moveTo>
                    <a:pt x="150019" y="342900"/>
                  </a:moveTo>
                  <a:lnTo>
                    <a:pt x="71797" y="287027"/>
                  </a:lnTo>
                  <a:cubicBezTo>
                    <a:pt x="26740" y="254843"/>
                    <a:pt x="0" y="202883"/>
                    <a:pt x="0" y="147513"/>
                  </a:cubicBezTo>
                  <a:lnTo>
                    <a:pt x="0" y="64294"/>
                  </a:lnTo>
                  <a:lnTo>
                    <a:pt x="150019" y="0"/>
                  </a:lnTo>
                  <a:lnTo>
                    <a:pt x="300038" y="64294"/>
                  </a:lnTo>
                  <a:lnTo>
                    <a:pt x="300038" y="147513"/>
                  </a:lnTo>
                  <a:cubicBezTo>
                    <a:pt x="300038" y="202883"/>
                    <a:pt x="273298" y="254843"/>
                    <a:pt x="228241" y="287027"/>
                  </a:cubicBezTo>
                  <a:lnTo>
                    <a:pt x="150019" y="342900"/>
                  </a:lnTo>
                  <a:close/>
                  <a:moveTo>
                    <a:pt x="240182" y="122311"/>
                  </a:moveTo>
                  <a:lnTo>
                    <a:pt x="209874" y="92002"/>
                  </a:lnTo>
                  <a:lnTo>
                    <a:pt x="128588" y="173289"/>
                  </a:lnTo>
                  <a:lnTo>
                    <a:pt x="90164" y="134864"/>
                  </a:lnTo>
                  <a:lnTo>
                    <a:pt x="59855" y="165173"/>
                  </a:lnTo>
                  <a:lnTo>
                    <a:pt x="128588" y="233905"/>
                  </a:lnTo>
                  <a:lnTo>
                    <a:pt x="240182" y="122311"/>
                  </a:lnTo>
                  <a:close/>
                </a:path>
              </a:pathLst>
            </a:custGeom>
            <a:solidFill>
              <a:srgbClr val="2E7D32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109460" y="501396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安全保障定理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654165" y="5268278"/>
              <a:ext cx="28100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SafetyFilter层</a:t>
              </a:r>
              <a:r>
                <a:rPr lang="zh-CN" sz="105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100%保留</a:t>
              </a:r>
              <a:r>
                <a:rPr lang="zh-CN" sz="10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，DP噪声零穿透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656070" y="5427345"/>
              <a:ext cx="27240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实验验证：所有安全过滤在所有ε值下完全一致</a:t>
              </a:r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06</a:t>
            </a:r>
          </a:p>
        </p:txBody>
      </p:sp>
      <p:sp>
        <p:nvSpPr>
          <p:cNvPr id="80" name="Rectangle 80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7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71500" y="285750"/>
            <a:ext cx="2758535" cy="504825"/>
            <a:chOff x="571500" y="285750"/>
            <a:chExt cx="2758535" cy="504825"/>
          </a:xfrm>
        </p:grpSpPr>
        <p:sp>
          <p:nvSpPr>
            <p:cNvPr id="5" name="Rectangle 5"/>
            <p:cNvSpPr/>
            <p:nvPr/>
          </p:nvSpPr>
          <p:spPr>
            <a:xfrm>
              <a:off x="571500" y="285750"/>
              <a:ext cx="57150" cy="304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7235" y="303848"/>
              <a:ext cx="229231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DeepFM模型设计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0570" y="607695"/>
              <a:ext cx="25794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FM交叉 + DEEP高阶 + CONTINUOUS特征旁路</a:t>
              </a:r>
            </a:p>
          </p:txBody>
        </p:sp>
      </p:grpSp>
      <p:sp>
        <p:nvSpPr>
          <p:cNvPr id="9" name="Rectangle 9"/>
          <p:cNvSpPr/>
          <p:nvPr/>
        </p:nvSpPr>
        <p:spPr>
          <a:xfrm>
            <a:off x="571500" y="809625"/>
            <a:ext cx="11049000" cy="342900"/>
          </a:xfrm>
          <a:prstGeom prst="roundRect">
            <a:avLst>
              <a:gd name="adj" fmla="val 22222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7712" y="907256"/>
            <a:ext cx="840449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DeepFM = FM捕获二阶交叉 + Deep捕获高阶特征 + 连续特征旁路直连输出 | Opacus兼容的Merged Embedding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81000" y="1333500"/>
            <a:ext cx="381000" cy="4000500"/>
          </a:xfrm>
          <a:prstGeom prst="roundRect">
            <a:avLst>
              <a:gd name="adj" fmla="val 20000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492204" y="3267075"/>
            <a:ext cx="1585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FFFFF"/>
                </a:solidFill>
                <a:latin typeface="Georgia"/>
                <a:ea typeface="SimSun"/>
                <a:cs typeface="Georgia"/>
              </a:rPr>
              <a:t>D</a:t>
            </a:r>
          </a:p>
        </p:txBody>
      </p:sp>
      <p:sp>
        <p:nvSpPr>
          <p:cNvPr id="13" name="Rectangle 13"/>
          <p:cNvSpPr/>
          <p:nvPr/>
        </p:nvSpPr>
        <p:spPr>
          <a:xfrm>
            <a:off x="914400" y="1333500"/>
            <a:ext cx="10668000" cy="4000500"/>
          </a:xfrm>
          <a:prstGeom prst="roundRect">
            <a:avLst>
              <a:gd name="adj" fmla="val 2857"/>
            </a:avLst>
          </a:prstGeom>
          <a:solidFill>
            <a:srgbClr val="2E3F55">
              <a:alpha val="4000"/>
            </a:srgbClr>
          </a:solidFill>
          <a:ln w="14288">
            <a:solidFill>
              <a:srgbClr val="2E3F55"/>
            </a:solidFill>
            <a:custDash>
              <a:ds d="400000" sp="266666"/>
            </a:custDash>
          </a:ln>
        </p:spPr>
      </p:sp>
      <p:sp>
        <p:nvSpPr>
          <p:cNvPr id="14" name="TextBox 14"/>
          <p:cNvSpPr txBox="1"/>
          <p:nvPr/>
        </p:nvSpPr>
        <p:spPr>
          <a:xfrm>
            <a:off x="3454575" y="1453991"/>
            <a:ext cx="558765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DEEPFM MODEL · 14 CATEGORICAL FIELDS + 4 CONTINUOUS FEATURES · OUTPUT: SIGMOID(LOGIT)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143000" y="1714500"/>
            <a:ext cx="3143250" cy="3381375"/>
            <a:chOff x="1143000" y="1714500"/>
            <a:chExt cx="3143250" cy="3381375"/>
          </a:xfrm>
        </p:grpSpPr>
        <p:sp>
          <p:nvSpPr>
            <p:cNvPr id="15" name="Rectangle 15"/>
            <p:cNvSpPr/>
            <p:nvPr/>
          </p:nvSpPr>
          <p:spPr>
            <a:xfrm>
              <a:off x="1143000" y="1714500"/>
              <a:ext cx="3143250" cy="3381375"/>
            </a:xfrm>
            <a:prstGeom prst="roundRect">
              <a:avLst>
                <a:gd name="adj" fmla="val 2424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6" name="Rectangle 16"/>
            <p:cNvSpPr/>
            <p:nvPr/>
          </p:nvSpPr>
          <p:spPr>
            <a:xfrm>
              <a:off x="1143000" y="19050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314450" y="190500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2E3F55">
                <a:alpha val="8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367902" y="2020252"/>
              <a:ext cx="2359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FM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54505" y="1968818"/>
              <a:ext cx="11315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FM交叉模块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314450" y="2381250"/>
              <a:ext cx="2800350" cy="266700"/>
            </a:xfrm>
            <a:prstGeom prst="roundRect">
              <a:avLst>
                <a:gd name="adj" fmla="val 21429"/>
              </a:avLst>
            </a:prstGeom>
            <a:solidFill>
              <a:srgbClr val="2E3F55">
                <a:alpha val="4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151126" y="2465070"/>
              <a:ext cx="11269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二阶特征交互捕获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1390650" y="2867025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529715" y="2839402"/>
              <a:ext cx="14275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Merged Embedding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31620" y="3046095"/>
              <a:ext cx="204054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单nn.Embedding + field_offsets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1390650" y="3371850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529715" y="3344228"/>
              <a:ext cx="9122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Opacus兼容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531620" y="3550920"/>
              <a:ext cx="98240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支持DP-SGD训练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1390650" y="3876675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529715" y="3849052"/>
              <a:ext cx="10249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embed_dim=8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31620" y="4055745"/>
              <a:ext cx="144903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14类别字段共享嵌入空间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314450" y="4400550"/>
              <a:ext cx="2800350" cy="495300"/>
            </a:xfrm>
            <a:prstGeom prst="roundRect">
              <a:avLst>
                <a:gd name="adj" fmla="val 11538"/>
              </a:avLst>
            </a:prstGeom>
            <a:solidFill>
              <a:srgbClr val="2E3F55">
                <a:alpha val="3000"/>
              </a:srgbClr>
            </a:solidFill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2714625" y="44958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819049" y="4521041"/>
              <a:ext cx="4005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字段数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925850" y="4671060"/>
              <a:ext cx="1869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14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146441" y="4521041"/>
              <a:ext cx="5270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嵌入维度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344104" y="4671060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8</a:t>
              </a:r>
            </a:p>
          </p:txBody>
        </p:sp>
      </p:grpSp>
      <p:sp>
        <p:nvSpPr>
          <p:cNvPr id="38" name="Line 38"/>
          <p:cNvSpPr/>
          <p:nvPr/>
        </p:nvSpPr>
        <p:spPr>
          <a:xfrm>
            <a:off x="4333875" y="3409950"/>
            <a:ext cx="190500" cy="1"/>
          </a:xfrm>
          <a:prstGeom prst="line">
            <a:avLst/>
          </a:prstGeom>
          <a:noFill/>
          <a:ln w="19050">
            <a:solidFill>
              <a:srgbClr val="6B7B8D"/>
            </a:solidFill>
            <a:tailEnd type="triangle" w="lg" len="lg"/>
          </a:ln>
        </p:spPr>
      </p:sp>
      <p:grpSp>
        <p:nvGrpSpPr>
          <p:cNvPr id="61" name="Group 61"/>
          <p:cNvGrpSpPr/>
          <p:nvPr/>
        </p:nvGrpSpPr>
        <p:grpSpPr>
          <a:xfrm>
            <a:off x="4619625" y="1714500"/>
            <a:ext cx="3143250" cy="3381375"/>
            <a:chOff x="4619625" y="1714500"/>
            <a:chExt cx="3143250" cy="3381375"/>
          </a:xfrm>
        </p:grpSpPr>
        <p:sp>
          <p:nvSpPr>
            <p:cNvPr id="39" name="Rectangle 39"/>
            <p:cNvSpPr/>
            <p:nvPr/>
          </p:nvSpPr>
          <p:spPr>
            <a:xfrm>
              <a:off x="4619625" y="1714500"/>
              <a:ext cx="3143250" cy="3381375"/>
            </a:xfrm>
            <a:prstGeom prst="roundRect">
              <a:avLst>
                <a:gd name="adj" fmla="val 2424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40" name="Rectangle 40"/>
            <p:cNvSpPr/>
            <p:nvPr/>
          </p:nvSpPr>
          <p:spPr>
            <a:xfrm>
              <a:off x="4619625" y="19050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4791075" y="190500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AE6339">
                <a:alpha val="8000"/>
              </a:srgbClr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904909" y="202025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D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231130" y="1968818"/>
              <a:ext cx="13178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Deep高阶模块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4791075" y="2381250"/>
              <a:ext cx="2800350" cy="266700"/>
            </a:xfrm>
            <a:prstGeom prst="roundRect">
              <a:avLst>
                <a:gd name="adj" fmla="val 21429"/>
              </a:avLst>
            </a:prstGeom>
            <a:solidFill>
              <a:srgbClr val="AE6339">
                <a:alpha val="6000"/>
              </a:srgbClr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558742" y="2465070"/>
              <a:ext cx="12650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高阶非线性特征组合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4867275" y="2867025"/>
              <a:ext cx="76200" cy="7620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006340" y="2839402"/>
              <a:ext cx="10894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MLP (64 → 32)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008245" y="3046095"/>
              <a:ext cx="19485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两层全连接 + LayerNorm + ReLU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4867275" y="3371850"/>
              <a:ext cx="76200" cy="7620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006340" y="3344228"/>
              <a:ext cx="11296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差异化Dropout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008245" y="3550920"/>
              <a:ext cx="18433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每层独立dropout率，防过拟合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4867275" y="3876675"/>
              <a:ext cx="76200" cy="7620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006340" y="3849052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Focal Loss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008245" y="405574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处理正负样本不平衡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4791075" y="4400550"/>
              <a:ext cx="2800350" cy="495300"/>
            </a:xfrm>
            <a:prstGeom prst="roundRect">
              <a:avLst>
                <a:gd name="adj" fmla="val 11538"/>
              </a:avLst>
            </a:prstGeom>
            <a:solidFill>
              <a:srgbClr val="AE6339">
                <a:alpha val="3000"/>
              </a:srgbClr>
            </a:solidFill>
            <a:ln>
              <a:noFill/>
            </a:ln>
          </p:spPr>
        </p:sp>
        <p:sp>
          <p:nvSpPr>
            <p:cNvPr id="56" name="Line 56"/>
            <p:cNvSpPr/>
            <p:nvPr/>
          </p:nvSpPr>
          <p:spPr>
            <a:xfrm>
              <a:off x="6191250" y="44958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295674" y="4521041"/>
              <a:ext cx="4005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隐藏层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126441" y="4671060"/>
              <a:ext cx="7389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[64,32]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623066" y="4521041"/>
              <a:ext cx="5270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激活函数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68910" y="4671060"/>
              <a:ext cx="4353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ReLU</a:t>
              </a:r>
            </a:p>
          </p:txBody>
        </p:sp>
      </p:grpSp>
      <p:sp>
        <p:nvSpPr>
          <p:cNvPr id="62" name="Line 62"/>
          <p:cNvSpPr/>
          <p:nvPr/>
        </p:nvSpPr>
        <p:spPr>
          <a:xfrm>
            <a:off x="7810500" y="3409950"/>
            <a:ext cx="190500" cy="1"/>
          </a:xfrm>
          <a:prstGeom prst="line">
            <a:avLst/>
          </a:prstGeom>
          <a:noFill/>
          <a:ln w="19050">
            <a:solidFill>
              <a:srgbClr val="6B7B8D"/>
            </a:solidFill>
            <a:tailEnd type="triangle" w="lg" len="lg"/>
          </a:ln>
        </p:spPr>
      </p:sp>
      <p:grpSp>
        <p:nvGrpSpPr>
          <p:cNvPr id="85" name="Group 85"/>
          <p:cNvGrpSpPr/>
          <p:nvPr/>
        </p:nvGrpSpPr>
        <p:grpSpPr>
          <a:xfrm>
            <a:off x="8096250" y="1714500"/>
            <a:ext cx="3238500" cy="3381375"/>
            <a:chOff x="8096250" y="1714500"/>
            <a:chExt cx="3238500" cy="3381375"/>
          </a:xfrm>
        </p:grpSpPr>
        <p:sp>
          <p:nvSpPr>
            <p:cNvPr id="63" name="Rectangle 63"/>
            <p:cNvSpPr/>
            <p:nvPr/>
          </p:nvSpPr>
          <p:spPr>
            <a:xfrm>
              <a:off x="8096250" y="1714500"/>
              <a:ext cx="3238500" cy="3381375"/>
            </a:xfrm>
            <a:prstGeom prst="roundRect">
              <a:avLst>
                <a:gd name="adj" fmla="val 2353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64" name="Rectangle 64"/>
            <p:cNvSpPr/>
            <p:nvPr/>
          </p:nvSpPr>
          <p:spPr>
            <a:xfrm>
              <a:off x="8096250" y="19050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8267700" y="190500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2E7D32">
                <a:alpha val="8000"/>
              </a:srgbClr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381534" y="202025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B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707755" y="196881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连续特征旁路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8267700" y="2381250"/>
              <a:ext cx="2800350" cy="266700"/>
            </a:xfrm>
            <a:prstGeom prst="roundRect">
              <a:avLst>
                <a:gd name="adj" fmla="val 21429"/>
              </a:avLst>
            </a:prstGeom>
            <a:solidFill>
              <a:srgbClr val="2E7D32">
                <a:alpha val="6000"/>
              </a:srgbClr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966359" y="2465070"/>
              <a:ext cx="14030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绕过嵌入直接连输出层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8343900" y="2867025"/>
              <a:ext cx="76200" cy="762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482965" y="2839402"/>
              <a:ext cx="6788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age_raw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484870" y="304609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患者年龄（连续值）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8343900" y="3371850"/>
              <a:ext cx="76200" cy="762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482965" y="3344228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bmi_raw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484870" y="3550920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体质指数（连续值）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8343900" y="3876675"/>
              <a:ext cx="76200" cy="762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482965" y="3849052"/>
              <a:ext cx="21440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gfr_raw / liver_score_raw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484870" y="4055745"/>
              <a:ext cx="12255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肾功能 / 肝功能评分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8267700" y="4400550"/>
              <a:ext cx="2800350" cy="495300"/>
            </a:xfrm>
            <a:prstGeom prst="roundRect">
              <a:avLst>
                <a:gd name="adj" fmla="val 11538"/>
              </a:avLst>
            </a:prstGeom>
            <a:solidFill>
              <a:srgbClr val="2E7D32">
                <a:alpha val="3000"/>
              </a:srgbClr>
            </a:solidFill>
            <a:ln>
              <a:noFill/>
            </a:ln>
          </p:spPr>
        </p:sp>
        <p:sp>
          <p:nvSpPr>
            <p:cNvPr id="80" name="Line 80"/>
            <p:cNvSpPr/>
            <p:nvPr/>
          </p:nvSpPr>
          <p:spPr>
            <a:xfrm>
              <a:off x="9667875" y="44958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8772299" y="4521041"/>
              <a:ext cx="4005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特征数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906704" y="4671060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4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0099691" y="4521041"/>
              <a:ext cx="5270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连接方式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0163937" y="4671060"/>
              <a:ext cx="398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直连</a:t>
              </a:r>
            </a:p>
          </p:txBody>
        </p:sp>
      </p:grpSp>
      <p:sp>
        <p:nvSpPr>
          <p:cNvPr id="86" name="Rectangle 86"/>
          <p:cNvSpPr/>
          <p:nvPr/>
        </p:nvSpPr>
        <p:spPr>
          <a:xfrm>
            <a:off x="381000" y="5524500"/>
            <a:ext cx="381000" cy="952500"/>
          </a:xfrm>
          <a:prstGeom prst="roundRect">
            <a:avLst>
              <a:gd name="adj" fmla="val 20000"/>
            </a:avLst>
          </a:prstGeom>
          <a:solidFill>
            <a:srgbClr val="6B7B8D"/>
          </a:solidFill>
          <a:ln>
            <a:noFill/>
          </a:ln>
        </p:spPr>
      </p:sp>
      <p:sp>
        <p:nvSpPr>
          <p:cNvPr id="87" name="TextBox 87"/>
          <p:cNvSpPr txBox="1"/>
          <p:nvPr/>
        </p:nvSpPr>
        <p:spPr>
          <a:xfrm>
            <a:off x="409042" y="5947410"/>
            <a:ext cx="32491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Georgia"/>
                <a:ea typeface="SimSun"/>
                <a:cs typeface="Georgia"/>
              </a:rPr>
              <a:t>I/O</a:t>
            </a:r>
          </a:p>
        </p:txBody>
      </p:sp>
      <p:sp>
        <p:nvSpPr>
          <p:cNvPr id="88" name="Rectangle 88"/>
          <p:cNvSpPr/>
          <p:nvPr/>
        </p:nvSpPr>
        <p:spPr>
          <a:xfrm>
            <a:off x="914400" y="5524500"/>
            <a:ext cx="10858500" cy="952500"/>
          </a:xfrm>
          <a:prstGeom prst="roundRect">
            <a:avLst>
              <a:gd name="adj" fmla="val 12000"/>
            </a:avLst>
          </a:prstGeom>
          <a:solidFill>
            <a:srgbClr val="2E3F55">
              <a:alpha val="4000"/>
            </a:srgbClr>
          </a:solidFill>
          <a:ln w="9525">
            <a:solidFill>
              <a:srgbClr val="D4B5B2"/>
            </a:solidFill>
            <a:prstDash val="dash"/>
          </a:ln>
        </p:spPr>
      </p:sp>
      <p:sp>
        <p:nvSpPr>
          <p:cNvPr id="89" name="TextBox 89"/>
          <p:cNvSpPr txBox="1"/>
          <p:nvPr/>
        </p:nvSpPr>
        <p:spPr>
          <a:xfrm>
            <a:off x="3818671" y="5625941"/>
            <a:ext cx="504995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FEATURE SCHEMA · 14 CATEGORICAL + 4 CONTINUOUS = 18 TOTAL · 1815 DRUG CANDIDATES</a:t>
            </a:r>
          </a:p>
        </p:txBody>
      </p:sp>
      <p:sp>
        <p:nvSpPr>
          <p:cNvPr id="90" name="Rectangle 90"/>
          <p:cNvSpPr/>
          <p:nvPr/>
        </p:nvSpPr>
        <p:spPr>
          <a:xfrm>
            <a:off x="1104900" y="5848350"/>
            <a:ext cx="16192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4B5B2"/>
            </a:solidFill>
          </a:ln>
        </p:spPr>
      </p:sp>
      <p:sp>
        <p:nvSpPr>
          <p:cNvPr id="91" name="TextBox 91"/>
          <p:cNvSpPr txBox="1"/>
          <p:nvPr/>
        </p:nvSpPr>
        <p:spPr>
          <a:xfrm>
            <a:off x="1340675" y="5960745"/>
            <a:ext cx="11477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训练样本: 58,525</a:t>
            </a:r>
          </a:p>
        </p:txBody>
      </p:sp>
      <p:sp>
        <p:nvSpPr>
          <p:cNvPr id="92" name="Rectangle 92"/>
          <p:cNvSpPr/>
          <p:nvPr/>
        </p:nvSpPr>
        <p:spPr>
          <a:xfrm>
            <a:off x="2857500" y="5848350"/>
            <a:ext cx="16192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4B5B2"/>
            </a:solidFill>
          </a:ln>
        </p:spPr>
      </p:sp>
      <p:sp>
        <p:nvSpPr>
          <p:cNvPr id="93" name="TextBox 93"/>
          <p:cNvSpPr txBox="1"/>
          <p:nvPr/>
        </p:nvSpPr>
        <p:spPr>
          <a:xfrm>
            <a:off x="3165734" y="5960745"/>
            <a:ext cx="100278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药物候选: 1,815</a:t>
            </a:r>
          </a:p>
        </p:txBody>
      </p:sp>
      <p:sp>
        <p:nvSpPr>
          <p:cNvPr id="94" name="Rectangle 94"/>
          <p:cNvSpPr/>
          <p:nvPr/>
        </p:nvSpPr>
        <p:spPr>
          <a:xfrm>
            <a:off x="4610100" y="5848350"/>
            <a:ext cx="1619250" cy="323850"/>
          </a:xfrm>
          <a:prstGeom prst="roundRect">
            <a:avLst>
              <a:gd name="adj" fmla="val 17647"/>
            </a:avLst>
          </a:prstGeom>
          <a:solidFill>
            <a:srgbClr val="2E3F55">
              <a:alpha val="6000"/>
            </a:srgbClr>
          </a:solidFill>
          <a:ln w="9525">
            <a:solidFill>
              <a:srgbClr val="AE6339"/>
            </a:solidFill>
          </a:ln>
        </p:spPr>
      </p:sp>
      <p:sp>
        <p:nvSpPr>
          <p:cNvPr id="95" name="TextBox 95"/>
          <p:cNvSpPr txBox="1"/>
          <p:nvPr/>
        </p:nvSpPr>
        <p:spPr>
          <a:xfrm>
            <a:off x="4894181" y="5960745"/>
            <a:ext cx="105108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AE6339"/>
                </a:solidFill>
                <a:latin typeface="Georgia"/>
                <a:ea typeface="SimSun"/>
                <a:cs typeface="Georgia"/>
              </a:rPr>
              <a:t>AUC-PR: 0.9466</a:t>
            </a:r>
          </a:p>
        </p:txBody>
      </p:sp>
      <p:sp>
        <p:nvSpPr>
          <p:cNvPr id="96" name="Rectangle 96"/>
          <p:cNvSpPr/>
          <p:nvPr/>
        </p:nvSpPr>
        <p:spPr>
          <a:xfrm>
            <a:off x="6362700" y="5848350"/>
            <a:ext cx="2286000" cy="323850"/>
          </a:xfrm>
          <a:prstGeom prst="roundRect">
            <a:avLst>
              <a:gd name="adj" fmla="val 17647"/>
            </a:avLst>
          </a:prstGeom>
          <a:solidFill>
            <a:srgbClr val="2E7D32">
              <a:alpha val="8000"/>
            </a:srgbClr>
          </a:solidFill>
          <a:ln w="9525">
            <a:solidFill>
              <a:srgbClr val="2E7D32"/>
            </a:solidFill>
          </a:ln>
        </p:spPr>
      </p:sp>
      <p:sp>
        <p:nvSpPr>
          <p:cNvPr id="97" name="TextBox 97"/>
          <p:cNvSpPr txBox="1"/>
          <p:nvPr/>
        </p:nvSpPr>
        <p:spPr>
          <a:xfrm>
            <a:off x="6569554" y="5960745"/>
            <a:ext cx="187229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2E7D32"/>
                </a:solidFill>
                <a:latin typeface="Georgia"/>
                <a:ea typeface="SimSun"/>
                <a:cs typeface="Georgia"/>
              </a:rPr>
              <a:t>输出: sigmoid(logit) ∈ [0,1]</a:t>
            </a:r>
          </a:p>
        </p:txBody>
      </p:sp>
      <p:sp>
        <p:nvSpPr>
          <p:cNvPr id="98" name="Rectangle 98"/>
          <p:cNvSpPr/>
          <p:nvPr/>
        </p:nvSpPr>
        <p:spPr>
          <a:xfrm>
            <a:off x="8801100" y="5848350"/>
            <a:ext cx="266700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4B5B2"/>
            </a:solidFill>
          </a:ln>
        </p:spPr>
      </p:sp>
      <p:sp>
        <p:nvSpPr>
          <p:cNvPr id="99" name="TextBox 99"/>
          <p:cNvSpPr txBox="1"/>
          <p:nvPr/>
        </p:nvSpPr>
        <p:spPr>
          <a:xfrm>
            <a:off x="8977627" y="5960745"/>
            <a:ext cx="2313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14字段: age/gender/bmi/renal/...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07</a:t>
            </a:r>
          </a:p>
        </p:txBody>
      </p:sp>
      <p:sp>
        <p:nvSpPr>
          <p:cNvPr id="101" name="Rectangle 101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61" grpId="0"/>
      <p:bldP spid="8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71500" y="285750"/>
            <a:ext cx="3455194" cy="504825"/>
            <a:chOff x="571500" y="285750"/>
            <a:chExt cx="3455194" cy="504825"/>
          </a:xfrm>
        </p:grpSpPr>
        <p:sp>
          <p:nvSpPr>
            <p:cNvPr id="5" name="Rectangle 5"/>
            <p:cNvSpPr/>
            <p:nvPr/>
          </p:nvSpPr>
          <p:spPr>
            <a:xfrm>
              <a:off x="571500" y="285750"/>
              <a:ext cx="57150" cy="304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7235" y="303848"/>
              <a:ext cx="124568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系统实现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0570" y="607695"/>
              <a:ext cx="32761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FRONTEND + BACKEND + MODEL SERVICE + SAFETY DATA</a:t>
              </a:r>
            </a:p>
          </p:txBody>
        </p:sp>
      </p:grpSp>
      <p:sp>
        <p:nvSpPr>
          <p:cNvPr id="9" name="Rectangle 9"/>
          <p:cNvSpPr/>
          <p:nvPr/>
        </p:nvSpPr>
        <p:spPr>
          <a:xfrm>
            <a:off x="571500" y="809625"/>
            <a:ext cx="11049000" cy="342900"/>
          </a:xfrm>
          <a:prstGeom prst="roundRect">
            <a:avLst>
              <a:gd name="adj" fmla="val 22222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7712" y="907256"/>
            <a:ext cx="72313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三层架构完整落地：React前端 + Spring Boot后端 + FastAPI模型服务 | 安全数据覆盖率达97%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571500" y="1333500"/>
            <a:ext cx="5429250" cy="2381250"/>
            <a:chOff x="571500" y="1333500"/>
            <a:chExt cx="5429250" cy="2381250"/>
          </a:xfrm>
        </p:grpSpPr>
        <p:sp>
          <p:nvSpPr>
            <p:cNvPr id="11" name="Rectangle 11"/>
            <p:cNvSpPr/>
            <p:nvPr/>
          </p:nvSpPr>
          <p:spPr>
            <a:xfrm>
              <a:off x="571500" y="1333500"/>
              <a:ext cx="5429250" cy="2381250"/>
            </a:xfrm>
            <a:prstGeom prst="roundRect">
              <a:avLst>
                <a:gd name="adj" fmla="val 48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2" name="Rectangle 12"/>
            <p:cNvSpPr/>
            <p:nvPr/>
          </p:nvSpPr>
          <p:spPr>
            <a:xfrm>
              <a:off x="571500" y="1333500"/>
              <a:ext cx="5429250" cy="438150"/>
            </a:xfrm>
            <a:prstGeom prst="roundRect">
              <a:avLst>
                <a:gd name="adj" fmla="val 26087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1657350"/>
              <a:ext cx="5429250" cy="114300"/>
            </a:xfrm>
            <a:prstGeom prst="rect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62000" y="142875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EFE6DD">
                <a:alpha val="15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75834" y="154400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F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03008" y="1481614"/>
              <a:ext cx="266218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前端 · React 18 + TypeScript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1905000"/>
              <a:ext cx="762000" cy="209550"/>
            </a:xfrm>
            <a:prstGeom prst="roundRect">
              <a:avLst>
                <a:gd name="adj" fmla="val 18182"/>
              </a:avLst>
            </a:prstGeom>
            <a:solidFill>
              <a:srgbClr val="2E3F55">
                <a:alpha val="8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85817" y="1958816"/>
              <a:ext cx="51436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React 18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600200" y="1905000"/>
              <a:ext cx="762000" cy="209550"/>
            </a:xfrm>
            <a:prstGeom prst="roundRect">
              <a:avLst>
                <a:gd name="adj" fmla="val 18182"/>
              </a:avLst>
            </a:prstGeom>
            <a:solidFill>
              <a:srgbClr val="2E3F55">
                <a:alpha val="8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638618" y="1958816"/>
              <a:ext cx="68516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TypeScript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438400" y="1905000"/>
              <a:ext cx="762000" cy="209550"/>
            </a:xfrm>
            <a:prstGeom prst="roundRect">
              <a:avLst>
                <a:gd name="adj" fmla="val 18182"/>
              </a:avLst>
            </a:prstGeom>
            <a:solidFill>
              <a:srgbClr val="2E3F55">
                <a:alpha val="8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565380" y="1958816"/>
              <a:ext cx="5080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Tailwind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276600" y="1905000"/>
              <a:ext cx="457200" cy="209550"/>
            </a:xfrm>
            <a:prstGeom prst="roundRect">
              <a:avLst>
                <a:gd name="adj" fmla="val 18182"/>
              </a:avLst>
            </a:prstGeom>
            <a:solidFill>
              <a:srgbClr val="2E3F55">
                <a:alpha val="8000"/>
              </a:srgb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371370" y="1958816"/>
              <a:ext cx="26766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Vite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819150" y="2295525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77265" y="226790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药物推荐页面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79170" y="2455545"/>
              <a:ext cx="26911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患者画像输入 + 三层推荐结果展示 + 安全标签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819150" y="2771775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77265" y="2744152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隐私可视化面板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79170" y="2931795"/>
              <a:ext cx="21062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噪声分布图 + ε消耗追踪 + 预算配置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819150" y="3248025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77265" y="322040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医生审查面板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79170" y="3408045"/>
              <a:ext cx="23822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审核/标记/确认推荐，JWT角色权限控制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191250" y="1333500"/>
            <a:ext cx="5429250" cy="2381250"/>
            <a:chOff x="6191250" y="1333500"/>
            <a:chExt cx="5429250" cy="2381250"/>
          </a:xfrm>
        </p:grpSpPr>
        <p:sp>
          <p:nvSpPr>
            <p:cNvPr id="35" name="Rectangle 35"/>
            <p:cNvSpPr/>
            <p:nvPr/>
          </p:nvSpPr>
          <p:spPr>
            <a:xfrm>
              <a:off x="6191250" y="1333500"/>
              <a:ext cx="5429250" cy="2381250"/>
            </a:xfrm>
            <a:prstGeom prst="roundRect">
              <a:avLst>
                <a:gd name="adj" fmla="val 48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36" name="Rectangle 36"/>
            <p:cNvSpPr/>
            <p:nvPr/>
          </p:nvSpPr>
          <p:spPr>
            <a:xfrm>
              <a:off x="6191250" y="1333500"/>
              <a:ext cx="5429250" cy="438150"/>
            </a:xfrm>
            <a:prstGeom prst="roundRect">
              <a:avLst>
                <a:gd name="adj" fmla="val 26087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191250" y="1657350"/>
              <a:ext cx="5429250" cy="114300"/>
            </a:xfrm>
            <a:prstGeom prst="rect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381750" y="142875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EFE6DD">
                <a:alpha val="15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95584" y="154400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B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22758" y="1481614"/>
              <a:ext cx="211472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后端 · Spring Boot 3.2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381750" y="1905000"/>
              <a:ext cx="914400" cy="209550"/>
            </a:xfrm>
            <a:prstGeom prst="roundRect">
              <a:avLst>
                <a:gd name="adj" fmla="val 18182"/>
              </a:avLst>
            </a:prstGeom>
            <a:solidFill>
              <a:srgbClr val="AE6339">
                <a:alpha val="8000"/>
              </a:srgbClr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477391" y="1958816"/>
              <a:ext cx="7231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AE6339"/>
                  </a:solidFill>
                  <a:latin typeface="Consolas"/>
                  <a:ea typeface="Microsoft YaHei"/>
                  <a:cs typeface="Consolas"/>
                </a:rPr>
                <a:t>Spring Boot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372350" y="1905000"/>
              <a:ext cx="609600" cy="209550"/>
            </a:xfrm>
            <a:prstGeom prst="roundRect">
              <a:avLst>
                <a:gd name="adj" fmla="val 18182"/>
              </a:avLst>
            </a:prstGeom>
            <a:solidFill>
              <a:srgbClr val="AE6339">
                <a:alpha val="8000"/>
              </a:srgb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426292" y="1958816"/>
              <a:ext cx="50171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AE6339"/>
                  </a:solidFill>
                  <a:latin typeface="Consolas"/>
                  <a:ea typeface="Microsoft YaHei"/>
                  <a:cs typeface="Consolas"/>
                </a:rPr>
                <a:t>MyBatis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058150" y="1905000"/>
              <a:ext cx="609600" cy="209550"/>
            </a:xfrm>
            <a:prstGeom prst="roundRect">
              <a:avLst>
                <a:gd name="adj" fmla="val 18182"/>
              </a:avLst>
            </a:prstGeom>
            <a:solidFill>
              <a:srgbClr val="AE6339">
                <a:alpha val="8000"/>
              </a:srgbClr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153210" y="1958816"/>
              <a:ext cx="41948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AE6339"/>
                  </a:solidFill>
                  <a:latin typeface="Consolas"/>
                  <a:ea typeface="Microsoft YaHei"/>
                  <a:cs typeface="Consolas"/>
                </a:rPr>
                <a:t>MySQL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743950" y="1905000"/>
              <a:ext cx="609600" cy="209550"/>
            </a:xfrm>
            <a:prstGeom prst="roundRect">
              <a:avLst>
                <a:gd name="adj" fmla="val 18182"/>
              </a:avLst>
            </a:prstGeom>
            <a:solidFill>
              <a:srgbClr val="AE6339">
                <a:alpha val="8000"/>
              </a:srgb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921245" y="1958816"/>
              <a:ext cx="25500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AE6339"/>
                  </a:solidFill>
                  <a:latin typeface="Consolas"/>
                  <a:ea typeface="Microsoft YaHei"/>
                  <a:cs typeface="Consolas"/>
                </a:rPr>
                <a:t>JWT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438900" y="2295525"/>
              <a:ext cx="76200" cy="7620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97015" y="226790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推荐代理服务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598920" y="2455545"/>
              <a:ext cx="25728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前端→后端→模型服务 请求转发与结果持久化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438900" y="2771775"/>
              <a:ext cx="76200" cy="7620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597015" y="274415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隐私预算管理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598920" y="2931795"/>
              <a:ext cx="31381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MySQL持久化privacy_config + privacy_ledger审计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438900" y="3248025"/>
              <a:ext cx="76200" cy="7620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97015" y="3220402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认证与权限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598920" y="3408045"/>
              <a:ext cx="350615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JWT HMAC-SHA + 角色授权（admin/doctor/researcher）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571500" y="3905250"/>
            <a:ext cx="5429250" cy="2381250"/>
            <a:chOff x="571500" y="3905250"/>
            <a:chExt cx="5429250" cy="2381250"/>
          </a:xfrm>
        </p:grpSpPr>
        <p:sp>
          <p:nvSpPr>
            <p:cNvPr id="59" name="Rectangle 59"/>
            <p:cNvSpPr/>
            <p:nvPr/>
          </p:nvSpPr>
          <p:spPr>
            <a:xfrm>
              <a:off x="571500" y="3905250"/>
              <a:ext cx="5429250" cy="2381250"/>
            </a:xfrm>
            <a:prstGeom prst="roundRect">
              <a:avLst>
                <a:gd name="adj" fmla="val 48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60" name="Rectangle 60"/>
            <p:cNvSpPr/>
            <p:nvPr/>
          </p:nvSpPr>
          <p:spPr>
            <a:xfrm>
              <a:off x="571500" y="3905250"/>
              <a:ext cx="5429250" cy="438150"/>
            </a:xfrm>
            <a:prstGeom prst="roundRect">
              <a:avLst>
                <a:gd name="adj" fmla="val 26087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571500" y="4229100"/>
              <a:ext cx="5429250" cy="1143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762000" y="400050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EFE6DD">
                <a:alpha val="15000"/>
              </a:srgbClr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59732" y="4115752"/>
              <a:ext cx="1474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M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203008" y="4053364"/>
              <a:ext cx="272084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模型服务 · FastAPI + PyTorch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762000" y="4476750"/>
              <a:ext cx="609600" cy="209550"/>
            </a:xfrm>
            <a:prstGeom prst="roundRect">
              <a:avLst>
                <a:gd name="adj" fmla="val 18182"/>
              </a:avLst>
            </a:prstGeom>
            <a:solidFill>
              <a:srgbClr val="2E7D32">
                <a:alpha val="8000"/>
              </a:srgbClr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28594" y="4530566"/>
              <a:ext cx="47641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FastAPI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1447800" y="4476750"/>
              <a:ext cx="609600" cy="209550"/>
            </a:xfrm>
            <a:prstGeom prst="roundRect">
              <a:avLst>
                <a:gd name="adj" fmla="val 18182"/>
              </a:avLst>
            </a:prstGeom>
            <a:solidFill>
              <a:srgbClr val="2E7D32">
                <a:alpha val="8000"/>
              </a:srgbClr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498580" y="4530566"/>
              <a:ext cx="5080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PyTorch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2133600" y="4476750"/>
              <a:ext cx="609600" cy="209550"/>
            </a:xfrm>
            <a:prstGeom prst="roundRect">
              <a:avLst>
                <a:gd name="adj" fmla="val 18182"/>
              </a:avLst>
            </a:prstGeom>
            <a:solidFill>
              <a:srgbClr val="2E7D32">
                <a:alpha val="8000"/>
              </a:srgbClr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2206520" y="4530566"/>
              <a:ext cx="46376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Opacus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2819400" y="4476750"/>
              <a:ext cx="609600" cy="209550"/>
            </a:xfrm>
            <a:prstGeom prst="roundRect">
              <a:avLst>
                <a:gd name="adj" fmla="val 18182"/>
              </a:avLst>
            </a:prstGeom>
            <a:solidFill>
              <a:srgbClr val="2E7D32">
                <a:alpha val="8000"/>
              </a:srgbClr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2885994" y="4530566"/>
              <a:ext cx="47641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Uvicorn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819150" y="4867275"/>
              <a:ext cx="76200" cy="762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977265" y="483965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三层推荐引擎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79170" y="5027295"/>
              <a:ext cx="256632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SafetyFilter → RuleMarker → DeepFM排序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819150" y="5343525"/>
              <a:ext cx="76200" cy="762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77265" y="5315902"/>
              <a:ext cx="8478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DP噪声注入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79170" y="5503545"/>
              <a:ext cx="25991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Laplace/Gaussian + 安全后处理 + 置信区间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819150" y="5819775"/>
              <a:ext cx="76200" cy="762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977265" y="579215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翻译管线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979170" y="5979795"/>
              <a:ext cx="40450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disease_mapper + drug_translator + translation_mapper EN→CN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6191250" y="3905250"/>
            <a:ext cx="5429250" cy="2381250"/>
            <a:chOff x="6191250" y="3905250"/>
            <a:chExt cx="5429250" cy="2381250"/>
          </a:xfrm>
        </p:grpSpPr>
        <p:sp>
          <p:nvSpPr>
            <p:cNvPr id="83" name="Rectangle 83"/>
            <p:cNvSpPr/>
            <p:nvPr/>
          </p:nvSpPr>
          <p:spPr>
            <a:xfrm>
              <a:off x="6191250" y="3905250"/>
              <a:ext cx="5429250" cy="2381250"/>
            </a:xfrm>
            <a:prstGeom prst="roundRect">
              <a:avLst>
                <a:gd name="adj" fmla="val 4800"/>
              </a:avLst>
            </a:prstGeom>
            <a:solidFill>
              <a:srgbClr val="FFFFFF"/>
            </a:solidFill>
            <a:ln w="9525">
              <a:solidFill>
                <a:srgbClr val="C62828">
                  <a:alpha val="30000"/>
                </a:srgbClr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84" name="Rectangle 84"/>
            <p:cNvSpPr/>
            <p:nvPr/>
          </p:nvSpPr>
          <p:spPr>
            <a:xfrm>
              <a:off x="6191250" y="3905250"/>
              <a:ext cx="5429250" cy="438150"/>
            </a:xfrm>
            <a:prstGeom prst="roundRect">
              <a:avLst>
                <a:gd name="adj" fmla="val 26087"/>
              </a:avLst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6191250" y="4229100"/>
              <a:ext cx="5429250" cy="11430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6381750" y="400050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EFE6DD">
                <a:alpha val="15000"/>
              </a:srgbClr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495584" y="411575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S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822758" y="4053364"/>
              <a:ext cx="12055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安全数据覆盖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6381750" y="4514850"/>
              <a:ext cx="1524000" cy="685800"/>
            </a:xfrm>
            <a:prstGeom prst="roundRect">
              <a:avLst>
                <a:gd name="adj" fmla="val 11111"/>
              </a:avLst>
            </a:prstGeom>
            <a:solidFill>
              <a:srgbClr val="C62828">
                <a:alpha val="5000"/>
              </a:srgbClr>
            </a:solidFill>
            <a:ln w="9525">
              <a:solidFill>
                <a:srgbClr val="C62828">
                  <a:alpha val="20000"/>
                </a:srgbClr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6803708" y="4665345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禁忌症覆盖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6741343" y="4853940"/>
              <a:ext cx="804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95.3%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8048625" y="4514850"/>
              <a:ext cx="1524000" cy="685800"/>
            </a:xfrm>
            <a:prstGeom prst="roundRect">
              <a:avLst>
                <a:gd name="adj" fmla="val 11111"/>
              </a:avLst>
            </a:prstGeom>
            <a:solidFill>
              <a:srgbClr val="AE6339">
                <a:alpha val="5000"/>
              </a:srgbClr>
            </a:solidFill>
            <a:ln w="9525">
              <a:solidFill>
                <a:srgbClr val="AE6339">
                  <a:alpha val="20000"/>
                </a:srgbClr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8536305" y="4665345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交互覆盖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8442722" y="4853940"/>
              <a:ext cx="73580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81.5%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9715500" y="4514850"/>
              <a:ext cx="1714500" cy="685800"/>
            </a:xfrm>
            <a:prstGeom prst="roundRect">
              <a:avLst>
                <a:gd name="adj" fmla="val 11111"/>
              </a:avLst>
            </a:prstGeom>
            <a:solidFill>
              <a:srgbClr val="2E7D32">
                <a:alpha val="5000"/>
              </a:srgbClr>
            </a:solidFill>
            <a:ln w="9525">
              <a:solidFill>
                <a:srgbClr val="2E7D32">
                  <a:alpha val="20000"/>
                </a:srgbClr>
              </a:solidFill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10166985" y="466534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综合安全覆盖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0170343" y="4853940"/>
              <a:ext cx="804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97.0%</a:t>
              </a:r>
            </a:p>
          </p:txBody>
        </p:sp>
        <p:sp>
          <p:nvSpPr>
            <p:cNvPr id="98" name="Ellipse 98"/>
            <p:cNvSpPr/>
            <p:nvPr/>
          </p:nvSpPr>
          <p:spPr>
            <a:xfrm>
              <a:off x="6534150" y="5410200"/>
              <a:ext cx="76200" cy="7620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6692265" y="5382578"/>
              <a:ext cx="22567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绝对禁忌 + 过敏冲突 + 妊娠X级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6694170" y="5570220"/>
              <a:ext cx="16133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硬过滤排除，DP噪声零穿透</a:t>
              </a:r>
            </a:p>
          </p:txBody>
        </p:sp>
        <p:sp>
          <p:nvSpPr>
            <p:cNvPr id="101" name="Ellipse 101"/>
            <p:cNvSpPr/>
            <p:nvPr/>
          </p:nvSpPr>
          <p:spPr>
            <a:xfrm>
              <a:off x="6534150" y="5886450"/>
              <a:ext cx="76200" cy="7620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6692265" y="5858828"/>
              <a:ext cx="22729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相对禁忌 + 中等交互 + 妊娠C/D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6694170" y="6046470"/>
              <a:ext cx="225085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软标记不排除，添加requires_review</a:t>
              </a:r>
            </a:p>
          </p:txBody>
        </p:sp>
      </p:grpSp>
      <p:sp>
        <p:nvSpPr>
          <p:cNvPr id="105" name="TextBox 105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08</a:t>
            </a:r>
          </a:p>
        </p:txBody>
      </p:sp>
      <p:sp>
        <p:nvSpPr>
          <p:cNvPr id="106" name="Rectangle 106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4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58" grpId="0"/>
      <p:bldP spid="82" grpId="0"/>
      <p:bldP spid="10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71500" y="285750"/>
            <a:ext cx="4164997" cy="504825"/>
            <a:chOff x="571500" y="285750"/>
            <a:chExt cx="4164997" cy="504825"/>
          </a:xfrm>
        </p:grpSpPr>
        <p:sp>
          <p:nvSpPr>
            <p:cNvPr id="5" name="Rectangle 5"/>
            <p:cNvSpPr/>
            <p:nvPr/>
          </p:nvSpPr>
          <p:spPr>
            <a:xfrm>
              <a:off x="571500" y="285750"/>
              <a:ext cx="57150" cy="304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7235" y="303848"/>
              <a:ext cx="214279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实验结果与分析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0570" y="607695"/>
              <a:ext cx="39859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PHASE 3 EXPERIMENTS · 58,525 SAMPLES · 1,815 DRUG CANDIDATES</a:t>
              </a:r>
            </a:p>
          </p:txBody>
        </p:sp>
      </p:grpSp>
      <p:sp>
        <p:nvSpPr>
          <p:cNvPr id="9" name="Rectangle 9"/>
          <p:cNvSpPr/>
          <p:nvPr/>
        </p:nvSpPr>
        <p:spPr>
          <a:xfrm>
            <a:off x="571500" y="809625"/>
            <a:ext cx="11049000" cy="342900"/>
          </a:xfrm>
          <a:prstGeom prst="roundRect">
            <a:avLst>
              <a:gd name="adj" fmla="val 22222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7712" y="907256"/>
            <a:ext cx="774028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核心发现：DP保护不降质，模型区分度反而提升 | AUC-PR持平0.966，Separation从0.75提升至0.85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571500" y="1333500"/>
            <a:ext cx="6667500" cy="3619500"/>
            <a:chOff x="571500" y="1333500"/>
            <a:chExt cx="6667500" cy="3619500"/>
          </a:xfrm>
        </p:grpSpPr>
        <p:sp>
          <p:nvSpPr>
            <p:cNvPr id="11" name="Rectangle 11"/>
            <p:cNvSpPr/>
            <p:nvPr/>
          </p:nvSpPr>
          <p:spPr>
            <a:xfrm>
              <a:off x="571500" y="1333500"/>
              <a:ext cx="6667500" cy="3619500"/>
            </a:xfrm>
            <a:prstGeom prst="roundRect">
              <a:avLst>
                <a:gd name="adj" fmla="val 3158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2" name="TextBox 12"/>
            <p:cNvSpPr txBox="1"/>
            <p:nvPr/>
          </p:nvSpPr>
          <p:spPr>
            <a:xfrm>
              <a:off x="746760" y="1470660"/>
              <a:ext cx="23215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AUC-PR 与 Separation 对比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381500" y="1447800"/>
              <a:ext cx="133350" cy="133350"/>
            </a:xfrm>
            <a:prstGeom prst="roundRect">
              <a:avLst>
                <a:gd name="adj" fmla="val 21429"/>
              </a:avLst>
            </a:prstGeom>
            <a:gradFill>
              <a:gsLst>
                <a:gs pos="0">
                  <a:srgbClr val="2E3F55"/>
                </a:gs>
                <a:gs pos="100000">
                  <a:srgbClr val="1A2A3D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560570" y="1464945"/>
              <a:ext cx="3843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No-DP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048250" y="1447800"/>
              <a:ext cx="133350" cy="133350"/>
            </a:xfrm>
            <a:prstGeom prst="roundRect">
              <a:avLst>
                <a:gd name="adj" fmla="val 21429"/>
              </a:avLst>
            </a:prstGeom>
            <a:gradFill>
              <a:gsLst>
                <a:gs pos="0">
                  <a:srgbClr val="AE6339"/>
                </a:gs>
                <a:gs pos="100000">
                  <a:srgbClr val="8B4E2B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27320" y="1464945"/>
              <a:ext cx="5354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DP ε=1.0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905500" y="1447800"/>
              <a:ext cx="133350" cy="133350"/>
            </a:xfrm>
            <a:prstGeom prst="roundRect">
              <a:avLst>
                <a:gd name="adj" fmla="val 21429"/>
              </a:avLst>
            </a:prstGeom>
            <a:gradFill>
              <a:gsLst>
                <a:gs pos="0">
                  <a:srgbClr val="2E7D32"/>
                </a:gs>
                <a:gs pos="100000">
                  <a:srgbClr val="1B5E20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084570" y="1464945"/>
              <a:ext cx="5683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DP ε=0.5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1333500" y="457200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  <a:prstDash val="dash"/>
            </a:ln>
          </p:spPr>
        </p:sp>
        <p:sp>
          <p:nvSpPr>
            <p:cNvPr id="20" name="Line 20"/>
            <p:cNvSpPr/>
            <p:nvPr/>
          </p:nvSpPr>
          <p:spPr>
            <a:xfrm>
              <a:off x="1333500" y="400050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  <a:prstDash val="dash"/>
            </a:ln>
          </p:spPr>
        </p:sp>
        <p:sp>
          <p:nvSpPr>
            <p:cNvPr id="21" name="Line 21"/>
            <p:cNvSpPr/>
            <p:nvPr/>
          </p:nvSpPr>
          <p:spPr>
            <a:xfrm>
              <a:off x="1333500" y="342900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  <a:prstDash val="dash"/>
            </a:ln>
          </p:spPr>
        </p:sp>
        <p:sp>
          <p:nvSpPr>
            <p:cNvPr id="22" name="Line 22"/>
            <p:cNvSpPr/>
            <p:nvPr/>
          </p:nvSpPr>
          <p:spPr>
            <a:xfrm>
              <a:off x="1333500" y="285750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  <a:prstDash val="dash"/>
            </a:ln>
          </p:spPr>
        </p:sp>
        <p:sp>
          <p:nvSpPr>
            <p:cNvPr id="23" name="Line 23"/>
            <p:cNvSpPr/>
            <p:nvPr/>
          </p:nvSpPr>
          <p:spPr>
            <a:xfrm>
              <a:off x="1333500" y="228600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  <a:prstDash val="dash"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09936" y="4512945"/>
              <a:ext cx="2397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B8D"/>
                  </a:solidFill>
                  <a:latin typeface="Consolas"/>
                  <a:ea typeface="Microsoft YaHei"/>
                  <a:cs typeface="Consolas"/>
                </a:rPr>
                <a:t>0.0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09936" y="3941445"/>
              <a:ext cx="2397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B8D"/>
                  </a:solidFill>
                  <a:latin typeface="Consolas"/>
                  <a:ea typeface="Microsoft YaHei"/>
                  <a:cs typeface="Consolas"/>
                </a:rPr>
                <a:t>0.2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09936" y="3369945"/>
              <a:ext cx="2397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B8D"/>
                  </a:solidFill>
                  <a:latin typeface="Consolas"/>
                  <a:ea typeface="Microsoft YaHei"/>
                  <a:cs typeface="Consolas"/>
                </a:rPr>
                <a:t>0.4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09936" y="2798445"/>
              <a:ext cx="2397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B8D"/>
                  </a:solidFill>
                  <a:latin typeface="Consolas"/>
                  <a:ea typeface="Microsoft YaHei"/>
                  <a:cs typeface="Consolas"/>
                </a:rPr>
                <a:t>0.6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09936" y="2226945"/>
              <a:ext cx="2397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B8D"/>
                  </a:solidFill>
                  <a:latin typeface="Consolas"/>
                  <a:ea typeface="Microsoft YaHei"/>
                  <a:cs typeface="Consolas"/>
                </a:rPr>
                <a:t>0.8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42797" y="1807845"/>
              <a:ext cx="20688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B8D"/>
                  </a:solidFill>
                  <a:latin typeface="Consolas"/>
                  <a:ea typeface="Microsoft YaHei"/>
                  <a:cs typeface="Consolas"/>
                </a:rPr>
                <a:t>1.0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1333500" y="1809750"/>
              <a:ext cx="9525" cy="2762250"/>
            </a:xfrm>
            <a:custGeom>
              <a:avLst/>
              <a:gdLst/>
              <a:ahLst/>
              <a:cxnLst/>
              <a:rect l="l" t="t" r="r" b="b"/>
              <a:pathLst>
                <a:path w="9525" h="2762250">
                  <a:moveTo>
                    <a:pt x="0" y="0"/>
                  </a:moveTo>
                  <a:lnTo>
                    <a:pt x="0" y="2762250"/>
                  </a:lnTo>
                </a:path>
              </a:pathLst>
            </a:custGeom>
            <a:noFill/>
            <a:ln w="14288">
              <a:solidFill>
                <a:srgbClr val="6B7B8D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1333500" y="457200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14288">
              <a:solidFill>
                <a:srgbClr val="6B7B8D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1905000" y="1905000"/>
              <a:ext cx="476250" cy="2667000"/>
            </a:xfrm>
            <a:prstGeom prst="roundRect">
              <a:avLst>
                <a:gd name="adj" fmla="val 8000"/>
              </a:avLst>
            </a:prstGeom>
            <a:gradFill>
              <a:gsLst>
                <a:gs pos="0">
                  <a:srgbClr val="2E3F55"/>
                </a:gs>
                <a:gs pos="100000">
                  <a:srgbClr val="1A2A3D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923896" y="1749266"/>
              <a:ext cx="4384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0.9668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2476500" y="1905000"/>
              <a:ext cx="476250" cy="2667000"/>
            </a:xfrm>
            <a:prstGeom prst="roundRect">
              <a:avLst>
                <a:gd name="adj" fmla="val 8000"/>
              </a:avLst>
            </a:prstGeom>
            <a:gradFill>
              <a:gsLst>
                <a:gs pos="0">
                  <a:srgbClr val="AE6339"/>
                </a:gs>
                <a:gs pos="100000">
                  <a:srgbClr val="8B4E2B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495396" y="1749266"/>
              <a:ext cx="4384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AE6339"/>
                  </a:solidFill>
                  <a:latin typeface="Consolas"/>
                  <a:ea typeface="Microsoft YaHei"/>
                  <a:cs typeface="Consolas"/>
                </a:rPr>
                <a:t>0.9658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048000" y="1905000"/>
              <a:ext cx="476250" cy="2667000"/>
            </a:xfrm>
            <a:prstGeom prst="roundRect">
              <a:avLst>
                <a:gd name="adj" fmla="val 8000"/>
              </a:avLst>
            </a:prstGeom>
            <a:gradFill>
              <a:gsLst>
                <a:gs pos="0">
                  <a:srgbClr val="2E7D32"/>
                </a:gs>
                <a:gs pos="100000">
                  <a:srgbClr val="1B5E20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066896" y="1749266"/>
              <a:ext cx="4384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0.9662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435607" y="4668202"/>
              <a:ext cx="5580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AUC-PR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572000" y="2495550"/>
              <a:ext cx="476250" cy="2076450"/>
            </a:xfrm>
            <a:prstGeom prst="roundRect">
              <a:avLst>
                <a:gd name="adj" fmla="val 8000"/>
              </a:avLst>
            </a:prstGeom>
            <a:gradFill>
              <a:gsLst>
                <a:gs pos="0">
                  <a:srgbClr val="2E3F55"/>
                </a:gs>
                <a:gs pos="100000">
                  <a:srgbClr val="1A2A3D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590896" y="2339816"/>
              <a:ext cx="4384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0.7506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143500" y="2219325"/>
              <a:ext cx="476250" cy="2352675"/>
            </a:xfrm>
            <a:prstGeom prst="roundRect">
              <a:avLst>
                <a:gd name="adj" fmla="val 8000"/>
              </a:avLst>
            </a:prstGeom>
            <a:gradFill>
              <a:gsLst>
                <a:gs pos="0">
                  <a:srgbClr val="AE6339"/>
                </a:gs>
                <a:gs pos="100000">
                  <a:srgbClr val="8B4E2B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162396" y="2063591"/>
              <a:ext cx="4384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AE6339"/>
                  </a:solidFill>
                  <a:latin typeface="Consolas"/>
                  <a:ea typeface="Microsoft YaHei"/>
                  <a:cs typeface="Consolas"/>
                </a:rPr>
                <a:t>0.8505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715000" y="2219325"/>
              <a:ext cx="476250" cy="2352675"/>
            </a:xfrm>
            <a:prstGeom prst="roundRect">
              <a:avLst>
                <a:gd name="adj" fmla="val 8000"/>
              </a:avLst>
            </a:prstGeom>
            <a:gradFill>
              <a:gsLst>
                <a:gs pos="0">
                  <a:srgbClr val="2E7D32"/>
                </a:gs>
                <a:gs pos="100000">
                  <a:srgbClr val="1B5E20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733896" y="2063591"/>
              <a:ext cx="4384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0.8506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945612" y="4668202"/>
              <a:ext cx="8720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Separation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4810125" y="2190750"/>
              <a:ext cx="571500" cy="266700"/>
            </a:xfrm>
            <a:custGeom>
              <a:avLst/>
              <a:gdLst/>
              <a:ahLst/>
              <a:cxnLst/>
              <a:rect l="l" t="t" r="r" b="b"/>
              <a:pathLst>
                <a:path w="571500" h="266700">
                  <a:moveTo>
                    <a:pt x="0" y="26670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AE6339"/>
              </a:solidFill>
              <a:custDash>
                <a:ds d="266666" sp="200000"/>
              </a:custDash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037772" y="2082641"/>
              <a:ext cx="40682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AE6339"/>
                  </a:solidFill>
                  <a:latin typeface="Arial"/>
                  <a:ea typeface="Microsoft YaHei"/>
                  <a:cs typeface="Arial"/>
                </a:rPr>
                <a:t>+13.3%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7429500" y="1333500"/>
            <a:ext cx="4191000" cy="3619500"/>
            <a:chOff x="7429500" y="1333500"/>
            <a:chExt cx="4191000" cy="3619500"/>
          </a:xfrm>
        </p:grpSpPr>
        <p:sp>
          <p:nvSpPr>
            <p:cNvPr id="49" name="Rectangle 49"/>
            <p:cNvSpPr/>
            <p:nvPr/>
          </p:nvSpPr>
          <p:spPr>
            <a:xfrm>
              <a:off x="7429500" y="1333500"/>
              <a:ext cx="4191000" cy="3619500"/>
            </a:xfrm>
            <a:prstGeom prst="roundRect">
              <a:avLst>
                <a:gd name="adj" fmla="val 3158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50" name="TextBox 50"/>
            <p:cNvSpPr txBox="1"/>
            <p:nvPr/>
          </p:nvSpPr>
          <p:spPr>
            <a:xfrm>
              <a:off x="7604760" y="147066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核心发现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620000" y="1762125"/>
              <a:ext cx="304800" cy="3048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734912" y="1848802"/>
              <a:ext cx="749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006715" y="1791652"/>
              <a:ext cx="12021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AUC-PR基本持平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008620" y="1979295"/>
              <a:ext cx="16264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0.9668 → 0.9658 → 0.9662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008620" y="2131695"/>
              <a:ext cx="17447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DP噪声对推荐精度影响可忽略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7620000" y="2428875"/>
              <a:ext cx="304800" cy="304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714784" y="251555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2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006715" y="2458402"/>
              <a:ext cx="15161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Separation显著提升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008620" y="2646045"/>
              <a:ext cx="16264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0.7506 → 0.8505 → 0.8506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008620" y="2798445"/>
              <a:ext cx="19067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AE6339"/>
                  </a:solidFill>
                  <a:latin typeface="Arial"/>
                  <a:ea typeface="Microsoft YaHei"/>
                  <a:cs typeface="Arial"/>
                </a:rPr>
                <a:t>DP模型更好区分高分/低分药物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7620000" y="3095625"/>
              <a:ext cx="304800" cy="304800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714784" y="318230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3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006715" y="3125152"/>
              <a:ext cx="1306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安全过滤100%保留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008620" y="3312795"/>
              <a:ext cx="17579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SafetyFilter层DP噪声零穿透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008620" y="3465195"/>
              <a:ext cx="16724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所有ε值下安全过滤完全一致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7620000" y="3762375"/>
              <a:ext cx="3810000" cy="571500"/>
            </a:xfrm>
            <a:prstGeom prst="roundRect">
              <a:avLst>
                <a:gd name="adj" fmla="val 13333"/>
              </a:avLst>
            </a:prstGeom>
            <a:solidFill>
              <a:srgbClr val="2E7D32">
                <a:alpha val="8000"/>
              </a:srgbClr>
            </a:solidFill>
            <a:ln w="9525">
              <a:solidFill>
                <a:srgbClr val="2E7D32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797165" y="388715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安全保障验证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799070" y="4093845"/>
              <a:ext cx="21982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临床安全后处理在所有ε值下结果一致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7620000" y="4429125"/>
              <a:ext cx="3810000" cy="381000"/>
            </a:xfrm>
            <a:prstGeom prst="roundRect">
              <a:avLst>
                <a:gd name="adj" fmla="val 15000"/>
              </a:avLst>
            </a:prstGeom>
            <a:solidFill>
              <a:srgbClr val="2E3F55">
                <a:alpha val="4000"/>
              </a:srgbClr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799070" y="4570095"/>
              <a:ext cx="30789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训练样本: 58,525 | 药物候选: 1,815 | embed_dim=8</a:t>
              </a:r>
            </a:p>
          </p:txBody>
        </p:sp>
      </p:grpSp>
      <p:sp>
        <p:nvSpPr>
          <p:cNvPr id="72" name="Rectangle 72"/>
          <p:cNvSpPr/>
          <p:nvPr/>
        </p:nvSpPr>
        <p:spPr>
          <a:xfrm>
            <a:off x="571500" y="5143500"/>
            <a:ext cx="11049000" cy="1428750"/>
          </a:xfrm>
          <a:prstGeom prst="roundRect">
            <a:avLst>
              <a:gd name="adj" fmla="val 8000"/>
            </a:avLst>
          </a:prstGeom>
          <a:solidFill>
            <a:srgbClr val="2E3F55">
              <a:alpha val="4000"/>
            </a:srgbClr>
          </a:solidFill>
          <a:ln w="9525">
            <a:solidFill>
              <a:srgbClr val="D4B5B2"/>
            </a:solidFill>
            <a:prstDash val="dash"/>
          </a:ln>
        </p:spPr>
      </p:sp>
      <p:sp>
        <p:nvSpPr>
          <p:cNvPr id="73" name="TextBox 73"/>
          <p:cNvSpPr txBox="1"/>
          <p:nvPr/>
        </p:nvSpPr>
        <p:spPr>
          <a:xfrm>
            <a:off x="4487020" y="5284470"/>
            <a:ext cx="321795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ε值与隐私-效用权衡 · EXPERIMENTAL VERIFICATION</a:t>
            </a:r>
          </a:p>
        </p:txBody>
      </p:sp>
      <p:sp>
        <p:nvSpPr>
          <p:cNvPr id="74" name="Rectangle 74"/>
          <p:cNvSpPr/>
          <p:nvPr/>
        </p:nvSpPr>
        <p:spPr>
          <a:xfrm>
            <a:off x="952500" y="5524500"/>
            <a:ext cx="304800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4288">
            <a:solidFill>
              <a:srgbClr val="2E3F55"/>
            </a:solidFill>
          </a:ln>
          <a:effectLst>
            <a:outerShdw blurRad="76200" dist="19050" dir="5400000" algn="ctr" rotWithShape="0">
              <a:srgbClr val="2E3F55">
                <a:alpha val="4500"/>
              </a:srgbClr>
            </a:outerShdw>
          </a:effectLst>
        </p:spPr>
      </p:sp>
      <p:sp>
        <p:nvSpPr>
          <p:cNvPr id="75" name="Rectangle 75"/>
          <p:cNvSpPr/>
          <p:nvPr/>
        </p:nvSpPr>
        <p:spPr>
          <a:xfrm>
            <a:off x="952500" y="5524500"/>
            <a:ext cx="3048000" cy="57150"/>
          </a:xfrm>
          <a:prstGeom prst="roundRect">
            <a:avLst>
              <a:gd name="adj" fmla="val 50000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76" name="TextBox 76"/>
          <p:cNvSpPr txBox="1"/>
          <p:nvPr/>
        </p:nvSpPr>
        <p:spPr>
          <a:xfrm>
            <a:off x="1996602" y="5680710"/>
            <a:ext cx="95979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No-DP 基线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486186" y="5979795"/>
            <a:ext cx="4566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B8D"/>
                </a:solidFill>
                <a:latin typeface="Arial"/>
                <a:ea typeface="Microsoft YaHei"/>
                <a:cs typeface="Arial"/>
              </a:rPr>
              <a:t>AUC-PR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355762" y="6121718"/>
            <a:ext cx="7174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0.9668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2882027" y="5979795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B8D"/>
                </a:solidFill>
                <a:latin typeface="Arial"/>
                <a:ea typeface="Microsoft YaHei"/>
                <a:cs typeface="Arial"/>
              </a:rPr>
              <a:t>Separation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2879762" y="6121718"/>
            <a:ext cx="7174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0.7506</a:t>
            </a:r>
          </a:p>
        </p:txBody>
      </p:sp>
      <p:sp>
        <p:nvSpPr>
          <p:cNvPr id="81" name="Rectangle 81"/>
          <p:cNvSpPr/>
          <p:nvPr/>
        </p:nvSpPr>
        <p:spPr>
          <a:xfrm>
            <a:off x="4572000" y="5524500"/>
            <a:ext cx="304800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4288">
            <a:solidFill>
              <a:srgbClr val="AE6339"/>
            </a:solidFill>
          </a:ln>
          <a:effectLst>
            <a:outerShdw blurRad="76200" dist="19050" dir="5400000" algn="ctr" rotWithShape="0">
              <a:srgbClr val="2E3F55">
                <a:alpha val="4500"/>
              </a:srgbClr>
            </a:outerShdw>
          </a:effectLst>
        </p:spPr>
      </p:sp>
      <p:sp>
        <p:nvSpPr>
          <p:cNvPr id="82" name="Rectangle 82"/>
          <p:cNvSpPr/>
          <p:nvPr/>
        </p:nvSpPr>
        <p:spPr>
          <a:xfrm>
            <a:off x="4572000" y="5524500"/>
            <a:ext cx="3048000" cy="57150"/>
          </a:xfrm>
          <a:prstGeom prst="roundRect">
            <a:avLst>
              <a:gd name="adj" fmla="val 50000"/>
            </a:avLst>
          </a:prstGeom>
          <a:solidFill>
            <a:srgbClr val="AE6339"/>
          </a:solidFill>
          <a:ln>
            <a:noFill/>
          </a:ln>
        </p:spPr>
      </p:sp>
      <p:sp>
        <p:nvSpPr>
          <p:cNvPr id="83" name="TextBox 83"/>
          <p:cNvSpPr txBox="1"/>
          <p:nvPr/>
        </p:nvSpPr>
        <p:spPr>
          <a:xfrm>
            <a:off x="5721915" y="5680710"/>
            <a:ext cx="74817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AE6339"/>
                </a:solidFill>
                <a:latin typeface="Georgia"/>
                <a:ea typeface="SimSun"/>
                <a:cs typeface="Georgia"/>
              </a:rPr>
              <a:t>DP ε=1.0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5105686" y="5979795"/>
            <a:ext cx="4566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B8D"/>
                </a:solidFill>
                <a:latin typeface="Arial"/>
                <a:ea typeface="Microsoft YaHei"/>
                <a:cs typeface="Arial"/>
              </a:rPr>
              <a:t>AUC-PR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4975262" y="6121718"/>
            <a:ext cx="7174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AE6339"/>
                </a:solidFill>
                <a:latin typeface="Georgia"/>
                <a:ea typeface="SimSun"/>
                <a:cs typeface="Georgia"/>
              </a:rPr>
              <a:t>0.9658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6501527" y="5979795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B8D"/>
                </a:solidFill>
                <a:latin typeface="Arial"/>
                <a:ea typeface="Microsoft YaHei"/>
                <a:cs typeface="Arial"/>
              </a:rPr>
              <a:t>Separation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6499262" y="6121718"/>
            <a:ext cx="7174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AE6339"/>
                </a:solidFill>
                <a:latin typeface="Georgia"/>
                <a:ea typeface="SimSun"/>
                <a:cs typeface="Georgia"/>
              </a:rPr>
              <a:t>0.8505</a:t>
            </a:r>
          </a:p>
        </p:txBody>
      </p:sp>
      <p:sp>
        <p:nvSpPr>
          <p:cNvPr id="88" name="Rectangle 88"/>
          <p:cNvSpPr/>
          <p:nvPr/>
        </p:nvSpPr>
        <p:spPr>
          <a:xfrm>
            <a:off x="8191500" y="5524500"/>
            <a:ext cx="304800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4288">
            <a:solidFill>
              <a:srgbClr val="2E7D32"/>
            </a:solidFill>
          </a:ln>
          <a:effectLst>
            <a:outerShdw blurRad="76200" dist="19050" dir="5400000" algn="ctr" rotWithShape="0">
              <a:srgbClr val="2E3F55">
                <a:alpha val="4500"/>
              </a:srgbClr>
            </a:outerShdw>
          </a:effectLst>
        </p:spPr>
      </p:sp>
      <p:sp>
        <p:nvSpPr>
          <p:cNvPr id="89" name="Rectangle 89"/>
          <p:cNvSpPr/>
          <p:nvPr/>
        </p:nvSpPr>
        <p:spPr>
          <a:xfrm>
            <a:off x="8191500" y="5524500"/>
            <a:ext cx="3048000" cy="5715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</p:sp>
      <p:sp>
        <p:nvSpPr>
          <p:cNvPr id="90" name="TextBox 90"/>
          <p:cNvSpPr txBox="1"/>
          <p:nvPr/>
        </p:nvSpPr>
        <p:spPr>
          <a:xfrm>
            <a:off x="9318412" y="5680710"/>
            <a:ext cx="79417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E7D32"/>
                </a:solidFill>
                <a:latin typeface="Georgia"/>
                <a:ea typeface="SimSun"/>
                <a:cs typeface="Georgia"/>
              </a:rPr>
              <a:t>DP ε=0.5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8725186" y="5979795"/>
            <a:ext cx="4566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B8D"/>
                </a:solidFill>
                <a:latin typeface="Arial"/>
                <a:ea typeface="Microsoft YaHei"/>
                <a:cs typeface="Arial"/>
              </a:rPr>
              <a:t>AUC-PR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8594762" y="6121718"/>
            <a:ext cx="7174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Georgia"/>
                <a:ea typeface="SimSun"/>
                <a:cs typeface="Georgia"/>
              </a:rPr>
              <a:t>0.9662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10121027" y="5979795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B8D"/>
                </a:solidFill>
                <a:latin typeface="Arial"/>
                <a:ea typeface="Microsoft YaHei"/>
                <a:cs typeface="Arial"/>
              </a:rPr>
              <a:t>Separation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10118762" y="6121718"/>
            <a:ext cx="7174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Georgia"/>
                <a:ea typeface="SimSun"/>
                <a:cs typeface="Georgia"/>
              </a:rPr>
              <a:t>0.8506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09</a:t>
            </a:r>
          </a:p>
        </p:txBody>
      </p:sp>
      <p:sp>
        <p:nvSpPr>
          <p:cNvPr id="96" name="Rectangle 96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7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8382000" y="1714500"/>
            <a:ext cx="4191000" cy="4191000"/>
          </a:xfrm>
          <a:prstGeom prst="ellipse">
            <a:avLst/>
          </a:prstGeom>
          <a:solidFill>
            <a:srgbClr val="2E3F55">
              <a:alpha val="3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571500" y="4381500"/>
            <a:ext cx="2667000" cy="2667000"/>
          </a:xfrm>
          <a:prstGeom prst="ellipse">
            <a:avLst/>
          </a:prstGeom>
          <a:solidFill>
            <a:srgbClr val="AE6339">
              <a:alpha val="4000"/>
            </a:srgbClr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71500" y="381000"/>
            <a:ext cx="2471452" cy="466725"/>
            <a:chOff x="571500" y="381000"/>
            <a:chExt cx="2471452" cy="466725"/>
          </a:xfrm>
        </p:grpSpPr>
        <p:sp>
          <p:nvSpPr>
            <p:cNvPr id="7" name="Rectangle 7"/>
            <p:cNvSpPr/>
            <p:nvPr/>
          </p:nvSpPr>
          <p:spPr>
            <a:xfrm>
              <a:off x="571500" y="3810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35330" y="421005"/>
              <a:ext cx="230762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研究结论与展望</a:t>
              </a:r>
            </a:p>
          </p:txBody>
        </p:sp>
      </p:grpSp>
      <p:sp>
        <p:nvSpPr>
          <p:cNvPr id="10" name="Rectangle 10"/>
          <p:cNvSpPr/>
          <p:nvPr/>
        </p:nvSpPr>
        <p:spPr>
          <a:xfrm>
            <a:off x="571500" y="904875"/>
            <a:ext cx="11049000" cy="457200"/>
          </a:xfrm>
          <a:prstGeom prst="roundRect">
            <a:avLst>
              <a:gd name="adj" fmla="val 16667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44855" y="1044892"/>
            <a:ext cx="48786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安全与隐私可以兼得 — 四层架构 + DP噪声实现双保障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571500" y="1666875"/>
            <a:ext cx="11049000" cy="1095375"/>
            <a:chOff x="571500" y="1666875"/>
            <a:chExt cx="11049000" cy="1095375"/>
          </a:xfrm>
        </p:grpSpPr>
        <p:sp>
          <p:nvSpPr>
            <p:cNvPr id="12" name="Rectangle 12"/>
            <p:cNvSpPr/>
            <p:nvPr/>
          </p:nvSpPr>
          <p:spPr>
            <a:xfrm>
              <a:off x="571500" y="1666875"/>
              <a:ext cx="11049000" cy="1095375"/>
            </a:xfrm>
            <a:prstGeom prst="roundRect">
              <a:avLst>
                <a:gd name="adj" fmla="val 1043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3" name="Rectangle 13"/>
            <p:cNvSpPr/>
            <p:nvPr/>
          </p:nvSpPr>
          <p:spPr>
            <a:xfrm>
              <a:off x="571500" y="1666875"/>
              <a:ext cx="76200" cy="1095375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838200" y="182880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2E3F55">
                <a:alpha val="8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66807" y="1927860"/>
              <a:ext cx="85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14450" y="1885950"/>
              <a:ext cx="486870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四层推荐架构实现安全过滤与个性化推荐的统一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3912" y="2259806"/>
              <a:ext cx="68801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KnowledgeRouter语义匹配 → SafetyFilter硬排除 → RuleMarker软标记 → DeepFM个性化评分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4865" y="2506028"/>
              <a:ext cx="36917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安全数据综合覆盖率达97%，禁忌症95.3%，交互81.5%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71500" y="2952750"/>
            <a:ext cx="11049000" cy="1095375"/>
            <a:chOff x="571500" y="2952750"/>
            <a:chExt cx="11049000" cy="1095375"/>
          </a:xfrm>
        </p:grpSpPr>
        <p:sp>
          <p:nvSpPr>
            <p:cNvPr id="20" name="Rectangle 20"/>
            <p:cNvSpPr/>
            <p:nvPr/>
          </p:nvSpPr>
          <p:spPr>
            <a:xfrm>
              <a:off x="571500" y="2952750"/>
              <a:ext cx="11049000" cy="1095375"/>
            </a:xfrm>
            <a:prstGeom prst="roundRect">
              <a:avLst>
                <a:gd name="adj" fmla="val 1043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21" name="Rectangle 21"/>
            <p:cNvSpPr/>
            <p:nvPr/>
          </p:nvSpPr>
          <p:spPr>
            <a:xfrm>
              <a:off x="571500" y="2952750"/>
              <a:ext cx="76200" cy="1095375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838200" y="3114675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AE6339">
                <a:alpha val="8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3804" y="3213735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14450" y="3171825"/>
              <a:ext cx="532876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差分隐私保护不降低推荐质量，反而提升模型区分度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3912" y="3545681"/>
              <a:ext cx="62229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AUC-PR基本持平（0.9668→0.9662），Separation显著提升（0.75→0.85，+13.3%）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4865" y="3791902"/>
              <a:ext cx="27237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Arial"/>
                  <a:ea typeface="Microsoft YaHei"/>
                  <a:cs typeface="Arial"/>
                </a:rPr>
                <a:t>ε=0.5强隐私保护下仍保持高质量推荐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71500" y="4238625"/>
            <a:ext cx="11049000" cy="1095375"/>
            <a:chOff x="571500" y="4238625"/>
            <a:chExt cx="11049000" cy="1095375"/>
          </a:xfrm>
        </p:grpSpPr>
        <p:sp>
          <p:nvSpPr>
            <p:cNvPr id="28" name="Rectangle 28"/>
            <p:cNvSpPr/>
            <p:nvPr/>
          </p:nvSpPr>
          <p:spPr>
            <a:xfrm>
              <a:off x="571500" y="4238625"/>
              <a:ext cx="11049000" cy="1095375"/>
            </a:xfrm>
            <a:prstGeom prst="roundRect">
              <a:avLst>
                <a:gd name="adj" fmla="val 1043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29" name="Rectangle 29"/>
            <p:cNvSpPr/>
            <p:nvPr/>
          </p:nvSpPr>
          <p:spPr>
            <a:xfrm>
              <a:off x="571500" y="4238625"/>
              <a:ext cx="76200" cy="1095375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838200" y="440055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2E7D32">
                <a:alpha val="8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43804" y="4499610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14450" y="4457700"/>
              <a:ext cx="466167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安全后处理机制确保DP噪声不影响临床安全性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3912" y="4831556"/>
              <a:ext cx="63954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低分置零（score&lt;0.15→0）+ 上限截断（min(1.0, raw+0.35)）+ 置信区间 + 异常标记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4865" y="5077778"/>
              <a:ext cx="52920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SafetyFilter层100%保留，DP噪声零穿透，安全过滤在所有ε值下完全一致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71500" y="5572125"/>
            <a:ext cx="11049000" cy="952500"/>
            <a:chOff x="571500" y="5572125"/>
            <a:chExt cx="11049000" cy="952500"/>
          </a:xfrm>
        </p:grpSpPr>
        <p:sp>
          <p:nvSpPr>
            <p:cNvPr id="36" name="Rectangle 36"/>
            <p:cNvSpPr/>
            <p:nvPr/>
          </p:nvSpPr>
          <p:spPr>
            <a:xfrm>
              <a:off x="571500" y="5572125"/>
              <a:ext cx="11049000" cy="952500"/>
            </a:xfrm>
            <a:prstGeom prst="roundRect">
              <a:avLst>
                <a:gd name="adj" fmla="val 12000"/>
              </a:avLst>
            </a:prstGeom>
            <a:solidFill>
              <a:srgbClr val="2E3F55">
                <a:alpha val="6000"/>
              </a:srgbClr>
            </a:solidFill>
            <a:ln w="9525">
              <a:solidFill>
                <a:srgbClr val="2E3F55"/>
              </a:solidFill>
              <a:custDash>
                <a:ds d="600000" sp="400000"/>
              </a:custDash>
            </a:ln>
          </p:spPr>
        </p:sp>
        <p:sp>
          <p:nvSpPr>
            <p:cNvPr id="37" name="Rectangle 37"/>
            <p:cNvSpPr/>
            <p:nvPr/>
          </p:nvSpPr>
          <p:spPr>
            <a:xfrm>
              <a:off x="571500" y="5572125"/>
              <a:ext cx="76200" cy="9525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97255" y="571214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研究展望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876300" y="6057900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53465" y="6030278"/>
              <a:ext cx="38604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联邦学习扩展多机构协作，在不出域前提下联合训练模型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876300" y="6324600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53465" y="6296978"/>
              <a:ext cx="35154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更大规模药物数据集验证（扩展至5000+药物候选）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5676900" y="6057900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854065" y="6030278"/>
              <a:ext cx="27870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临床专家评估推荐结果的可信度与实用性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5676900" y="6324600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854065" y="6296978"/>
              <a:ext cx="35077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探索R-DP（Rényi差分隐私）更紧密的隐私预算组合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1497342" y="6570345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10</a:t>
            </a:r>
          </a:p>
        </p:txBody>
      </p:sp>
      <p:sp>
        <p:nvSpPr>
          <p:cNvPr id="49" name="Rectangle 49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7" grpId="0"/>
      <p:bldP spid="35" grpId="0"/>
      <p:bldP spid="4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3619500" y="952500"/>
            <a:ext cx="4953000" cy="4953000"/>
          </a:xfrm>
          <a:prstGeom prst="ellipse">
            <a:avLst/>
          </a:prstGeom>
          <a:solidFill>
            <a:srgbClr val="2E3F55">
              <a:alpha val="3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4381500" y="1714500"/>
            <a:ext cx="3429000" cy="3429000"/>
          </a:xfrm>
          <a:prstGeom prst="ellipse">
            <a:avLst/>
          </a:prstGeom>
          <a:solidFill>
            <a:srgbClr val="AE6339">
              <a:alpha val="3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110418" y="1832610"/>
            <a:ext cx="3971163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谢谢各位老师</a:t>
            </a:r>
          </a:p>
        </p:txBody>
      </p:sp>
      <p:sp>
        <p:nvSpPr>
          <p:cNvPr id="8" name="Line 8"/>
          <p:cNvSpPr/>
          <p:nvPr/>
        </p:nvSpPr>
        <p:spPr>
          <a:xfrm>
            <a:off x="4667250" y="257175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28575" cap="rnd">
            <a:solidFill>
              <a:srgbClr val="AE6339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4749641" y="2869882"/>
            <a:ext cx="269271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感谢指导教师的悉心指导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629150" y="3203258"/>
            <a:ext cx="29337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感谢答辩委员会的宝贵意见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3238500" y="3905250"/>
            <a:ext cx="5715000" cy="1143000"/>
            <a:chOff x="3238500" y="3905250"/>
            <a:chExt cx="5715000" cy="1143000"/>
          </a:xfrm>
        </p:grpSpPr>
        <p:sp>
          <p:nvSpPr>
            <p:cNvPr id="11" name="Rectangle 11"/>
            <p:cNvSpPr/>
            <p:nvPr/>
          </p:nvSpPr>
          <p:spPr>
            <a:xfrm>
              <a:off x="3238500" y="3905250"/>
              <a:ext cx="5715000" cy="1143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2" name="Line 12"/>
            <p:cNvSpPr/>
            <p:nvPr/>
          </p:nvSpPr>
          <p:spPr>
            <a:xfrm>
              <a:off x="6096000" y="4048125"/>
              <a:ext cx="9525" cy="857250"/>
            </a:xfrm>
            <a:custGeom>
              <a:avLst/>
              <a:gdLst/>
              <a:ahLst/>
              <a:cxnLst/>
              <a:rect l="l" t="t" r="r" b="b"/>
              <a:pathLst>
                <a:path w="9525" h="857250">
                  <a:moveTo>
                    <a:pt x="0" y="0"/>
                  </a:moveTo>
                  <a:lnTo>
                    <a:pt x="0" y="85725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355830" y="418099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论文题目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03294" y="4431506"/>
              <a:ext cx="17279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差分隐私保护的AI驱动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04094" y="4641056"/>
              <a:ext cx="1926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个性化医疗用药推荐系统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88089" y="4180999"/>
              <a:ext cx="4733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答辩人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97066" y="4407218"/>
              <a:ext cx="6553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晋修慧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98968" y="4696778"/>
              <a:ext cx="18515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河南工业大学 · 2026年5月</a:t>
              </a:r>
            </a:p>
          </p:txBody>
        </p:sp>
      </p:grpSp>
      <p:sp>
        <p:nvSpPr>
          <p:cNvPr id="20" name="Rectangle 20"/>
          <p:cNvSpPr/>
          <p:nvPr/>
        </p:nvSpPr>
        <p:spPr>
          <a:xfrm>
            <a:off x="5524500" y="5429250"/>
            <a:ext cx="1143000" cy="38100"/>
          </a:xfrm>
          <a:prstGeom prst="roundRect">
            <a:avLst>
              <a:gd name="adj" fmla="val 50000"/>
            </a:avLst>
          </a:prstGeom>
          <a:solidFill>
            <a:srgbClr val="AE6339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1530203" y="6570345"/>
            <a:ext cx="10172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11</a:t>
            </a:r>
          </a:p>
        </p:txBody>
      </p:sp>
      <p:sp>
        <p:nvSpPr>
          <p:cNvPr id="22" name="Rectangle 22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
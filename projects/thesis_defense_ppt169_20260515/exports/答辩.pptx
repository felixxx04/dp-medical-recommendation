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关键词：题目、姓名、指导教师</a:t>
            </a:r>
            <a:endParaRPr lang="zh-CN" dirty="0"/>
          </a:p>
          <a:p>
            <a:r>
              <a:rPr lang="zh-CN" dirty="0"/>
              <a:t>• 时间：0:00-0:30</a:t>
            </a:r>
            <a:endParaRPr lang="zh-CN" dirty="0"/>
          </a:p>
          <a:p>
            <a:r>
              <a:rPr lang="zh-CN" dirty="0"/>
              <a:t>• 过渡：各位老师好，我今天答辩的题目是...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关键词：医疗数据增长30%+、700+数据泄露事件、传统隐私保护失效、差分隐私与推荐系统融合匮乏</a:t>
            </a:r>
            <a:endParaRPr lang="zh-CN" dirty="0"/>
          </a:p>
          <a:p>
            <a:r>
              <a:rPr lang="zh-CN" dirty="0"/>
              <a:t>• 时间：0:30-2:30</a:t>
            </a:r>
            <a:endParaRPr lang="zh-CN" dirty="0"/>
          </a:p>
          <a:p>
            <a:r>
              <a:rPr lang="zh-CN" dirty="0"/>
              <a:t>• 要点：</a:t>
            </a:r>
            <a:endParaRPr lang="zh-CN" dirty="0"/>
          </a:p>
          <a:p>
            <a:r>
              <a:rPr lang="zh-CN" dirty="0"/>
              <a:t>1. 医疗数据爆发式增长，但隐私泄露严重</a:t>
            </a:r>
            <a:endParaRPr lang="zh-CN" dirty="0"/>
          </a:p>
          <a:p>
            <a:r>
              <a:rPr lang="zh-CN" dirty="0"/>
              <a:t>2. 传统K-匿名等方法有根本缺陷，差分隐私提供数学证明</a:t>
            </a:r>
            <a:endParaRPr lang="zh-CN" dirty="0"/>
          </a:p>
          <a:p>
            <a:r>
              <a:rPr lang="zh-CN" dirty="0"/>
              <a:t>3. 现有医疗推荐缺乏安全约束和可解释性</a:t>
            </a:r>
            <a:endParaRPr lang="zh-CN" dirty="0"/>
          </a:p>
          <a:p>
            <a:r>
              <a:rPr lang="zh-CN" dirty="0"/>
              <a:t>• 过渡：面对这些痛点，我们的研究目标是什么？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关键词：四层递进、知识路由、安全过滤、规则标记、DeepFM排序</a:t>
            </a:r>
            <a:endParaRPr lang="zh-CN" dirty="0"/>
          </a:p>
          <a:p>
            <a:r>
              <a:rPr lang="zh-CN" dirty="0"/>
              <a:t>• 时间：2:30-4:00</a:t>
            </a:r>
            <a:endParaRPr lang="zh-CN" dirty="0"/>
          </a:p>
          <a:p>
            <a:r>
              <a:rPr lang="zh-CN" dirty="0"/>
              <a:t>• 要点：</a:t>
            </a:r>
            <a:endParaRPr lang="zh-CN" dirty="0"/>
          </a:p>
          <a:p>
            <a:r>
              <a:rPr lang="zh-CN" dirty="0"/>
              <a:t>1. 核心目标：在差分隐私保护下兼顾临床安全与推荐精度</a:t>
            </a:r>
            <a:endParaRPr lang="zh-CN" dirty="0"/>
          </a:p>
          <a:p>
            <a:r>
              <a:rPr lang="zh-CN" dirty="0"/>
              <a:t>2. 四层架构各司其职：路由解决语义鸿沟，安全过滤硬排除，规则标记软提示，DeepFM个性化</a:t>
            </a:r>
            <a:endParaRPr lang="zh-CN" dirty="0"/>
          </a:p>
          <a:p>
            <a:r>
              <a:rPr lang="zh-CN" dirty="0"/>
              <a:t>3. 关键原则：噪声不影响安全过滤的确定性判断</a:t>
            </a:r>
            <a:endParaRPr lang="zh-CN" dirty="0"/>
          </a:p>
          <a:p>
            <a:r>
              <a:rPr lang="zh-CN" dirty="0"/>
              <a:t>• 过渡：接下来看系统总体架构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关键词：三服务微服务、React+Spring Boot+FastAPI、1807种药物</a:t>
            </a:r>
            <a:endParaRPr lang="zh-CN" dirty="0"/>
          </a:p>
          <a:p>
            <a:r>
              <a:rPr lang="zh-CN" dirty="0"/>
              <a:t>• 时间：4:00-5:30</a:t>
            </a:r>
            <a:endParaRPr lang="zh-CN" dirty="0"/>
          </a:p>
          <a:p>
            <a:r>
              <a:rPr lang="zh-CN" dirty="0"/>
              <a:t>• 要点：</a:t>
            </a:r>
            <a:endParaRPr lang="zh-CN" dirty="0"/>
          </a:p>
          <a:p>
            <a:r>
              <a:rPr lang="zh-CN" dirty="0"/>
              <a:t>1. 前端React 18提供审核/隐私/统计三个核心界面</a:t>
            </a:r>
            <a:endParaRPr lang="zh-CN" dirty="0"/>
          </a:p>
          <a:p>
            <a:r>
              <a:rPr lang="zh-CN" dirty="0"/>
              <a:t>2. 后端Spring Boot负责认证、数据管理、模型服务代理</a:t>
            </a:r>
            <a:endParaRPr lang="zh-CN" dirty="0"/>
          </a:p>
          <a:p>
            <a:r>
              <a:rPr lang="zh-CN" dirty="0"/>
              <a:t>3. 模型服务FastAPI实现四层推荐+DP噪声注入</a:t>
            </a:r>
            <a:endParaRPr lang="zh-CN" dirty="0"/>
          </a:p>
          <a:p>
            <a:r>
              <a:rPr lang="zh-CN" dirty="0"/>
              <a:t>• 过渡：下面重点讲解三层安全架构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关键词：SafetyFilter 12+9、RuleMarker 7种、DeepFM+DP噪声</a:t>
            </a:r>
            <a:endParaRPr lang="zh-CN" dirty="0"/>
          </a:p>
          <a:p>
            <a:r>
              <a:rPr lang="zh-CN" dirty="0"/>
              <a:t>• 时间：5:30-8:00</a:t>
            </a:r>
            <a:endParaRPr lang="zh-CN" dirty="0"/>
          </a:p>
          <a:p>
            <a:r>
              <a:rPr lang="zh-CN" dirty="0"/>
              <a:t>• 要点：</a:t>
            </a:r>
            <a:endParaRPr lang="zh-CN" dirty="0"/>
          </a:p>
          <a:p>
            <a:r>
              <a:rPr lang="zh-CN" dirty="0"/>
              <a:t>1. SafetyFilter硬排除：过敏、禁忌症、致命交互等12条红线</a:t>
            </a:r>
            <a:endParaRPr lang="zh-CN" dirty="0"/>
          </a:p>
          <a:p>
            <a:r>
              <a:rPr lang="zh-CN" dirty="0"/>
              <a:t>2. RuleMarker软标记：7种规则标记但不排除，候选药物保留排序</a:t>
            </a:r>
            <a:endParaRPr lang="zh-CN" dirty="0"/>
          </a:p>
          <a:p>
            <a:r>
              <a:rPr lang="zh-CN" dirty="0"/>
              <a:t>3. DeepFM个性化排序，DP噪声仅在此层应用</a:t>
            </a:r>
            <a:endParaRPr lang="zh-CN" dirty="0"/>
          </a:p>
          <a:p>
            <a:r>
              <a:rPr lang="zh-CN" dirty="0"/>
              <a:t>• 过渡：安全架构是怎么串联起来的？看推荐流程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关键词：9步流程、PatientInputEnhancer三层fallback、FeedbackLearner渐进惩罚</a:t>
            </a:r>
            <a:endParaRPr lang="zh-CN" dirty="0"/>
          </a:p>
          <a:p>
            <a:r>
              <a:rPr lang="zh-CN" dirty="0"/>
              <a:t>• 时间：8:00-10:00</a:t>
            </a:r>
            <a:endParaRPr lang="zh-CN" dirty="0"/>
          </a:p>
          <a:p>
            <a:r>
              <a:rPr lang="zh-CN" dirty="0"/>
              <a:t>• 要点：</a:t>
            </a:r>
            <a:endParaRPr lang="zh-CN" dirty="0"/>
          </a:p>
          <a:p>
            <a:r>
              <a:rPr lang="zh-CN" dirty="0"/>
              <a:t>1. 完整9步流程：从患者信息到质量保障</a:t>
            </a:r>
            <a:endParaRPr lang="zh-CN" dirty="0"/>
          </a:p>
          <a:p>
            <a:r>
              <a:rPr lang="zh-CN" dirty="0"/>
              <a:t>2. 口语增强三层fallback：精确→关键词→症状组合</a:t>
            </a:r>
            <a:endParaRPr lang="zh-CN" dirty="0"/>
          </a:p>
          <a:p>
            <a:r>
              <a:rPr lang="zh-CN" dirty="0"/>
              <a:t>3. 审核反馈闭环：医生确认/修改/拒绝，渐进式惩罚持续优化</a:t>
            </a:r>
            <a:endParaRPr lang="zh-CN" dirty="0"/>
          </a:p>
          <a:p>
            <a:r>
              <a:rPr lang="zh-CN" dirty="0"/>
              <a:t>• 过渡：接下来讲差分隐私的具体保护机制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关键词：Laplace/Gaussian噪声、临床阈值后处理、双重预算追踪、三级预警</a:t>
            </a:r>
            <a:endParaRPr lang="zh-CN" dirty="0"/>
          </a:p>
          <a:p>
            <a:r>
              <a:rPr lang="zh-CN" dirty="0"/>
              <a:t>• 时间：10:00-12:00</a:t>
            </a:r>
            <a:endParaRPr lang="zh-CN" dirty="0"/>
          </a:p>
          <a:p>
            <a:r>
              <a:rPr lang="zh-CN" dirty="0"/>
              <a:t>• 要点：</a:t>
            </a:r>
            <a:endParaRPr lang="zh-CN" dirty="0"/>
          </a:p>
          <a:p>
            <a:r>
              <a:rPr lang="zh-CN" dirty="0"/>
              <a:t>1. 两种噪声机制及公式</a:t>
            </a:r>
            <a:endParaRPr lang="zh-CN" dirty="0"/>
          </a:p>
          <a:p>
            <a:r>
              <a:rPr lang="zh-CN" dirty="0"/>
              <a:t>2. 临床阈值后处理四条规则：低分置零、上限裁剪、dpAnomaly标记、置信区间</a:t>
            </a:r>
            <a:endParaRPr lang="zh-CN" dirty="0"/>
          </a:p>
          <a:p>
            <a:r>
              <a:rPr lang="zh-CN" dirty="0"/>
              <a:t>3. 隐私预算双重追踪+三级预警（绿/黄/红）</a:t>
            </a:r>
            <a:endParaRPr lang="zh-CN" dirty="0"/>
          </a:p>
          <a:p>
            <a:r>
              <a:rPr lang="zh-CN" dirty="0"/>
              <a:t>4. 后处理定理保证：确定性变换不降低隐私保护强度</a:t>
            </a:r>
            <a:endParaRPr lang="zh-CN" dirty="0"/>
          </a:p>
          <a:p>
            <a:r>
              <a:rPr lang="zh-CN" dirty="0"/>
              <a:t>• 过渡：下面讲DeepFM模型的改进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关键词：Merged Embedding、连续特征旁路、LayerNorm、Focal Loss</a:t>
            </a:r>
            <a:endParaRPr lang="zh-CN" dirty="0"/>
          </a:p>
          <a:p>
            <a:r>
              <a:rPr lang="zh-CN" dirty="0"/>
              <a:t>• 时间：12:00-13:30</a:t>
            </a:r>
            <a:endParaRPr lang="zh-CN" dirty="0"/>
          </a:p>
          <a:p>
            <a:r>
              <a:rPr lang="zh-CN" dirty="0"/>
              <a:t>• 要点：</a:t>
            </a:r>
            <a:endParaRPr lang="zh-CN" dirty="0"/>
          </a:p>
          <a:p>
            <a:r>
              <a:rPr lang="zh-CN" dirty="0"/>
              <a:t>1. 合并嵌入使Opacus DP训练成为可能</a:t>
            </a:r>
            <a:endParaRPr lang="zh-CN" dirty="0"/>
          </a:p>
          <a:p>
            <a:r>
              <a:rPr lang="zh-CN" dirty="0"/>
              <a:t>2. 连续特征旁路保留GFR/肝功能等关键临床指标的精度</a:t>
            </a:r>
            <a:endParaRPr lang="zh-CN" dirty="0"/>
          </a:p>
          <a:p>
            <a:r>
              <a:rPr lang="zh-CN" dirty="0"/>
              <a:t>3. LayerNorm+差异化Dropout+Focal Loss应对训练挑战</a:t>
            </a:r>
            <a:endParaRPr lang="zh-CN" dirty="0"/>
          </a:p>
          <a:p>
            <a:r>
              <a:rPr lang="zh-CN" dirty="0"/>
              <a:t>• 过渡：除了算法，系统实现还有几个关键点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关键词：RBAC三角色、审核反馈闭环、推荐解释、全字段中文翻译</a:t>
            </a:r>
            <a:endParaRPr lang="zh-CN" dirty="0"/>
          </a:p>
          <a:p>
            <a:r>
              <a:rPr lang="zh-CN" dirty="0"/>
              <a:t>• 时间：13:30-15:00</a:t>
            </a:r>
            <a:endParaRPr lang="zh-CN" dirty="0"/>
          </a:p>
          <a:p>
            <a:r>
              <a:rPr lang="zh-CN" dirty="0"/>
              <a:t>• 要点：</a:t>
            </a:r>
            <a:endParaRPr lang="zh-CN" dirty="0"/>
          </a:p>
          <a:p>
            <a:r>
              <a:rPr lang="zh-CN" dirty="0"/>
              <a:t>1. 管理员/医生/研究员三角色权限，前后端双重校验</a:t>
            </a:r>
            <a:endParaRPr lang="zh-CN" dirty="0"/>
          </a:p>
          <a:p>
            <a:r>
              <a:rPr lang="zh-CN" dirty="0"/>
              <a:t>2. 推荐解释生成：适应症匹配+安全性分析+推荐理由</a:t>
            </a:r>
            <a:endParaRPr lang="zh-CN" dirty="0"/>
          </a:p>
          <a:p>
            <a:r>
              <a:rPr lang="zh-CN" dirty="0"/>
              <a:t>3. 全字段英→中翻译管线</a:t>
            </a:r>
            <a:endParaRPr lang="zh-CN" dirty="0"/>
          </a:p>
          <a:p>
            <a:r>
              <a:rPr lang="zh-CN" dirty="0"/>
              <a:t>• 过渡：看下系统界面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96B">
                  <a:alpha val="8000"/>
                </a:srgbClr>
              </a:gs>
              <a:gs pos="100000">
                <a:srgbClr val="00796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102995" y="1564958"/>
            <a:ext cx="5393674" cy="1511617"/>
            <a:chOff x="1102995" y="1564958"/>
            <a:chExt cx="5393674" cy="1511617"/>
          </a:xfrm>
        </p:grpSpPr>
        <p:sp>
          <p:nvSpPr>
            <p:cNvPr id="5" name="TextBox 5"/>
            <p:cNvSpPr txBox="1"/>
            <p:nvPr/>
          </p:nvSpPr>
          <p:spPr>
            <a:xfrm>
              <a:off x="1102995" y="1564958"/>
              <a:ext cx="532121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1A2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差分隐私保护的AI驱动的</a:t>
              </a:r>
              <a:endParaRPr lang="zh-CN" sz="31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02995" y="2136458"/>
              <a:ext cx="5393674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1A2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个性化医疗用药推荐系统</a:t>
              </a:r>
              <a:endParaRPr lang="zh-CN" sz="31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0140" y="2710815"/>
              <a:ext cx="16230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46E7A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的设计与实现</a:t>
              </a:r>
              <a:endParaRPr lang="zh-CN" sz="1800" dirty="0">
                <a:solidFill>
                  <a:srgbClr val="546E7A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43000" y="3028950"/>
              <a:ext cx="1905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796B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43000" y="3333750"/>
            <a:ext cx="2095500" cy="342900"/>
            <a:chOff x="1143000" y="3333750"/>
            <a:chExt cx="2095500" cy="342900"/>
          </a:xfrm>
        </p:grpSpPr>
        <p:sp>
          <p:nvSpPr>
            <p:cNvPr id="10" name="Rectangle 10"/>
            <p:cNvSpPr/>
            <p:nvPr/>
          </p:nvSpPr>
          <p:spPr>
            <a:xfrm>
              <a:off x="1143000" y="3333750"/>
              <a:ext cx="2095500" cy="342900"/>
            </a:xfrm>
            <a:prstGeom prst="roundRect">
              <a:avLst>
                <a:gd name="adj" fmla="val 50000"/>
              </a:avLst>
            </a:prstGeom>
            <a:solidFill>
              <a:srgbClr val="00796B">
                <a:alpha val="1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39418" y="343281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79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本科毕业设计答辩</a:t>
              </a:r>
              <a:endParaRPr lang="zh-CN" sz="1200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5855" y="4045268"/>
            <a:ext cx="3346704" cy="922020"/>
            <a:chOff x="1125855" y="4045268"/>
            <a:chExt cx="3346704" cy="922020"/>
          </a:xfrm>
        </p:grpSpPr>
        <p:sp>
          <p:nvSpPr>
            <p:cNvPr id="13" name="TextBox 13"/>
            <p:cNvSpPr txBox="1"/>
            <p:nvPr/>
          </p:nvSpPr>
          <p:spPr>
            <a:xfrm>
              <a:off x="1125855" y="4045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46E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 生：晋修慧</a:t>
              </a:r>
              <a:endPara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5855" y="4369118"/>
              <a:ext cx="20651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46E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指导教师：侯慧莹 讲师</a:t>
              </a:r>
              <a:endPara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5855" y="469296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46E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院 系：人工智能与大数据 大数据2203</a:t>
              </a:r>
              <a:endPara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0" y="1238250"/>
            <a:ext cx="2381250" cy="3905250"/>
            <a:chOff x="9525000" y="1238250"/>
            <a:chExt cx="2381250" cy="3905250"/>
          </a:xfrm>
        </p:grpSpPr>
        <p:sp>
          <p:nvSpPr>
            <p:cNvPr id="17" name="Polygon 17"/>
            <p:cNvSpPr/>
            <p:nvPr/>
          </p:nvSpPr>
          <p:spPr>
            <a:xfrm>
              <a:off x="10001250" y="12382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00796B">
                  <a:alpha val="20000"/>
                </a:srgbClr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9525000" y="21907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0796B">
                <a:alpha val="6000"/>
              </a:srgbClr>
            </a:solidFill>
            <a:ln w="14288">
              <a:solidFill>
                <a:srgbClr val="00796B">
                  <a:alpha val="15000"/>
                </a:srgb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10477500" y="21907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1565C0">
                  <a:alpha val="20000"/>
                </a:srgbClr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10001250" y="31432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65C0">
                <a:alpha val="6000"/>
              </a:srgbClr>
            </a:solidFill>
            <a:ln w="14288">
              <a:solidFill>
                <a:srgbClr val="1565C0">
                  <a:alpha val="15000"/>
                </a:srgbClr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10953750" y="31432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00796B">
                  <a:alpha val="20000"/>
                </a:srgbClr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10001250" y="4095750"/>
              <a:ext cx="952500" cy="1047750"/>
            </a:xfrm>
            <a:custGeom>
              <a:avLst/>
              <a:gdLst/>
              <a:ahLst/>
              <a:cxnLst/>
              <a:rect l="l" t="t" r="r" b="b"/>
              <a:pathLst>
                <a:path w="952500" h="1047750">
                  <a:moveTo>
                    <a:pt x="0" y="285750"/>
                  </a:moveTo>
                  <a:lnTo>
                    <a:pt x="476250" y="0"/>
                  </a:lnTo>
                  <a:lnTo>
                    <a:pt x="952500" y="285750"/>
                  </a:lnTo>
                  <a:lnTo>
                    <a:pt x="952500" y="762000"/>
                  </a:lnTo>
                  <a:lnTo>
                    <a:pt x="476250" y="1047750"/>
                  </a:lnTo>
                  <a:lnTo>
                    <a:pt x="0" y="762000"/>
                  </a:lnTo>
                  <a:close/>
                </a:path>
              </a:pathLst>
            </a:custGeom>
            <a:noFill/>
            <a:ln w="14288">
              <a:solidFill>
                <a:srgbClr val="00796B">
                  <a:alpha val="15000"/>
                </a:srgbClr>
              </a:solidFill>
            </a:ln>
          </p:spPr>
        </p:sp>
      </p:grpSp>
      <p:sp>
        <p:nvSpPr>
          <p:cNvPr id="24" name="Rectangle 2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gradFill>
            <a:gsLst>
              <a:gs pos="0">
                <a:srgbClr val="00796B">
                  <a:alpha val="6000"/>
                </a:srgbClr>
              </a:gs>
              <a:gs pos="100000">
                <a:srgbClr val="1565C0">
                  <a:alpha val="6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29665" y="6506528"/>
            <a:ext cx="755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2026年3月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研究背景与痛点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762000" y="1238250"/>
            <a:ext cx="4000500" cy="4095750"/>
            <a:chOff x="762000" y="1238250"/>
            <a:chExt cx="4000500" cy="4095750"/>
          </a:xfrm>
        </p:grpSpPr>
        <p:sp>
          <p:nvSpPr>
            <p:cNvPr id="6" name="Rectangle 6"/>
            <p:cNvSpPr/>
            <p:nvPr/>
          </p:nvSpPr>
          <p:spPr>
            <a:xfrm>
              <a:off x="762000" y="1238250"/>
              <a:ext cx="4000500" cy="1238250"/>
            </a:xfrm>
            <a:prstGeom prst="roundRect">
              <a:avLst>
                <a:gd name="adj" fmla="val 7692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98220" y="12934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0079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30%+</a:t>
              </a:r>
              <a:endParaRPr lang="zh-CN" sz="3900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862614"/>
              <a:ext cx="13358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46E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医疗数据年增长</a:t>
              </a:r>
              <a:endParaRPr lang="zh-CN" sz="12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4415" y="2220278"/>
              <a:ext cx="27793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互联网医院2700+，电子病历普及率85%+</a:t>
              </a:r>
              <a:endPara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667000"/>
              <a:ext cx="4000500" cy="1238250"/>
            </a:xfrm>
            <a:prstGeom prst="roundRect">
              <a:avLst>
                <a:gd name="adj" fmla="val 7692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98220" y="272224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700+</a:t>
              </a:r>
              <a:endParaRPr lang="zh-CN" sz="390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3291364"/>
              <a:ext cx="17455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46E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2022年医疗数据泄露</a:t>
              </a:r>
              <a:endParaRPr lang="zh-CN" sz="12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4415" y="3649028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影响5000万+患者</a:t>
              </a:r>
              <a:endPara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4095750"/>
              <a:ext cx="4000500" cy="1238250"/>
            </a:xfrm>
            <a:prstGeom prst="roundRect">
              <a:avLst>
                <a:gd name="adj" fmla="val 7692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98220" y="41509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85%+</a:t>
              </a:r>
              <a:endParaRPr lang="zh-CN" sz="39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4720114"/>
              <a:ext cx="13358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46E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电子病历普及率</a:t>
              </a:r>
              <a:endParaRPr lang="zh-CN" sz="12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4415" y="50777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0A4A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数据规模与隐私风险矛盾突出</a:t>
              </a:r>
              <a:endPara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13045" y="1345882"/>
            <a:ext cx="6116955" cy="4511993"/>
            <a:chOff x="5313045" y="1345882"/>
            <a:chExt cx="6116955" cy="4511993"/>
          </a:xfrm>
        </p:grpSpPr>
        <p:sp>
          <p:nvSpPr>
            <p:cNvPr id="19" name="TextBox 19"/>
            <p:cNvSpPr txBox="1"/>
            <p:nvPr/>
          </p:nvSpPr>
          <p:spPr>
            <a:xfrm>
              <a:off x="5313045" y="13458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三大核心痛点</a:t>
              </a:r>
              <a:endParaRPr lang="zh-CN" sz="16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0" y="1762125"/>
              <a:ext cx="60960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02605" y="196881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传统隐私保护失效</a:t>
              </a:r>
              <a:endParaRPr lang="zh-CN" sz="13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04510" y="2289810"/>
              <a:ext cx="40965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K-匿名、L-多样性无法抵御关联攻击和背景知识推断</a:t>
              </a:r>
              <a:endPara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05462" y="2640806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缺乏数学可证明的安全保障</a:t>
              </a:r>
              <a:endParaRPr lang="zh-CN" sz="1125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0" y="3190875"/>
              <a:ext cx="60960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FF8F0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02605" y="33975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8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差分隐私与推荐系统融合研究匮乏</a:t>
              </a:r>
              <a:endParaRPr lang="zh-CN" sz="1350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04510" y="3718560"/>
              <a:ext cx="37284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ε-差分隐私有数学证明，但与推荐系统结合极少</a:t>
              </a:r>
              <a:endPara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05462" y="4069556"/>
              <a:ext cx="2961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8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噪声对推荐精度的影响缺乏系统性研究</a:t>
              </a:r>
              <a:endParaRPr lang="zh-CN" sz="1125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0" y="4619625"/>
              <a:ext cx="60960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00796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02605" y="482631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9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安全性与可解释性不足</a:t>
              </a:r>
              <a:endParaRPr lang="zh-CN" sz="1350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04510" y="5147310"/>
              <a:ext cx="33604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46E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医疗推荐缺乏安全约束，隐私与精度难兼顾</a:t>
              </a:r>
              <a:endParaRPr lang="zh-CN" sz="120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05462" y="5498306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0796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医生难以信任和采纳推荐结果</a:t>
              </a:r>
              <a:endParaRPr lang="zh-CN" sz="1125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43663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研究目标：四层推荐架构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4855" y="806768"/>
            <a:ext cx="47663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核心目标：在差分隐私保护下兼顾临床安全与推荐精度</a:t>
            </a:r>
            <a:endParaRPr lang="zh-CN" sz="13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4667250" y="1238250"/>
            <a:ext cx="2857500" cy="66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00695C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122331" y="1362075"/>
            <a:ext cx="19473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安全 + 精准 + 隐私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622608" y="16297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2DF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四层递进架构</a:t>
            </a:r>
            <a:endParaRPr lang="zh-CN" sz="1050" dirty="0">
              <a:solidFill>
                <a:srgbClr val="B2DF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1905000" y="190500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304800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00796B">
                <a:alpha val="3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4381500" y="1905000"/>
            <a:ext cx="1143000" cy="476250"/>
          </a:xfrm>
          <a:custGeom>
            <a:avLst/>
            <a:gdLst/>
            <a:ahLst/>
            <a:cxnLst/>
            <a:rect l="l" t="t" r="r" b="b"/>
            <a:pathLst>
              <a:path w="1143000" h="476250">
                <a:moveTo>
                  <a:pt x="114300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00796B">
                <a:alpha val="3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6667500" y="1905000"/>
            <a:ext cx="762000" cy="476250"/>
          </a:xfrm>
          <a:custGeom>
            <a:avLst/>
            <a:gdLst/>
            <a:ahLst/>
            <a:cxnLst/>
            <a:rect l="l" t="t" r="r" b="b"/>
            <a:pathLst>
              <a:path w="762000" h="476250">
                <a:moveTo>
                  <a:pt x="0" y="0"/>
                </a:moveTo>
                <a:lnTo>
                  <a:pt x="762000" y="476250"/>
                </a:lnTo>
              </a:path>
            </a:pathLst>
          </a:custGeom>
          <a:noFill/>
          <a:ln w="14288">
            <a:solidFill>
              <a:srgbClr val="1565C0">
                <a:alpha val="3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7239000" y="1905000"/>
            <a:ext cx="2857500" cy="476250"/>
          </a:xfrm>
          <a:custGeom>
            <a:avLst/>
            <a:gdLst/>
            <a:ahLst/>
            <a:cxnLst/>
            <a:rect l="l" t="t" r="r" b="b"/>
            <a:pathLst>
              <a:path w="2857500" h="476250">
                <a:moveTo>
                  <a:pt x="0" y="0"/>
                </a:moveTo>
                <a:lnTo>
                  <a:pt x="2857500" y="476250"/>
                </a:lnTo>
              </a:path>
            </a:pathLst>
          </a:custGeom>
          <a:noFill/>
          <a:ln w="14288">
            <a:solidFill>
              <a:srgbClr val="1565C0">
                <a:alpha val="30000"/>
              </a:srgb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62000" y="2381250"/>
            <a:ext cx="2476500" cy="2952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0796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381250"/>
            <a:ext cx="2476500" cy="381000"/>
          </a:xfrm>
          <a:prstGeom prst="roundRect">
            <a:avLst>
              <a:gd name="adj" fmla="val 25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2667000"/>
            <a:ext cx="2476500" cy="952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93964" y="2526506"/>
            <a:ext cx="20125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第零层 KnowledgeRouter</a:t>
            </a:r>
            <a:endParaRPr lang="zh-CN" sz="1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8212" y="290750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四级确定性路由</a:t>
            </a:r>
            <a:endParaRPr lang="zh-CN" sz="112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39165" y="320135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口语标准化 → 疾病归类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9165" y="34490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适应症映射 → 药品召回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39165" y="3791902"/>
            <a:ext cx="19512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解决中文疾病名→英文适应症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39165" y="40395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的语义鸿沟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39165" y="4420552"/>
            <a:ext cx="13228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路由覆盖率 92.5%</a:t>
            </a:r>
            <a:endParaRPr lang="zh-CN" sz="1050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39165" y="466820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支持1295种中文疾病输入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3429000" y="2381250"/>
            <a:ext cx="2476500" cy="2952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3429000" y="2381250"/>
            <a:ext cx="2476500" cy="381000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3429000" y="2667000"/>
            <a:ext cx="24765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842111" y="2526506"/>
            <a:ext cx="1650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第一层 SafetyFilter</a:t>
            </a:r>
            <a:endParaRPr lang="zh-CN" sz="1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605212" y="2907506"/>
            <a:ext cx="18486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12条硬排除 + 9类软标记</a:t>
            </a:r>
            <a:endParaRPr lang="zh-CN" sz="112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606165" y="32013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硬排除：过敏冲突、绝对禁忌、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606165" y="344900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致命交互、妊娠X级等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606165" y="37919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软标记：相对禁忌标记待审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606165" y="40395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医生做最终判断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606165" y="4420552"/>
            <a:ext cx="2136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确定性判断，不受DP噪声影响</a:t>
            </a:r>
            <a:endParaRPr lang="zh-CN" sz="10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6286500" y="2381250"/>
            <a:ext cx="2476500" cy="2952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286500" y="2381250"/>
            <a:ext cx="2476500" cy="381000"/>
          </a:xfrm>
          <a:prstGeom prst="roundRect">
            <a:avLst>
              <a:gd name="adj" fmla="val 25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286500" y="2667000"/>
            <a:ext cx="24765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55681" y="2526506"/>
            <a:ext cx="15381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第二层 RuleMarker</a:t>
            </a:r>
            <a:endParaRPr lang="zh-CN" sz="1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462712" y="2907506"/>
            <a:ext cx="11585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7种软标记规则</a:t>
            </a:r>
            <a:endParaRPr lang="zh-CN" sz="112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463665" y="32013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相对禁忌、中等交互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463665" y="3449002"/>
            <a:ext cx="18975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妊娠C/D、肾/肝功能警告等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463665" y="37919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标记而非排除</a:t>
            </a:r>
            <a:endParaRPr lang="zh-CN" sz="1050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463665" y="40395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候选药物保留参与排序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463665" y="4420552"/>
            <a:ext cx="17902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为DeepFM提供安全上下文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8953500" y="2381250"/>
            <a:ext cx="2476500" cy="2952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8953500" y="2381250"/>
            <a:ext cx="2476500" cy="381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953500" y="2667000"/>
            <a:ext cx="24765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590889" y="2526506"/>
            <a:ext cx="12017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第三层 DeepFM</a:t>
            </a:r>
            <a:endParaRPr lang="zh-CN" sz="1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129712" y="2907506"/>
            <a:ext cx="16243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个性化排序 + DP噪声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130665" y="3201352"/>
            <a:ext cx="19665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FM特征交叉 + Deep高阶交互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130665" y="344900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连续特征旁路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130665" y="3791902"/>
            <a:ext cx="1491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DP噪声仅在此层应用</a:t>
            </a:r>
            <a:endParaRPr lang="zh-CN" sz="10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130665" y="40395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临床阈值后处理保障安全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9130665" y="44205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隐私保护与精度的平衡点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762000" y="57150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2846556" y="5871210"/>
            <a:ext cx="6498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关键原则：噪声不影响安全过滤的确定性判断 — 隐私保护仅作用于个性化排序层</a:t>
            </a:r>
            <a:endParaRPr lang="zh-CN" sz="1200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41106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系统总体架构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47750"/>
            <a:ext cx="3048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0796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4775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33500"/>
            <a:ext cx="3048000" cy="952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85139" y="1193006"/>
            <a:ext cx="12017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前端服务 :5173</a:t>
            </a:r>
            <a:endParaRPr lang="zh-CN" sz="1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38212" y="1574006"/>
            <a:ext cx="23403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React 18 + TypeScript + Vite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9165" y="1839278"/>
            <a:ext cx="2372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推荐审核 / 隐私配置 / 统计仪表板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9165" y="207740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Auth Context + RBAC前端守卫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9165" y="2344102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Tailwind CSS 响应式界面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4572000" y="1047750"/>
            <a:ext cx="3048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572000" y="104775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572000" y="1333500"/>
            <a:ext cx="3048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73574" y="1193006"/>
            <a:ext cx="12448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后端服务 :8080</a:t>
            </a:r>
            <a:endParaRPr lang="zh-CN" sz="1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748212" y="1574006"/>
            <a:ext cx="21764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Spring Boot 3.2 + MyBatis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749165" y="1839278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JWT认证 + RBAC + RESTful API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749165" y="207740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代理模型服务 + 数据转发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749165" y="2344102"/>
            <a:ext cx="20125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启动时加载1807种药物至模型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8382000" y="1047750"/>
            <a:ext cx="3048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382000" y="104775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382000" y="1333500"/>
            <a:ext cx="30480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05139" y="1193006"/>
            <a:ext cx="12017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模型服务 :8001</a:t>
            </a:r>
            <a:endParaRPr lang="zh-CN" sz="112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558212" y="1574006"/>
            <a:ext cx="21678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FastAPI + PyTorch DeepFM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559165" y="1839278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四层推荐架构 + DP噪声注入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559165" y="207740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隐私预算追踪 + 中文翻译管线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559165" y="234410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口语增强 + 疾病映射 + 审核反馈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Line 30"/>
          <p:cNvSpPr/>
          <p:nvPr/>
        </p:nvSpPr>
        <p:spPr>
          <a:xfrm>
            <a:off x="3810000" y="1857375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1" name="Line 31"/>
          <p:cNvSpPr/>
          <p:nvPr/>
        </p:nvSpPr>
        <p:spPr>
          <a:xfrm flipH="1">
            <a:off x="3810000" y="2047875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2" name="Line 32"/>
          <p:cNvSpPr/>
          <p:nvPr/>
        </p:nvSpPr>
        <p:spPr>
          <a:xfrm>
            <a:off x="7620000" y="1857375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3" name="Line 33"/>
          <p:cNvSpPr/>
          <p:nvPr/>
        </p:nvSpPr>
        <p:spPr>
          <a:xfrm flipH="1">
            <a:off x="7620000" y="2047875"/>
            <a:ext cx="762000" cy="1"/>
          </a:xfrm>
          <a:prstGeom prst="line">
            <a:avLst/>
          </a:prstGeom>
          <a:noFill/>
          <a:ln w="19050">
            <a:solidFill>
              <a:srgbClr val="546E7A"/>
            </a:solidFill>
            <a:tailEnd type="triangle" w="lg" len="lg"/>
          </a:ln>
        </p:spPr>
      </p:sp>
      <p:sp>
        <p:nvSpPr>
          <p:cNvPr id="34" name="TextBox 34"/>
          <p:cNvSpPr txBox="1"/>
          <p:nvPr/>
        </p:nvSpPr>
        <p:spPr>
          <a:xfrm>
            <a:off x="4071938" y="17478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请求</a:t>
            </a:r>
            <a:endParaRPr lang="zh-CN" sz="7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071938" y="21097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响应</a:t>
            </a:r>
            <a:endParaRPr lang="zh-CN" sz="7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586186" y="1747838"/>
            <a:ext cx="8296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/model/predict</a:t>
            </a:r>
            <a:endParaRPr lang="zh-CN" sz="7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772400" y="21097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推荐结果</a:t>
            </a:r>
            <a:endParaRPr lang="zh-CN" sz="7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42950" y="29813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数据流</a:t>
            </a:r>
            <a:endParaRPr lang="zh-CN" sz="150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762000" y="3333750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38212" y="3498056"/>
            <a:ext cx="69458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前端请求 → 后端认证/CRUD → 模型服务(/model/predict) → 四层架构 + DP噪声 → 返回推荐结果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42950" y="402907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数据库</a:t>
            </a:r>
            <a:endParaRPr lang="zh-CN" sz="150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42" name="Rectangle 42"/>
          <p:cNvSpPr/>
          <p:nvPr/>
        </p:nvSpPr>
        <p:spPr>
          <a:xfrm>
            <a:off x="762000" y="4381500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9165" y="4553902"/>
            <a:ext cx="7014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sys_user</a:t>
            </a:r>
            <a:endParaRPr lang="zh-CN" sz="1050" dirty="0">
              <a:solidFill>
                <a:srgbClr val="1565C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987868" y="4561999"/>
            <a:ext cx="7011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用户/RBAC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129915" y="4553902"/>
            <a:ext cx="578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patient</a:t>
            </a:r>
            <a:endParaRPr lang="zh-CN" sz="1050" dirty="0">
              <a:solidFill>
                <a:srgbClr val="1565C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988118" y="4561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患者档案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5034915" y="4553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drug</a:t>
            </a:r>
            <a:endParaRPr lang="zh-CN" sz="1050" dirty="0">
              <a:solidFill>
                <a:srgbClr val="1565C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5702618" y="4561999"/>
            <a:ext cx="743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药物(1807)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749415" y="45539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recommendation</a:t>
            </a:r>
            <a:endParaRPr lang="zh-CN" sz="1050" dirty="0">
              <a:solidFill>
                <a:srgbClr val="1565C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179118" y="4561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推荐记录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225915" y="4553902"/>
            <a:ext cx="1130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privacy_config</a:t>
            </a:r>
            <a:endParaRPr lang="zh-CN" sz="1050" dirty="0">
              <a:solidFill>
                <a:srgbClr val="1565C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0750868" y="456199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ledger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319316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三层推荐安全架构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333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47750"/>
            <a:ext cx="3238500" cy="409575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47750"/>
            <a:ext cx="3238500" cy="419100"/>
          </a:xfrm>
          <a:prstGeom prst="roundRect">
            <a:avLst>
              <a:gd name="adj" fmla="val 22727"/>
            </a:avLst>
          </a:prstGeom>
          <a:solidFill>
            <a:srgbClr val="C6282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71600"/>
            <a:ext cx="3238500" cy="9525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348330" y="1195864"/>
            <a:ext cx="206583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SafetyFilter 安全过滤</a:t>
            </a:r>
            <a:endParaRPr lang="zh-CN" sz="12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37260" y="1680210"/>
            <a:ext cx="1291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12条硬排除规则</a:t>
            </a:r>
            <a:endParaRPr lang="zh-CN" sz="120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9165" y="1963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过敏冲突、绝对禁忌症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9165" y="2210752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致命交互、妊娠X级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9165" y="2458402"/>
            <a:ext cx="1621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儿科禁忌、哺乳期L5 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37260" y="2823210"/>
            <a:ext cx="8677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9类软标记</a:t>
            </a:r>
            <a:endParaRPr lang="zh-CN" sz="1200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9165" y="3106102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相对禁忌改为"标记待审"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39165" y="33537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医生做最终判断，不自动排除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952500" y="3810000"/>
            <a:ext cx="2857500" cy="400050"/>
          </a:xfrm>
          <a:prstGeom prst="roundRect">
            <a:avLst>
              <a:gd name="adj" fmla="val 14286"/>
            </a:avLst>
          </a:prstGeom>
          <a:solidFill>
            <a:srgbClr val="C62828">
              <a:alpha val="8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13233" y="3953828"/>
            <a:ext cx="2136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确定性判断，不受DP噪声影响</a:t>
            </a:r>
            <a:endParaRPr lang="zh-CN" sz="10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4000500" y="3048000"/>
            <a:ext cx="476250" cy="1"/>
          </a:xfrm>
          <a:prstGeom prst="line">
            <a:avLst/>
          </a:prstGeom>
          <a:noFill/>
          <a:ln w="28575">
            <a:solidFill>
              <a:srgbClr val="546E7A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4572000" y="1047750"/>
            <a:ext cx="3238500" cy="409575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FF8F0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572000" y="1047750"/>
            <a:ext cx="3238500" cy="419100"/>
          </a:xfrm>
          <a:prstGeom prst="roundRect">
            <a:avLst>
              <a:gd name="adj" fmla="val 22727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572000" y="1371600"/>
            <a:ext cx="32385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21876" y="1195864"/>
            <a:ext cx="193874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RuleMarker 规则标记</a:t>
            </a:r>
            <a:endParaRPr lang="zh-CN" sz="12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747260" y="1680210"/>
            <a:ext cx="1235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7种软标记规则</a:t>
            </a:r>
            <a:endParaRPr lang="zh-CN" sz="1200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749165" y="1963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相对禁忌症、中等交互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749165" y="2210752"/>
            <a:ext cx="17442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妊娠C/D、肾/肝功能警告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749165" y="24584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生育力警告、数据未验证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747260" y="28232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标记而非排除</a:t>
            </a:r>
            <a:endParaRPr lang="zh-CN" sz="1200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749165" y="31061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候选药物保留参与排序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749165" y="3353752"/>
            <a:ext cx="17902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为DeepFM提供安全上下文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4762500" y="3810000"/>
            <a:ext cx="2857500" cy="400050"/>
          </a:xfrm>
          <a:prstGeom prst="roundRect">
            <a:avLst>
              <a:gd name="adj" fmla="val 14286"/>
            </a:avLst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11794" y="3953828"/>
            <a:ext cx="1958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标记待审，医生可覆盖判断</a:t>
            </a:r>
            <a:endParaRPr lang="zh-CN" sz="1050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Line 33"/>
          <p:cNvSpPr/>
          <p:nvPr/>
        </p:nvSpPr>
        <p:spPr>
          <a:xfrm>
            <a:off x="7810500" y="3048000"/>
            <a:ext cx="476250" cy="1"/>
          </a:xfrm>
          <a:prstGeom prst="line">
            <a:avLst/>
          </a:prstGeom>
          <a:noFill/>
          <a:ln w="28575">
            <a:solidFill>
              <a:srgbClr val="546E7A"/>
            </a:solidFill>
            <a:tailEnd type="triangle" w="lg" len="lg"/>
          </a:ln>
        </p:spPr>
      </p:sp>
      <p:sp>
        <p:nvSpPr>
          <p:cNvPr id="34" name="Rectangle 34"/>
          <p:cNvSpPr/>
          <p:nvPr/>
        </p:nvSpPr>
        <p:spPr>
          <a:xfrm>
            <a:off x="8382000" y="1047750"/>
            <a:ext cx="3048000" cy="409575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1565C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8382000" y="1047750"/>
            <a:ext cx="3048000" cy="419100"/>
          </a:xfrm>
          <a:prstGeom prst="roundRect">
            <a:avLst>
              <a:gd name="adj" fmla="val 22727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8382000" y="1371600"/>
            <a:ext cx="3048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322787" y="1195864"/>
            <a:ext cx="116642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DeepFM 排序</a:t>
            </a:r>
            <a:endParaRPr lang="zh-CN" sz="12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557260" y="16802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个性化评分</a:t>
            </a:r>
            <a:endParaRPr lang="zh-CN" sz="12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559165" y="1963102"/>
            <a:ext cx="19665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FM特征交叉 + Deep高阶交互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559165" y="221075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连续特征旁路直通输出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8557260" y="2575560"/>
            <a:ext cx="13370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DP噪声仅在此层</a:t>
            </a:r>
            <a:endParaRPr lang="zh-CN" sz="12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559165" y="28584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Laplace/Gaussian噪声注入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559165" y="31061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临床阈值后处理保障安全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559165" y="33537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隐私预算追踪与预警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8572500" y="3810000"/>
            <a:ext cx="2667000" cy="400050"/>
          </a:xfrm>
          <a:prstGeom prst="roundRect">
            <a:avLst>
              <a:gd name="adj" fmla="val 14286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007054" y="39538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隐私保护与精度的平衡点</a:t>
            </a:r>
            <a:endParaRPr lang="zh-CN" sz="10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762000" y="552450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851156" y="5680710"/>
            <a:ext cx="6489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设计原则：前两层确定性安全判断不受DP噪声影响，噪声仅作用于个性化排序层</a:t>
            </a:r>
            <a:endParaRPr lang="zh-CN" sz="1200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48602"/>
            <a:ext cx="43663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推荐流程与患者口语增强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38175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4855" y="806768"/>
            <a:ext cx="11832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推荐9步流程</a:t>
            </a:r>
            <a:endParaRPr lang="zh-CN" sz="13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762000" y="1095375"/>
            <a:ext cx="1095375" cy="381000"/>
          </a:xfrm>
          <a:prstGeom prst="roundRect">
            <a:avLst>
              <a:gd name="adj" fmla="val 15000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47226" y="1237774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1.患者信息</a:t>
            </a:r>
            <a:endParaRPr lang="zh-CN" sz="97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Line 9"/>
          <p:cNvSpPr/>
          <p:nvPr/>
        </p:nvSpPr>
        <p:spPr>
          <a:xfrm>
            <a:off x="185737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04787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29150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2.疾病映射</a:t>
            </a:r>
            <a:endParaRPr lang="zh-CN" sz="97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328612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3" name="Rectangle 13"/>
          <p:cNvSpPr/>
          <p:nvPr/>
        </p:nvSpPr>
        <p:spPr>
          <a:xfrm>
            <a:off x="347662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C62828">
              <a:alpha val="6000"/>
            </a:srgbClr>
          </a:solidFill>
          <a:ln w="9525">
            <a:solidFill>
              <a:srgbClr val="C6282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72025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3.安全过滤</a:t>
            </a:r>
            <a:endParaRPr lang="zh-CN" sz="97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471487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490537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FF8F00">
              <a:alpha val="6000"/>
            </a:srgbClr>
          </a:solidFill>
          <a:ln w="9525">
            <a:solidFill>
              <a:srgbClr val="FF8F0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4900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4.规则标记</a:t>
            </a:r>
            <a:endParaRPr lang="zh-CN" sz="97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614362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633412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1565C0">
              <a:alpha val="6000"/>
            </a:srgbClr>
          </a:solidFill>
          <a:ln w="9525">
            <a:solidFill>
              <a:srgbClr val="1565C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495871" y="1237774"/>
            <a:ext cx="9147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5.DeepFM+DP</a:t>
            </a:r>
            <a:endParaRPr lang="zh-CN" sz="97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757237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762875" y="1095375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00650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6.平衡选择</a:t>
            </a:r>
            <a:endParaRPr lang="zh-CN" sz="97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Line 24"/>
          <p:cNvSpPr/>
          <p:nvPr/>
        </p:nvSpPr>
        <p:spPr>
          <a:xfrm>
            <a:off x="9001125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25" name="Rectangle 25"/>
          <p:cNvSpPr/>
          <p:nvPr/>
        </p:nvSpPr>
        <p:spPr>
          <a:xfrm>
            <a:off x="9191625" y="1095375"/>
            <a:ext cx="1095375" cy="381000"/>
          </a:xfrm>
          <a:prstGeom prst="roundRect">
            <a:avLst>
              <a:gd name="adj" fmla="val 15000"/>
            </a:avLst>
          </a:prstGeom>
          <a:solidFill>
            <a:srgbClr val="00796B">
              <a:alpha val="8000"/>
            </a:srgbClr>
          </a:solidFill>
          <a:ln w="9525">
            <a:solidFill>
              <a:srgbClr val="00796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359051" y="1237774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7.解释生成</a:t>
            </a:r>
            <a:endParaRPr lang="zh-CN" sz="97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10287000" y="1285875"/>
            <a:ext cx="142875" cy="1"/>
          </a:xfrm>
          <a:prstGeom prst="line">
            <a:avLst/>
          </a:prstGeom>
          <a:noFill/>
          <a:ln w="14288">
            <a:solidFill>
              <a:srgbClr val="00796B"/>
            </a:solidFill>
            <a:tailEnd type="triangle" w="lg" len="lg"/>
          </a:ln>
        </p:spPr>
      </p:sp>
      <p:sp>
        <p:nvSpPr>
          <p:cNvPr id="28" name="Rectangle 28"/>
          <p:cNvSpPr/>
          <p:nvPr/>
        </p:nvSpPr>
        <p:spPr>
          <a:xfrm>
            <a:off x="10477500" y="1095375"/>
            <a:ext cx="952500" cy="381000"/>
          </a:xfrm>
          <a:prstGeom prst="roundRect">
            <a:avLst>
              <a:gd name="adj" fmla="val 15000"/>
            </a:avLst>
          </a:prstGeom>
          <a:solidFill>
            <a:srgbClr val="C62828">
              <a:alpha val="6000"/>
            </a:srgbClr>
          </a:solidFill>
          <a:ln w="9525">
            <a:solidFill>
              <a:srgbClr val="C6282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620970" y="1237774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8.DDI检查</a:t>
            </a:r>
            <a:endParaRPr lang="zh-CN" sz="97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762000" y="1619250"/>
            <a:ext cx="1238250" cy="381000"/>
          </a:xfrm>
          <a:prstGeom prst="roundRect">
            <a:avLst>
              <a:gd name="adj" fmla="val 15000"/>
            </a:avLst>
          </a:prstGeom>
          <a:solidFill>
            <a:srgbClr val="2E7D32">
              <a:alpha val="6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05626" y="1761649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9.质量保障</a:t>
            </a:r>
            <a:endParaRPr lang="zh-CN" sz="97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0" y="2238375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42950" y="24574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患者口语增强</a:t>
            </a:r>
            <a:endParaRPr lang="zh-CN" sz="150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762000" y="2809875"/>
            <a:ext cx="5334000" cy="1809750"/>
          </a:xfrm>
          <a:prstGeom prst="roundRect">
            <a:avLst>
              <a:gd name="adj" fmla="val 5263"/>
            </a:avLst>
          </a:prstGeom>
          <a:solidFill>
            <a:srgbClr val="F5F7FA"/>
          </a:solidFill>
          <a:ln w="9525">
            <a:solidFill>
              <a:srgbClr val="00796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38212" y="2974181"/>
            <a:ext cx="2909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PatientInputEnhancer 三层Fallback</a:t>
            </a:r>
            <a:endParaRPr lang="zh-CN" sz="112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38212" y="3288506"/>
            <a:ext cx="2871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精确匹配 → 关键词匹配 → 症状组合推理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39165" y="3582352"/>
            <a:ext cx="31397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全部失败 → 降级为症状级推荐 + 低置信度标记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38212" y="3926681"/>
            <a:ext cx="21850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KnowledgeRouter 四级路由</a:t>
            </a:r>
            <a:endParaRPr lang="zh-CN" sz="112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39165" y="4220528"/>
            <a:ext cx="33160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口语标准化 → 疾病归类 → 适应症映射 → 药品召回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39165" y="4458652"/>
            <a:ext cx="28100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解决中文疾病名 → 英文适应症的语义鸿沟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457950" y="24574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审核反馈闭环</a:t>
            </a:r>
            <a:endParaRPr lang="zh-CN" sz="150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42" name="Rectangle 42"/>
          <p:cNvSpPr/>
          <p:nvPr/>
        </p:nvSpPr>
        <p:spPr>
          <a:xfrm>
            <a:off x="6477000" y="2809875"/>
            <a:ext cx="4953000" cy="1809750"/>
          </a:xfrm>
          <a:prstGeom prst="roundRect">
            <a:avLst>
              <a:gd name="adj" fmla="val 5263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653212" y="2974181"/>
            <a:ext cx="23662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FeedbackLearner 渐进式惩罚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653212" y="3288506"/>
            <a:ext cx="17209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医生确认 / 修改 / 拒绝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653212" y="3574256"/>
            <a:ext cx="3076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惩罚系数：1次×0.7，2次×0.5，3次+×0.3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654165" y="386810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被反复拒绝的药物权重持续衰减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653212" y="4212431"/>
            <a:ext cx="25473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 → 审核 → 惩罚 → 优化 → 推荐</a:t>
            </a:r>
            <a:endParaRPr lang="zh-CN" sz="1125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654165" y="44586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闭环持续优化推荐权重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Rectangle 49"/>
          <p:cNvSpPr/>
          <p:nvPr/>
        </p:nvSpPr>
        <p:spPr>
          <a:xfrm>
            <a:off x="762000" y="4953000"/>
            <a:ext cx="10668000" cy="476250"/>
          </a:xfrm>
          <a:prstGeom prst="roundRect">
            <a:avLst>
              <a:gd name="adj" fmla="val 16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3992099" y="5109210"/>
            <a:ext cx="4207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适应症路由覆盖率92.5%，支持1295种中文疾病输入</a:t>
            </a:r>
            <a:endParaRPr lang="zh-CN" sz="1200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397525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差分隐私推理阶段保护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2950" y="885825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噪声机制与临床后处理</a:t>
            </a:r>
            <a:endParaRPr lang="zh-CN" sz="150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762000" y="1190625"/>
            <a:ext cx="5143500" cy="714375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8212" y="1326356"/>
            <a:ext cx="6496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Laplace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9165" y="1553528"/>
            <a:ext cx="1015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scale = Δf / ε</a:t>
            </a:r>
            <a:endParaRPr lang="zh-CN" sz="1050" dirty="0">
              <a:solidFill>
                <a:srgbClr val="1A1A2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938462" y="1326356"/>
            <a:ext cx="7445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Gaussian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39415" y="1553528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σ = Δf×√(2ln(1.25/δ)) / ε</a:t>
            </a:r>
            <a:endParaRPr lang="zh-CN" sz="1050" dirty="0">
              <a:solidFill>
                <a:srgbClr val="1A1A2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41570" y="1569720"/>
            <a:ext cx="6537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默认 ε=0.1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143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62000" y="2047875"/>
            <a:ext cx="5143500" cy="342900"/>
          </a:xfrm>
          <a:prstGeom prst="roundRect">
            <a:avLst>
              <a:gd name="adj" fmla="val 22222"/>
            </a:avLst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762000" y="2333625"/>
            <a:ext cx="5143500" cy="57150"/>
          </a:xfrm>
          <a:prstGeom prst="rect">
            <a:avLst/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8212" y="2164556"/>
            <a:ext cx="40138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临床阈值后处理（DP后处理定理，不降低隐私保护）</a:t>
            </a:r>
            <a:endParaRPr lang="zh-CN" sz="112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38212" y="2564606"/>
            <a:ext cx="22795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 低分置零：score &lt; 0.15 → 0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97618" y="25807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低分不被噪声意外提升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38212" y="2888456"/>
            <a:ext cx="33475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 上限裁剪：ceiling = min(1.0, raw+0.35)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797618" y="2904649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防止噪声放大超3.5倍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38212" y="3212306"/>
            <a:ext cx="33639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 dpAnomaly标记：噪声改变排序方向时触发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38212" y="3536156"/>
            <a:ext cx="3930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4. 95%置信区间：Laplace ±2b/√3，Gaussian ±1.96σ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457950" y="885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隐私预算管理</a:t>
            </a:r>
            <a:endParaRPr lang="zh-CN" sz="150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6477000" y="1190625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477000" y="1190625"/>
            <a:ext cx="4953000" cy="342900"/>
          </a:xfrm>
          <a:prstGeom prst="roundRect">
            <a:avLst>
              <a:gd name="adj" fmla="val 22222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77000" y="1476375"/>
            <a:ext cx="4953000" cy="571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653212" y="13073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双重追踪机制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653212" y="1640681"/>
            <a:ext cx="3733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 MySQL持久化：budget_used + ledger事件日志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653212" y="1926431"/>
            <a:ext cx="2862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 内存Tracker：强组合定理实时追踪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655118" y="2161699"/>
            <a:ext cx="2182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服务重启后从MySQL恢复预算状态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477000" y="2476500"/>
            <a:ext cx="495300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2476500"/>
            <a:ext cx="4953000" cy="342900"/>
          </a:xfrm>
          <a:prstGeom prst="roundRect">
            <a:avLst>
              <a:gd name="adj" fmla="val 22222"/>
            </a:avLst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477000" y="2762250"/>
            <a:ext cx="4953000" cy="57150"/>
          </a:xfrm>
          <a:prstGeom prst="rect">
            <a:avLst/>
          </a:prstGeom>
          <a:solidFill>
            <a:srgbClr val="FF8F00">
              <a:alpha val="8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53212" y="25931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三级预算预警</a:t>
            </a:r>
            <a:endParaRPr lang="zh-CN" sz="112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Ellipse 35"/>
          <p:cNvSpPr/>
          <p:nvPr/>
        </p:nvSpPr>
        <p:spPr>
          <a:xfrm>
            <a:off x="6734175" y="2971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938962" y="2974181"/>
            <a:ext cx="5030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GREEN</a:t>
            </a:r>
            <a:endParaRPr lang="zh-CN" sz="1125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701915" y="298227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预算充足，正常推荐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Ellipse 38"/>
          <p:cNvSpPr/>
          <p:nvPr/>
        </p:nvSpPr>
        <p:spPr>
          <a:xfrm>
            <a:off x="6734175" y="3305175"/>
            <a:ext cx="152400" cy="152400"/>
          </a:xfrm>
          <a:prstGeom prst="ellipse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8962" y="3307556"/>
            <a:ext cx="6669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YELLOW</a:t>
            </a:r>
            <a:endParaRPr lang="zh-CN" sz="112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778115" y="33156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接近上限，警告提示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Ellipse 41"/>
          <p:cNvSpPr/>
          <p:nvPr/>
        </p:nvSpPr>
        <p:spPr>
          <a:xfrm>
            <a:off x="6734175" y="3638550"/>
            <a:ext cx="152400" cy="1524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938962" y="3640931"/>
            <a:ext cx="3132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RED</a:t>
            </a:r>
            <a:endParaRPr lang="zh-CN" sz="1125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559040" y="3649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预算耗尽，拒绝推荐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Rectangle 44"/>
          <p:cNvSpPr/>
          <p:nvPr/>
        </p:nvSpPr>
        <p:spPr>
          <a:xfrm>
            <a:off x="762000" y="4191000"/>
            <a:ext cx="10668000" cy="5715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38212" y="43362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核心思路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890712" y="4336256"/>
            <a:ext cx="44812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后处理定理保证：对DP输出做确定性变换不降低隐私保护强度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38212" y="4564856"/>
            <a:ext cx="3503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临床阈值裁剪是公开函数 → 安全性与精度可兼得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354510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DeepFM v3模型改进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333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47750"/>
            <a:ext cx="34290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4775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71600"/>
            <a:ext cx="3429000" cy="952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65110" y="1203960"/>
            <a:ext cx="2422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合并嵌入 Merged Embedding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38212" y="16883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问题</a:t>
            </a:r>
            <a:endParaRPr lang="zh-CN" sz="112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9165" y="1934528"/>
            <a:ext cx="2257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每字段独立Embedding → Opacus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9165" y="2153602"/>
            <a:ext cx="2004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不支持多Embedding梯度采样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8212" y="2497931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</a:t>
            </a:r>
            <a:endParaRPr lang="zh-CN" sz="112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39165" y="274415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单个 nn.Embedding 共享空间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9165" y="2963228"/>
            <a:ext cx="18362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field_offsets 分段索引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952500" y="3333750"/>
            <a:ext cx="3048000" cy="476250"/>
          </a:xfrm>
          <a:prstGeom prst="roundRect">
            <a:avLst>
              <a:gd name="adj" fmla="val 12000"/>
            </a:avLst>
          </a:prstGeom>
          <a:solidFill>
            <a:srgbClr val="00796B">
              <a:alpha val="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539216" y="3429952"/>
            <a:ext cx="18745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79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15字段共享，embed_dim=8</a:t>
            </a:r>
            <a:endParaRPr lang="zh-CN" sz="1050" dirty="0">
              <a:solidFill>
                <a:srgbClr val="00796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94843" y="3638074"/>
            <a:ext cx="13633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796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Opacus DP-SGD 兼容</a:t>
            </a:r>
            <a:endParaRPr lang="zh-CN" sz="975" dirty="0">
              <a:solidFill>
                <a:srgbClr val="00796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38212" y="4021931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效果</a:t>
            </a:r>
            <a:endParaRPr lang="zh-CN" sz="1125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9165" y="4268152"/>
            <a:ext cx="31320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支持DP训练 ✓ 参数量减少 ✓ 跨字段语义共享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4381500" y="1047750"/>
            <a:ext cx="34290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4381500" y="104775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381500" y="1371600"/>
            <a:ext cx="34290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528691" y="12039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连续特征旁路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57712" y="16883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问题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58665" y="1934528"/>
            <a:ext cx="1698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连续特征经Embedding层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558665" y="21536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离散化损失精度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557712" y="2497931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558665" y="2744152"/>
            <a:ext cx="21966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4个连续特征绕过嵌入/FM/Deep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4572000" y="3048000"/>
            <a:ext cx="3048000" cy="285750"/>
          </a:xfrm>
          <a:prstGeom prst="roundRect">
            <a:avLst>
              <a:gd name="adj" fmla="val 13333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474512" y="3133249"/>
            <a:ext cx="32429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age_raw, bmi_raw, gfr_raw, liver_score_raw</a:t>
            </a:r>
            <a:endParaRPr lang="zh-CN" sz="975" dirty="0">
              <a:solidFill>
                <a:srgbClr val="1565C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558665" y="3458528"/>
            <a:ext cx="22042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独立线性变换 → 与FM+Deep拼接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557712" y="37838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效果</a:t>
            </a:r>
            <a:endParaRPr lang="zh-CN" sz="1125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4558665" y="4030028"/>
            <a:ext cx="327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GFR/肝功能评分直接参与决策 ✓ 保留原始精度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8001000" y="1047750"/>
            <a:ext cx="3429000" cy="4572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001000" y="104775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001000" y="1371600"/>
            <a:ext cx="3429000" cy="9525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32214" y="1203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训练优化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177212" y="1688306"/>
            <a:ext cx="24525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 LayerNorm 替代 BatchNorm</a:t>
            </a:r>
            <a:endParaRPr lang="zh-CN" sz="112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178165" y="1963102"/>
            <a:ext cx="2349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推理无需批统计量 → 单样本无偏差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8178165" y="2201228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与Opacus DP-SGD兼容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177212" y="2545556"/>
            <a:ext cx="14518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 差异化Dropout</a:t>
            </a:r>
            <a:endParaRPr lang="zh-CN" sz="112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178165" y="2820352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FM层 0.3 / Deep层 0.1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178165" y="3058478"/>
            <a:ext cx="17595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FM低阶交叉需更强正则化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177212" y="3402806"/>
            <a:ext cx="11327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 Focal Loss</a:t>
            </a:r>
            <a:endParaRPr lang="zh-CN" sz="112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178165" y="3677602"/>
            <a:ext cx="1084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α=0.25, γ=2.0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178165" y="3915728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聚焦难分样本，应对正负样本不平衡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Rectangle 48"/>
          <p:cNvSpPr/>
          <p:nvPr/>
        </p:nvSpPr>
        <p:spPr>
          <a:xfrm>
            <a:off x="8191500" y="4286250"/>
            <a:ext cx="3048000" cy="285750"/>
          </a:xfrm>
          <a:prstGeom prst="roundRect">
            <a:avLst>
              <a:gd name="adj" fmla="val 20000"/>
            </a:avLst>
          </a:prstGeom>
          <a:solidFill>
            <a:srgbClr val="FF8F00">
              <a:alpha val="6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802445" y="4371499"/>
            <a:ext cx="18261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1807种候选 vs 少数适配药物</a:t>
            </a:r>
            <a:endParaRPr lang="zh-CN" sz="975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关键实现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9525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000125"/>
            <a:ext cx="523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00125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304925"/>
            <a:ext cx="5238750" cy="7620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" y="1127760"/>
            <a:ext cx="17234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三角色RBAC权限控制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38212" y="154543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管理员</a:t>
            </a:r>
            <a:endParaRPr lang="zh-CN" sz="112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05915" y="1553528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全权限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8212" y="1831181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医生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15415" y="1839278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患者管理 + 推荐审核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38212" y="211693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研究员</a:t>
            </a:r>
            <a:endParaRPr lang="zh-CN" sz="112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58290" y="2125028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隐私分析 + 统计查看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952500" y="2524125"/>
            <a:ext cx="4857750" cy="285750"/>
          </a:xfrm>
          <a:prstGeom prst="roundRect">
            <a:avLst>
              <a:gd name="adj" fmla="val 20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677954" y="26108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前后端双重权限校验</a:t>
            </a:r>
            <a:endParaRPr lang="zh-CN" sz="1050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6191250" y="1000125"/>
            <a:ext cx="523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191250" y="1000125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191250" y="1304925"/>
            <a:ext cx="5238750" cy="762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66510" y="11277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审核反馈闭环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367462" y="1545431"/>
            <a:ext cx="23662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FeedbackLearner 渐进式惩罚</a:t>
            </a:r>
            <a:endParaRPr lang="zh-CN" sz="112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368415" y="1839278"/>
            <a:ext cx="25493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1次拒绝 ×0.7，2次 ×0.5，3次+ ×0.3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368415" y="212502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被反复拒绝的药物权重持续衰减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6381750" y="2524125"/>
            <a:ext cx="4857750" cy="285750"/>
          </a:xfrm>
          <a:prstGeom prst="roundRect">
            <a:avLst>
              <a:gd name="adj" fmla="val 20000"/>
            </a:avLst>
          </a:prstGeom>
          <a:solidFill>
            <a:srgbClr val="1565C0">
              <a:alpha val="6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677817" y="2610802"/>
            <a:ext cx="22656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 → 审核 → 惩罚 → 优化 → 推荐</a:t>
            </a:r>
            <a:endParaRPr lang="zh-CN" sz="1050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762000" y="3571875"/>
            <a:ext cx="523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3571875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FF8F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3876675"/>
            <a:ext cx="5238750" cy="76200"/>
          </a:xfrm>
          <a:prstGeom prst="rect">
            <a:avLst/>
          </a:prstGeom>
          <a:solidFill>
            <a:srgbClr val="FF8F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37260" y="36995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推荐解释生成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38212" y="41171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三维解释信息</a:t>
            </a:r>
            <a:endParaRPr lang="zh-CN" sz="112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39165" y="4411028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 适应症匹配详情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39165" y="4649152"/>
            <a:ext cx="2403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 安全性分析（禁忌/交互/妊娠）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39165" y="4887278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 推荐理由说明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952500" y="5238750"/>
            <a:ext cx="4857750" cy="285750"/>
          </a:xfrm>
          <a:prstGeom prst="roundRect">
            <a:avLst>
              <a:gd name="adj" fmla="val 20000"/>
            </a:avLst>
          </a:prstGeom>
          <a:solidFill>
            <a:srgbClr val="FF8F00">
              <a:alpha val="6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938028" y="5325428"/>
            <a:ext cx="28866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ClinicalMatcher标准化匹配，准确率95%+</a:t>
            </a:r>
            <a:endParaRPr lang="zh-CN" sz="1050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6191250" y="3571875"/>
            <a:ext cx="52387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191250" y="3571875"/>
            <a:ext cx="5238750" cy="38100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191250" y="3876675"/>
            <a:ext cx="523875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366510" y="369951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全字段中文翻译</a:t>
            </a:r>
            <a:endParaRPr lang="zh-CN" sz="12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367462" y="41171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双语翻译管线</a:t>
            </a:r>
            <a:endParaRPr lang="zh-CN" sz="1125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368415" y="4411028"/>
            <a:ext cx="23576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drug_translator — 药物名 EN→CN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368415" y="4649152"/>
            <a:ext cx="22886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translation_mapper — 统一映射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368415" y="4887278"/>
            <a:ext cx="23806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disease_mapper — 中文疾病→英文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6381750" y="5238750"/>
            <a:ext cx="4857750" cy="285750"/>
          </a:xfrm>
          <a:prstGeom prst="roundRect">
            <a:avLst>
              <a:gd name="adj" fmla="val 20000"/>
            </a:avLst>
          </a:prstGeom>
          <a:solidFill>
            <a:srgbClr val="2E7D32">
              <a:alpha val="6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635645" y="5325428"/>
            <a:ext cx="2349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推荐结果同时返回中文 + 英文名称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1273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09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80988"/>
            <a:ext cx="39043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系统界面 — 推荐审核页面</a:t>
            </a:r>
            <a:endParaRPr lang="zh-CN" sz="22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19125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811" y="857250"/>
            <a:ext cx="8664379" cy="5524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80988"/>
            <a:ext cx="39043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系统界面 — 用药推荐页面</a:t>
            </a:r>
            <a:endParaRPr lang="zh-CN" sz="22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19125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327" y="857250"/>
            <a:ext cx="5817346" cy="5524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3397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80988"/>
            <a:ext cx="39043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系统界面 — 隐私配置页面</a:t>
            </a:r>
            <a:endParaRPr lang="zh-CN" sz="22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19125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3358" y="857250"/>
            <a:ext cx="7445285" cy="5524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80988"/>
            <a:ext cx="42494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系统界面 — 推荐统计仪表板</a:t>
            </a:r>
            <a:endParaRPr lang="zh-CN" sz="22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19125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1851" y="857250"/>
            <a:ext cx="7068298" cy="5524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280988"/>
            <a:ext cx="321429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系统界面 — 系统首页</a:t>
            </a:r>
            <a:endParaRPr lang="zh-CN" sz="22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19125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4789" y="857250"/>
            <a:ext cx="6842423" cy="5524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48602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实验与测试结果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38175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C6282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39165" y="1048702"/>
            <a:ext cx="12826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ε=0.1 准确率下降</a:t>
            </a:r>
            <a:endParaRPr lang="zh-CN" sz="1050" b="1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2495" y="1279208"/>
            <a:ext cx="102197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~10%</a:t>
            </a:r>
            <a:endParaRPr lang="zh-CN" sz="31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0118" y="1799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隐私保护代价可控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352425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01415" y="1048702"/>
            <a:ext cx="8478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DP性能开销</a:t>
            </a:r>
            <a:endParaRPr lang="zh-CN" sz="105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674745" y="1279208"/>
            <a:ext cx="123935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~5ms</a:t>
            </a:r>
            <a:endParaRPr lang="zh-CN" sz="31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702368" y="17997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噪声注入额外耗时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628650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63665" y="10487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推荐响应时间</a:t>
            </a:r>
            <a:endParaRPr lang="zh-CN" sz="1050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436995" y="1279208"/>
            <a:ext cx="87706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&lt;2s</a:t>
            </a:r>
            <a:endParaRPr lang="zh-CN" sz="31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464618" y="1799749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含四层架构+DP全流程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9048750" y="904875"/>
            <a:ext cx="25717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225915" y="10487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药物候选规模</a:t>
            </a:r>
            <a:endParaRPr lang="zh-CN" sz="1050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99245" y="1279208"/>
            <a:ext cx="102197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1807</a:t>
            </a:r>
            <a:endParaRPr lang="zh-CN" sz="3150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26868" y="17997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种药物实时推荐</a:t>
            </a:r>
            <a:endParaRPr lang="zh-CN" sz="975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44855" y="2330768"/>
            <a:ext cx="18354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隐私预算 vs 准确率</a:t>
            </a:r>
            <a:endParaRPr lang="zh-CN" sz="13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762000" y="2647950"/>
            <a:ext cx="5143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62000" y="2647950"/>
            <a:ext cx="5143500" cy="285750"/>
          </a:xfrm>
          <a:prstGeom prst="roundRect">
            <a:avLst>
              <a:gd name="adj" fmla="val 26667"/>
            </a:avLst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62000" y="2857500"/>
            <a:ext cx="5143500" cy="76200"/>
          </a:xfrm>
          <a:prstGeom prst="rect">
            <a:avLst/>
          </a:prstGeom>
          <a:solidFill>
            <a:srgbClr val="00796B">
              <a:alpha val="8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373313" y="2733199"/>
            <a:ext cx="3013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ε 值</a:t>
            </a:r>
            <a:endParaRPr lang="zh-CN" sz="97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566571" y="27331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准确率下降</a:t>
            </a:r>
            <a:endParaRPr lang="zh-CN" sz="97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206311" y="27331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隐私保护强度</a:t>
            </a:r>
            <a:endParaRPr lang="zh-CN" sz="97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03318" y="3029902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1.0</a:t>
            </a:r>
            <a:endParaRPr lang="zh-CN" sz="1050" dirty="0">
              <a:solidFill>
                <a:srgbClr val="1A1A2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812899" y="30299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~2%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577239" y="302990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弱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84149" y="33156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0.5</a:t>
            </a:r>
            <a:endParaRPr lang="zh-CN" sz="1050" dirty="0">
              <a:solidFill>
                <a:srgbClr val="1A1A2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812899" y="33156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~5%</a:t>
            </a:r>
            <a:endParaRPr lang="zh-CN" sz="1050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4577239" y="331565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中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03318" y="3601402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0.1</a:t>
            </a:r>
            <a:endParaRPr lang="zh-CN" sz="1050" dirty="0">
              <a:solidFill>
                <a:srgbClr val="1A1A2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789896" y="3601402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628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~10%</a:t>
            </a:r>
            <a:endParaRPr lang="zh-CN" sz="1050" dirty="0">
              <a:solidFill>
                <a:srgbClr val="C628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4577239" y="3601402"/>
            <a:ext cx="180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强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269355" y="2330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安全数据覆盖</a:t>
            </a:r>
            <a:endParaRPr lang="zh-CN" sz="13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6286500" y="2647950"/>
            <a:ext cx="5143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286500" y="2647950"/>
            <a:ext cx="5143500" cy="285750"/>
          </a:xfrm>
          <a:prstGeom prst="roundRect">
            <a:avLst>
              <a:gd name="adj" fmla="val 26667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6286500" y="2857500"/>
            <a:ext cx="5143500" cy="7620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172349" y="2733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类别</a:t>
            </a:r>
            <a:endParaRPr lang="zh-CN" sz="97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621589" y="27331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覆盖率</a:t>
            </a:r>
            <a:endParaRPr lang="zh-CN" sz="97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0315599" y="2733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数量</a:t>
            </a:r>
            <a:endParaRPr lang="zh-CN" sz="97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090886" y="30299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禁忌症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623512" y="30299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95.3%</a:t>
            </a:r>
            <a:endParaRPr lang="zh-CN" sz="10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0161294" y="3029902"/>
            <a:ext cx="6324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1831/1815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7014210" y="3315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药物交互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643640" y="331565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81.5%</a:t>
            </a:r>
            <a:endParaRPr lang="zh-CN" sz="1050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142125" y="3315652"/>
            <a:ext cx="6707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1480/1815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860858" y="3601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任意安全数据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623512" y="36014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97.0%</a:t>
            </a:r>
            <a:endParaRPr lang="zh-CN" sz="105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15746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总体覆盖</a:t>
            </a:r>
            <a:endParaRPr lang="zh-CN" sz="10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762000" y="4191000"/>
            <a:ext cx="10668000" cy="200025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35355" y="43500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其他关键指标</a:t>
            </a:r>
            <a:endParaRPr lang="zh-CN" sz="13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6" name="Rectangle 56"/>
          <p:cNvSpPr/>
          <p:nvPr/>
        </p:nvSpPr>
        <p:spPr>
          <a:xfrm>
            <a:off x="952500" y="46672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1673650" y="4707255"/>
            <a:ext cx="9389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92.5%</a:t>
            </a:r>
            <a:endParaRPr lang="zh-CN" sz="2100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561147" y="50858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适应症路由覆盖率</a:t>
            </a:r>
            <a:endParaRPr lang="zh-CN" sz="97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Rectangle 59"/>
          <p:cNvSpPr/>
          <p:nvPr/>
        </p:nvSpPr>
        <p:spPr>
          <a:xfrm>
            <a:off x="3524250" y="46672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4374216" y="4707255"/>
            <a:ext cx="6813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1295</a:t>
            </a:r>
            <a:endParaRPr lang="zh-CN" sz="2100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4061698" y="50858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种中文疾病输入支持</a:t>
            </a:r>
            <a:endParaRPr lang="zh-CN" sz="97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Rectangle 62"/>
          <p:cNvSpPr/>
          <p:nvPr/>
        </p:nvSpPr>
        <p:spPr>
          <a:xfrm>
            <a:off x="6096000" y="46672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897660" y="4707255"/>
            <a:ext cx="77793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12/12</a:t>
            </a:r>
            <a:endParaRPr lang="zh-CN" sz="21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6704648" y="50858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功能测试全部通过</a:t>
            </a:r>
            <a:endParaRPr lang="zh-CN" sz="97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8667750" y="466725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9468048" y="4707255"/>
            <a:ext cx="9711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 影响</a:t>
            </a:r>
            <a:endParaRPr lang="zh-CN" sz="2100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9001411" y="5085874"/>
            <a:ext cx="1904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SafetyFilter不受DP噪声影响</a:t>
            </a:r>
            <a:endParaRPr lang="zh-CN" sz="97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8" name="Rectangle 68"/>
          <p:cNvSpPr/>
          <p:nvPr/>
        </p:nvSpPr>
        <p:spPr>
          <a:xfrm>
            <a:off x="952500" y="5524500"/>
            <a:ext cx="10287000" cy="476250"/>
          </a:xfrm>
          <a:prstGeom prst="roundRect">
            <a:avLst>
              <a:gd name="adj" fmla="val 16000"/>
            </a:avLst>
          </a:prstGeom>
          <a:solidFill>
            <a:srgbClr val="00796B">
              <a:alpha val="6000"/>
            </a:srgbClr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1954134" y="5688806"/>
            <a:ext cx="8283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核心发现：DP保护不降低模型质量 — DP模型separation(0.85)高于无DP基线(0.75)，更好区分高/低分药物</a:t>
            </a:r>
            <a:endParaRPr lang="zh-CN" sz="112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296228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结论与未来工作</a:t>
            </a:r>
            <a:endParaRPr lang="zh-CN" sz="255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762000" y="68580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1045" y="917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796B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主要工作</a:t>
            </a:r>
            <a:endParaRPr lang="zh-CN" sz="1650" b="1" dirty="0">
              <a:solidFill>
                <a:srgbClr val="00796B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762000" y="1190625"/>
            <a:ext cx="952500" cy="19050"/>
          </a:xfrm>
          <a:prstGeom prst="rect">
            <a:avLst/>
          </a:prstGeom>
          <a:solidFill>
            <a:srgbClr val="00796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40970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00796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83932" y="155781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四层推荐架构</a:t>
            </a:r>
            <a:endParaRPr lang="zh-CN" sz="127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5838" y="1859756"/>
            <a:ext cx="3717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KnowledgeRouter四级路由 + SafetyFilter硬排除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85838" y="2097881"/>
            <a:ext cx="31421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RuleMarker软标记 + DeepFM个性化排序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790" y="2344102"/>
            <a:ext cx="23192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确定性安全判断不受DP噪声影响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762000" y="272415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1565C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83932" y="2872264"/>
            <a:ext cx="21831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差分隐私与深度学习融合</a:t>
            </a:r>
            <a:endParaRPr lang="zh-CN" sz="127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5838" y="3174206"/>
            <a:ext cx="4111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临床阈值后处理（低分置零、上限裁剪）+ 双重预算追踪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85838" y="3412331"/>
            <a:ext cx="30025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基于DP后处理定理，安全性不受噪声干扰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86790" y="36585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ε=0.1时准确率仅下降~10%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762000" y="403860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FF8F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83932" y="4186714"/>
            <a:ext cx="21831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口语增强与审核反馈闭环</a:t>
            </a:r>
            <a:endParaRPr lang="zh-CN" sz="127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85838" y="4488656"/>
            <a:ext cx="38076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三层Fallback支持1295种中文疾病 + 渐进式惩罚优化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5838" y="4726781"/>
            <a:ext cx="31503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构建从患者口语表达到药品推荐的完整链路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86790" y="4973002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→ 推荐审核闭环持续优化</a:t>
            </a:r>
            <a:endParaRPr lang="zh-CN" sz="1050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456045" y="9172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未来方向</a:t>
            </a:r>
            <a:endParaRPr lang="zh-CN" sz="1650" b="1" dirty="0">
              <a:solidFill>
                <a:srgbClr val="1565C0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6477000" y="1190625"/>
            <a:ext cx="952500" cy="190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477000" y="1409700"/>
            <a:ext cx="495300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98932" y="1557814"/>
            <a:ext cx="17921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扩充罕见病路由覆盖</a:t>
            </a:r>
            <a:endParaRPr lang="zh-CN" sz="1275" b="1" dirty="0">
              <a:solidFill>
                <a:srgbClr val="1565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0838" y="1878806"/>
            <a:ext cx="30435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当前120个罕见病路由覆盖有限，目标100%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701790" y="2153602"/>
            <a:ext cx="30247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结合医学知识图谱自动扩充疾病-适应症映射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6477000" y="2724150"/>
            <a:ext cx="495300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FF8F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698932" y="2872264"/>
            <a:ext cx="19876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8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审核反馈数据持续优化</a:t>
            </a:r>
            <a:endParaRPr lang="zh-CN" sz="1275" b="1" dirty="0">
              <a:solidFill>
                <a:srgbClr val="FF8F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700838" y="3193256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积累反馈数据，持续优化路由权重和推荐策略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701790" y="34680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从规则驱动逐步过渡到数据驱动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6477000" y="4038600"/>
            <a:ext cx="495300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00796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698932" y="4186714"/>
            <a:ext cx="22809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796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安全性特征编码入DeepFM</a:t>
            </a:r>
            <a:endParaRPr lang="zh-CN" sz="1275" b="1" dirty="0">
              <a:solidFill>
                <a:srgbClr val="00796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700838" y="45077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禁忌症、交互等编码为模型特征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700838" y="4774406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实现安全性与排序的端到端联合优化</a:t>
            </a:r>
            <a:endParaRPr lang="zh-CN" sz="1125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16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796B">
                  <a:alpha val="4000"/>
                </a:srgbClr>
              </a:gs>
              <a:gs pos="100000">
                <a:srgbClr val="00796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58684" y="1864995"/>
            <a:ext cx="147463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A1A2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rPr>
              <a:t>致 谢</a:t>
            </a:r>
            <a:endParaRPr lang="zh-CN" sz="3900" b="1" dirty="0">
              <a:solidFill>
                <a:srgbClr val="1A1A2E"/>
              </a:solidFill>
              <a:latin typeface="Georgia" panose="02040502050405020303"/>
              <a:ea typeface="楷体" panose="02010609060101010101" charset="-122"/>
              <a:cs typeface="Georgia" panose="02040502050405020303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524500" y="2457450"/>
            <a:ext cx="114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96B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47185" y="3060382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感谢指导教师侯慧莹老师的悉心指导</a:t>
            </a:r>
            <a:endParaRPr lang="zh-CN" sz="16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785711" y="3631882"/>
            <a:ext cx="46205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感谢人工智能与大数据学院各位老师的培养</a:t>
            </a:r>
            <a:endParaRPr lang="zh-CN" sz="16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70132" y="4203382"/>
            <a:ext cx="2451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46E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感谢家人的理解与支持</a:t>
            </a:r>
            <a:endParaRPr lang="zh-CN" sz="1650" dirty="0">
              <a:solidFill>
                <a:srgbClr val="546E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0" y="5715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gradFill>
            <a:gsLst>
              <a:gs pos="0">
                <a:srgbClr val="00796B">
                  <a:alpha val="6000"/>
                </a:srgbClr>
              </a:gs>
              <a:gs pos="100000">
                <a:srgbClr val="1565C0">
                  <a:alpha val="6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10477500" y="5000625"/>
            <a:ext cx="476250" cy="571500"/>
          </a:xfrm>
          <a:custGeom>
            <a:avLst/>
            <a:gdLst/>
            <a:ahLst/>
            <a:cxnLst/>
            <a:rect l="l" t="t" r="r" b="b"/>
            <a:pathLst>
              <a:path w="476250" h="571500">
                <a:moveTo>
                  <a:pt x="0" y="142875"/>
                </a:moveTo>
                <a:lnTo>
                  <a:pt x="238125" y="0"/>
                </a:lnTo>
                <a:lnTo>
                  <a:pt x="476250" y="142875"/>
                </a:lnTo>
                <a:lnTo>
                  <a:pt x="476250" y="428625"/>
                </a:lnTo>
                <a:lnTo>
                  <a:pt x="238125" y="571500"/>
                </a:lnTo>
                <a:lnTo>
                  <a:pt x="0" y="428625"/>
                </a:lnTo>
                <a:close/>
              </a:path>
            </a:pathLst>
          </a:custGeom>
          <a:noFill/>
          <a:ln w="9525">
            <a:solidFill>
              <a:srgbClr val="00796B">
                <a:alpha val="12000"/>
              </a:srgbClr>
            </a:solidFill>
          </a:ln>
        </p:spPr>
      </p:sp>
      <p:sp>
        <p:nvSpPr>
          <p:cNvPr id="13" name="Polygon 13"/>
          <p:cNvSpPr/>
          <p:nvPr/>
        </p:nvSpPr>
        <p:spPr>
          <a:xfrm>
            <a:off x="10953750" y="5000625"/>
            <a:ext cx="476250" cy="571500"/>
          </a:xfrm>
          <a:custGeom>
            <a:avLst/>
            <a:gdLst/>
            <a:ahLst/>
            <a:cxnLst/>
            <a:rect l="l" t="t" r="r" b="b"/>
            <a:pathLst>
              <a:path w="476250" h="571500">
                <a:moveTo>
                  <a:pt x="0" y="142875"/>
                </a:moveTo>
                <a:lnTo>
                  <a:pt x="238125" y="0"/>
                </a:lnTo>
                <a:lnTo>
                  <a:pt x="476250" y="142875"/>
                </a:lnTo>
                <a:lnTo>
                  <a:pt x="476250" y="428625"/>
                </a:lnTo>
                <a:lnTo>
                  <a:pt x="238125" y="571500"/>
                </a:lnTo>
                <a:lnTo>
                  <a:pt x="0" y="428625"/>
                </a:lnTo>
                <a:close/>
              </a:path>
            </a:pathLst>
          </a:custGeom>
          <a:noFill/>
          <a:ln w="9525">
            <a:solidFill>
              <a:srgbClr val="1565C0">
                <a:alpha val="12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129665" y="6506528"/>
            <a:ext cx="63817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2026年</a:t>
            </a:r>
            <a:r>
              <a:rPr lang="en-US" alt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r>
              <a:rPr lang="zh-CN" sz="105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月</a:t>
            </a:r>
            <a:endParaRPr lang="zh-CN" sz="105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306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17</a:t>
            </a:r>
            <a:endParaRPr lang="zh-CN" sz="900" dirty="0">
              <a:solidFill>
                <a:srgbClr val="90A4A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4029</Words>
  <Application>WPS 演示</Application>
  <PresentationFormat>On-screen Show (4:3)</PresentationFormat>
  <Paragraphs>674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Arial</vt:lpstr>
      <vt:lpstr>Georgia</vt:lpstr>
      <vt:lpstr>楷体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Young</cp:lastModifiedBy>
  <cp:revision>2</cp:revision>
  <dcterms:created xsi:type="dcterms:W3CDTF">2013-01-27T09:14:00Z</dcterms:created>
  <dcterms:modified xsi:type="dcterms:W3CDTF">2026-05-15T09:14:29Z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9BCC3BF1761C44EB8058BF46D5700FAE_12</vt:lpwstr>
  </property>
  <property fmtid="{D5CDD505-2E9C-101B-9397-08002B2CF9AE}" pid="3" name="KSOProductBuildVer">
    <vt:lpwstr>2052-12.1.0.23542</vt:lpwstr>
  </property>
</Properties>
</file>
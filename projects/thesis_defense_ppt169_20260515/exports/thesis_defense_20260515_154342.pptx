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关键词：题目、姓名、指导教师</a:t>
            </a:r>
          </a:p>
          <a:p>
            <a:r>
              <a:rPr lang="zh-CN" dirty="0"/>
              <a:t>• 时间：0:00-0:30</a:t>
            </a:r>
          </a:p>
          <a:p>
            <a:r>
              <a:rPr lang="zh-CN" dirty="0"/>
              <a:t>• 过渡：各位老师好，我今天答辩的题目是...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关键词：医疗数据增长30%+、700+数据泄露事件、传统隐私保护失效、差分隐私与推荐系统融合匮乏</a:t>
            </a:r>
          </a:p>
          <a:p>
            <a:r>
              <a:rPr lang="zh-CN" dirty="0"/>
              <a:t>• 时间：0:30-2:30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医疗数据爆发式增长，但隐私泄露严重</a:t>
            </a:r>
          </a:p>
          <a:p>
            <a:r>
              <a:rPr lang="zh-CN" dirty="0"/>
              <a:t>2. 传统K-匿名等方法有根本缺陷，差分隐私提供数学证明</a:t>
            </a:r>
          </a:p>
          <a:p>
            <a:r>
              <a:rPr lang="zh-CN" dirty="0"/>
              <a:t>3. 现有医疗推荐缺乏安全约束和可解释性</a:t>
            </a:r>
          </a:p>
          <a:p>
            <a:r>
              <a:rPr lang="zh-CN" dirty="0"/>
              <a:t>• 过渡：面对这些痛点，我们的研究目标是什么？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关键词：四层递进、知识路由、安全过滤、规则标记、DeepFM排序</a:t>
            </a:r>
          </a:p>
          <a:p>
            <a:r>
              <a:rPr lang="zh-CN" dirty="0"/>
              <a:t>• 时间：2:30-4:00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核心目标：在差分隐私保护下兼顾临床安全与推荐精度</a:t>
            </a:r>
          </a:p>
          <a:p>
            <a:r>
              <a:rPr lang="zh-CN" dirty="0"/>
              <a:t>2. 四层架构各司其职：路由解决语义鸿沟，安全过滤硬排除，规则标记软提示，DeepFM个性化</a:t>
            </a:r>
          </a:p>
          <a:p>
            <a:r>
              <a:rPr lang="zh-CN" dirty="0"/>
              <a:t>3. 关键原则：噪声不影响安全过滤的确定性判断</a:t>
            </a:r>
          </a:p>
          <a:p>
            <a:r>
              <a:rPr lang="zh-CN" dirty="0"/>
              <a:t>• 过渡：接下来看系统总体架构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关键词：三服务微服务、React+Spring Boot+FastAPI、1807种药物</a:t>
            </a:r>
          </a:p>
          <a:p>
            <a:r>
              <a:rPr lang="zh-CN" dirty="0"/>
              <a:t>• 时间：4:00-5:30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前端React 18提供审核/隐私/统计三个核心界面</a:t>
            </a:r>
          </a:p>
          <a:p>
            <a:r>
              <a:rPr lang="zh-CN" dirty="0"/>
              <a:t>2. 后端Spring Boot负责认证、数据管理、模型服务代理</a:t>
            </a:r>
          </a:p>
          <a:p>
            <a:r>
              <a:rPr lang="zh-CN" dirty="0"/>
              <a:t>3. 模型服务FastAPI实现四层推荐+DP噪声注入</a:t>
            </a:r>
          </a:p>
          <a:p>
            <a:r>
              <a:rPr lang="zh-CN" dirty="0"/>
              <a:t>• 过渡：下面重点讲解三层安全架构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关键词：SafetyFilter 12+9、RuleMarker 7种、DeepFM+DP噪声</a:t>
            </a:r>
          </a:p>
          <a:p>
            <a:r>
              <a:rPr lang="zh-CN" dirty="0"/>
              <a:t>• 时间：5:30-8:00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SafetyFilter硬排除：过敏、禁忌症、致命交互等12条红线</a:t>
            </a:r>
          </a:p>
          <a:p>
            <a:r>
              <a:rPr lang="zh-CN" dirty="0"/>
              <a:t>2. RuleMarker软标记：7种规则标记但不排除，候选药物保留排序</a:t>
            </a:r>
          </a:p>
          <a:p>
            <a:r>
              <a:rPr lang="zh-CN" dirty="0"/>
              <a:t>3. DeepFM个性化排序，DP噪声仅在此层应用</a:t>
            </a:r>
          </a:p>
          <a:p>
            <a:r>
              <a:rPr lang="zh-CN" dirty="0"/>
              <a:t>• 过渡：安全架构是怎么串联起来的？看推荐流程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关键词：9步流程、PatientInputEnhancer三层fallback、FeedbackLearner渐进惩罚</a:t>
            </a:r>
          </a:p>
          <a:p>
            <a:r>
              <a:rPr lang="zh-CN" dirty="0"/>
              <a:t>• 时间：8:00-10:00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完整9步流程：从患者信息到质量保障</a:t>
            </a:r>
          </a:p>
          <a:p>
            <a:r>
              <a:rPr lang="zh-CN" dirty="0"/>
              <a:t>2. 口语增强三层fallback：精确→关键词→症状组合</a:t>
            </a:r>
          </a:p>
          <a:p>
            <a:r>
              <a:rPr lang="zh-CN" dirty="0"/>
              <a:t>3. 审核反馈闭环：医生确认/修改/拒绝，渐进式惩罚持续优化</a:t>
            </a:r>
          </a:p>
          <a:p>
            <a:r>
              <a:rPr lang="zh-CN" dirty="0"/>
              <a:t>• 过渡：接下来讲差分隐私的具体保护机制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关键词：Laplace/Gaussian噪声、临床阈值后处理、双重预算追踪、三级预警</a:t>
            </a:r>
          </a:p>
          <a:p>
            <a:r>
              <a:rPr lang="zh-CN" dirty="0"/>
              <a:t>• 时间：10:00-12:00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两种噪声机制及公式</a:t>
            </a:r>
          </a:p>
          <a:p>
            <a:r>
              <a:rPr lang="zh-CN" dirty="0"/>
              <a:t>2. 临床阈值后处理四条规则：低分置零、上限裁剪、dpAnomaly标记、置信区间</a:t>
            </a:r>
          </a:p>
          <a:p>
            <a:r>
              <a:rPr lang="zh-CN" dirty="0"/>
              <a:t>3. 隐私预算双重追踪+三级预警（绿/黄/红）</a:t>
            </a:r>
          </a:p>
          <a:p>
            <a:r>
              <a:rPr lang="zh-CN" dirty="0"/>
              <a:t>4. 后处理定理保证：确定性变换不降低隐私保护强度</a:t>
            </a:r>
          </a:p>
          <a:p>
            <a:r>
              <a:rPr lang="zh-CN" dirty="0"/>
              <a:t>• 过渡：下面讲DeepFM模型的改进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关键词：Merged Embedding、连续特征旁路、LayerNorm、Focal Loss</a:t>
            </a:r>
          </a:p>
          <a:p>
            <a:r>
              <a:rPr lang="zh-CN" dirty="0"/>
              <a:t>• 时间：12:00-13:30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合并嵌入使Opacus DP训练成为可能</a:t>
            </a:r>
          </a:p>
          <a:p>
            <a:r>
              <a:rPr lang="zh-CN" dirty="0"/>
              <a:t>2. 连续特征旁路保留GFR/肝功能等关键临床指标的精度</a:t>
            </a:r>
          </a:p>
          <a:p>
            <a:r>
              <a:rPr lang="zh-CN" dirty="0"/>
              <a:t>3. LayerNorm+差异化Dropout+Focal Loss应对训练挑战</a:t>
            </a:r>
          </a:p>
          <a:p>
            <a:r>
              <a:rPr lang="zh-CN" dirty="0"/>
              <a:t>• 过渡：除了算法，系统实现还有几个关键点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关键词：RBAC三角色、审核反馈闭环、推荐解释、全字段中文翻译</a:t>
            </a:r>
          </a:p>
          <a:p>
            <a:r>
              <a:rPr lang="zh-CN" dirty="0"/>
              <a:t>• 时间：13:30-15:00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管理员/医生/研究员三角色权限，前后端双重校验</a:t>
            </a:r>
          </a:p>
          <a:p>
            <a:r>
              <a:rPr lang="zh-CN" dirty="0"/>
              <a:t>2. 推荐解释生成：适应症匹配+安全性分析+推荐理由</a:t>
            </a:r>
          </a:p>
          <a:p>
            <a:r>
              <a:rPr lang="zh-CN" dirty="0"/>
              <a:t>3. 全字段英→中翻译管线</a:t>
            </a:r>
          </a:p>
          <a:p>
            <a:r>
              <a:rPr lang="zh-CN" dirty="0"/>
              <a:t>• 过渡：看下系统界面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关键词：推荐审核、隐私配置、统计仪表板、系统首页</a:t>
            </a:r>
          </a:p>
          <a:p>
            <a:r>
              <a:rPr lang="zh-CN" dirty="0"/>
              <a:t>• 时间：15:00-16:00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推荐审核页面：安全级别标签（绿/黄/橙/紫）</a:t>
            </a:r>
          </a:p>
          <a:p>
            <a:r>
              <a:rPr lang="zh-CN" dirty="0"/>
              <a:t>2. 隐私配置页面：ε/δ参数+预算管理</a:t>
            </a:r>
          </a:p>
          <a:p>
            <a:r>
              <a:rPr lang="zh-CN" dirty="0"/>
              <a:t>3. 统计仪表板：趋势+Top10+分类+安全分层</a:t>
            </a:r>
          </a:p>
          <a:p>
            <a:r>
              <a:rPr lang="zh-CN" dirty="0"/>
              <a:t>• 过渡：最后看实验结果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关键词：ε=0.1下降~10%、DP开销~5ms、响应&lt;2s、92.5%路由覆盖、12/12测试通过</a:t>
            </a:r>
          </a:p>
          <a:p>
            <a:r>
              <a:rPr lang="zh-CN" dirty="0"/>
              <a:t>• 时间：16:00-18:00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KPI：ε=0.1准确率下降可控，性能开销小，响应快</a:t>
            </a:r>
          </a:p>
          <a:p>
            <a:r>
              <a:rPr lang="zh-CN" dirty="0"/>
              <a:t>2. 隐私预算vs准确率：ε越大精度越高，但隐私保护越弱</a:t>
            </a:r>
          </a:p>
          <a:p>
            <a:r>
              <a:rPr lang="zh-CN" dirty="0"/>
              <a:t>3. 安全数据覆盖：禁忌症95.3%、交互81.5%、总体97%</a:t>
            </a:r>
          </a:p>
          <a:p>
            <a:r>
              <a:rPr lang="zh-CN" dirty="0"/>
              <a:t>4. 核心发现：DP模型separation(0.85)高于基线(0.75)</a:t>
            </a:r>
          </a:p>
          <a:p>
            <a:r>
              <a:rPr lang="zh-CN" dirty="0"/>
              <a:t>• 过渡：总结一下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关键词：四层架构、DP+深度学习融合、口语增强+反馈闭环、未来三个方向</a:t>
            </a:r>
          </a:p>
          <a:p>
            <a:r>
              <a:rPr lang="zh-CN" dirty="0"/>
              <a:t>• 时间：18:00-19:30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三项主要工作回顾</a:t>
            </a:r>
          </a:p>
          <a:p>
            <a:r>
              <a:rPr lang="zh-CN" dirty="0"/>
              <a:t>2. 未来方向：扩充罕见病、优化路由权重、安全性特征编码入模型</a:t>
            </a:r>
          </a:p>
          <a:p>
            <a:r>
              <a:rPr lang="zh-CN" dirty="0"/>
              <a:t>• 过渡：致谢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关键词：感谢</a:t>
            </a:r>
          </a:p>
          <a:p>
            <a:r>
              <a:rPr lang="zh-CN" dirty="0"/>
              <a:t>• 时间：19:30-20:00</a:t>
            </a:r>
          </a:p>
          <a:p>
            <a:r>
              <a:rPr lang="zh-CN" dirty="0"/>
              <a:t>• 要点：感谢导师、学院、家人</a:t>
            </a:r>
          </a:p>
          <a:p>
            <a:r>
              <a:rPr lang="zh-CN" dirty="0"/>
              <a:t>• 结束：谢谢各位老师，请批评指正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96B">
                  <a:alpha val="8000"/>
                </a:srgbClr>
              </a:gs>
              <a:gs pos="100000">
                <a:srgbClr val="00796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1143000"/>
            <a:ext cx="38100" cy="3810000"/>
          </a:xfrm>
          <a:prstGeom prst="roundRect">
            <a:avLst>
              <a:gd name="adj" fmla="val 50000"/>
            </a:avLst>
          </a:prstGeom>
          <a:solidFill>
            <a:srgbClr val="00796B">
              <a:alpha val="15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1102995" y="1564958"/>
            <a:ext cx="5393674" cy="1511617"/>
            <a:chOff x="1102995" y="1564958"/>
            <a:chExt cx="5393674" cy="1511617"/>
          </a:xfrm>
        </p:grpSpPr>
        <p:sp>
          <p:nvSpPr>
            <p:cNvPr id="6" name="TextBox 6"/>
            <p:cNvSpPr txBox="1"/>
            <p:nvPr/>
          </p:nvSpPr>
          <p:spPr>
            <a:xfrm>
              <a:off x="1102995" y="1564958"/>
              <a:ext cx="532121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1A2E"/>
                  </a:solidFill>
                  <a:latin typeface="Georgia"/>
                  <a:ea typeface="KaiTi"/>
                  <a:cs typeface="Georgia"/>
                </a:rPr>
                <a:t>差分隐私保护的AI驱动的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2995" y="2136458"/>
              <a:ext cx="5393674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1A2E"/>
                  </a:solidFill>
                  <a:latin typeface="Georgia"/>
                  <a:ea typeface="KaiTi"/>
                  <a:cs typeface="Georgia"/>
                </a:rPr>
                <a:t>个性化医疗用药推荐系统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0140" y="2710815"/>
              <a:ext cx="16230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46E7A"/>
                  </a:solidFill>
                  <a:latin typeface="Georgia"/>
                  <a:ea typeface="KaiTi"/>
                  <a:cs typeface="Georgia"/>
                </a:rPr>
                <a:t>的设计与实现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143000" y="3028950"/>
              <a:ext cx="1905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796B"/>
                </a:gs>
                <a:gs pos="100000">
                  <a:srgbClr val="1565C0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143000" y="3333750"/>
            <a:ext cx="2095500" cy="342900"/>
            <a:chOff x="1143000" y="3333750"/>
            <a:chExt cx="2095500" cy="342900"/>
          </a:xfrm>
        </p:grpSpPr>
        <p:sp>
          <p:nvSpPr>
            <p:cNvPr id="11" name="Rectangle 11"/>
            <p:cNvSpPr/>
            <p:nvPr/>
          </p:nvSpPr>
          <p:spPr>
            <a:xfrm>
              <a:off x="1143000" y="3333750"/>
              <a:ext cx="2095500" cy="342900"/>
            </a:xfrm>
            <a:prstGeom prst="roundRect">
              <a:avLst>
                <a:gd name="adj" fmla="val 50000"/>
              </a:avLst>
            </a:prstGeom>
            <a:solidFill>
              <a:srgbClr val="00796B">
                <a:alpha val="1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39418" y="343281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本科毕业设计答辩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25855" y="4045268"/>
            <a:ext cx="3346704" cy="922020"/>
            <a:chOff x="1125855" y="4045268"/>
            <a:chExt cx="3346704" cy="922020"/>
          </a:xfrm>
        </p:grpSpPr>
        <p:sp>
          <p:nvSpPr>
            <p:cNvPr id="14" name="TextBox 14"/>
            <p:cNvSpPr txBox="1"/>
            <p:nvPr/>
          </p:nvSpPr>
          <p:spPr>
            <a:xfrm>
              <a:off x="1125855" y="40452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学 生：晋修慧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5855" y="4369118"/>
              <a:ext cx="20651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指导教师：侯慧莹 讲师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5855" y="4692968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院 系：人工智能与大数据 大数据2203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25000" y="1238250"/>
            <a:ext cx="2381250" cy="3905250"/>
            <a:chOff x="9525000" y="1238250"/>
            <a:chExt cx="2381250" cy="3905250"/>
          </a:xfrm>
        </p:grpSpPr>
        <p:sp>
          <p:nvSpPr>
            <p:cNvPr id="18" name="Polygon 18"/>
            <p:cNvSpPr/>
            <p:nvPr/>
          </p:nvSpPr>
          <p:spPr>
            <a:xfrm>
              <a:off x="10001250" y="12382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noFill/>
            <a:ln w="14288">
              <a:solidFill>
                <a:srgbClr val="00796B">
                  <a:alpha val="20000"/>
                </a:srgbClr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9525000" y="21907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796B">
                <a:alpha val="6000"/>
              </a:srgbClr>
            </a:solidFill>
            <a:ln w="14288">
              <a:solidFill>
                <a:srgbClr val="00796B">
                  <a:alpha val="15000"/>
                </a:srgbClr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10477500" y="21907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noFill/>
            <a:ln w="14288">
              <a:solidFill>
                <a:srgbClr val="1565C0">
                  <a:alpha val="20000"/>
                </a:srgbClr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10001250" y="31432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65C0">
                <a:alpha val="6000"/>
              </a:srgbClr>
            </a:solidFill>
            <a:ln w="14288">
              <a:solidFill>
                <a:srgbClr val="1565C0">
                  <a:alpha val="15000"/>
                </a:srgbClr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10953750" y="31432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noFill/>
            <a:ln w="14288">
              <a:solidFill>
                <a:srgbClr val="00796B">
                  <a:alpha val="20000"/>
                </a:srgbClr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0001250" y="40957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noFill/>
            <a:ln w="14288">
              <a:solidFill>
                <a:srgbClr val="00796B">
                  <a:alpha val="15000"/>
                </a:srgbClr>
              </a:solidFill>
            </a:ln>
          </p:spPr>
        </p:sp>
      </p:grpSp>
      <p:sp>
        <p:nvSpPr>
          <p:cNvPr id="25" name="Rectangle 2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gradFill>
            <a:gsLst>
              <a:gs pos="0">
                <a:srgbClr val="00796B">
                  <a:alpha val="6000"/>
                </a:srgbClr>
              </a:gs>
              <a:gs pos="100000">
                <a:srgbClr val="1565C0">
                  <a:alpha val="6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29665" y="6506528"/>
            <a:ext cx="7550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2026年3月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280211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研究背景与痛点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762000" y="1021080"/>
            <a:ext cx="4000500" cy="3836670"/>
            <a:chOff x="762000" y="1021080"/>
            <a:chExt cx="4000500" cy="3836670"/>
          </a:xfrm>
        </p:grpSpPr>
        <p:sp>
          <p:nvSpPr>
            <p:cNvPr id="6" name="Rectangle 6"/>
            <p:cNvSpPr/>
            <p:nvPr/>
          </p:nvSpPr>
          <p:spPr>
            <a:xfrm>
              <a:off x="762000" y="1047750"/>
              <a:ext cx="4000500" cy="1143000"/>
            </a:xfrm>
            <a:prstGeom prst="roundRect">
              <a:avLst>
                <a:gd name="adj" fmla="val 8333"/>
              </a:avLst>
            </a:prstGeom>
            <a:solidFill>
              <a:srgbClr val="F5F7FA"/>
            </a:solidFill>
            <a:ln w="9525">
              <a:solidFill>
                <a:srgbClr val="E0E0E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047750"/>
              <a:ext cx="38100" cy="114300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2030" y="1021080"/>
              <a:ext cx="130599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30%+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2510" y="158496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医疗数据年增长率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4415" y="1886902"/>
              <a:ext cx="30707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互联网医院超2700家，电子病历普及率超85%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381250"/>
              <a:ext cx="4000500" cy="1143000"/>
            </a:xfrm>
            <a:prstGeom prst="roundRect">
              <a:avLst>
                <a:gd name="adj" fmla="val 8333"/>
              </a:avLst>
            </a:prstGeom>
            <a:solidFill>
              <a:srgbClr val="F5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2381250"/>
              <a:ext cx="38100" cy="11430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02030" y="2354580"/>
              <a:ext cx="130599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700+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2510" y="2918460"/>
              <a:ext cx="23439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2022年全球医疗数据泄露事件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4415" y="3220402"/>
              <a:ext cx="26643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影响超5000万患者，医疗行业成重灾区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714750"/>
              <a:ext cx="4000500" cy="1143000"/>
            </a:xfrm>
            <a:prstGeom prst="roundRect">
              <a:avLst>
                <a:gd name="adj" fmla="val 8333"/>
              </a:avLst>
            </a:prstGeom>
            <a:solidFill>
              <a:srgbClr val="F5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3714750"/>
              <a:ext cx="38100" cy="1143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2030" y="3688080"/>
              <a:ext cx="130599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85%+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2510" y="4251960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电子病历普及率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4415" y="455390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数据规模与隐私风险的矛盾日益突出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13045" y="1155382"/>
            <a:ext cx="6116955" cy="4826318"/>
            <a:chOff x="5313045" y="1155382"/>
            <a:chExt cx="6116955" cy="4826318"/>
          </a:xfrm>
        </p:grpSpPr>
        <p:sp>
          <p:nvSpPr>
            <p:cNvPr id="22" name="TextBox 22"/>
            <p:cNvSpPr txBox="1"/>
            <p:nvPr/>
          </p:nvSpPr>
          <p:spPr>
            <a:xfrm>
              <a:off x="5313045" y="1155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Georgia"/>
                  <a:ea typeface="KaiTi"/>
                  <a:cs typeface="Georgia"/>
                </a:rPr>
                <a:t>三大核心痛点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0" y="1600200"/>
              <a:ext cx="60960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0" y="1600200"/>
              <a:ext cx="38100" cy="13335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02605" y="1759268"/>
              <a:ext cx="2518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痛点一：传统隐私保护失效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04510" y="2042160"/>
              <a:ext cx="37459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K-匿名、L-多样性等传统方法无法抵御关联攻击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04510" y="2308860"/>
              <a:ext cx="3535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和背景知识推断，安全性依赖攻击者能力假设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06415" y="2591752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→ 缺乏数学可证明的安全保障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0" y="3124200"/>
              <a:ext cx="60960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0" y="3124200"/>
              <a:ext cx="38100" cy="1333500"/>
            </a:xfrm>
            <a:prstGeom prst="roundRect">
              <a:avLst>
                <a:gd name="adj" fmla="val 50000"/>
              </a:avLst>
            </a:prstGeom>
            <a:solidFill>
              <a:srgbClr val="FF8F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02605" y="3283268"/>
              <a:ext cx="3967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8F00"/>
                  </a:solidFill>
                  <a:latin typeface="Arial"/>
                  <a:ea typeface="Microsoft YaHei"/>
                  <a:cs typeface="Arial"/>
                </a:rPr>
                <a:t>痛点二：差分隐私与推荐系统融合研究匮乏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04510" y="3566160"/>
              <a:ext cx="30274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ε-差分隐私提供数学可证明的安全保障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04510" y="3832860"/>
              <a:ext cx="3886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但现有工作集中于统计查询，与推荐系统结合极少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06415" y="4115752"/>
              <a:ext cx="27640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→ 噪声对推荐精度的影响缺乏系统性研究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0" y="4648200"/>
              <a:ext cx="60960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0" y="4648200"/>
              <a:ext cx="38100" cy="133350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02605" y="4807268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痛点三：安全性与可解释性不足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04510" y="5090160"/>
              <a:ext cx="33604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现有医疗推荐缺乏临床安全约束和审核机制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04510" y="5356860"/>
              <a:ext cx="3535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隐私保护与推荐精度难以兼顾，可解释性薄弱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06415" y="5639752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→ 医生难以信任和采纳推荐结果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436630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研究目标：四层推荐架构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4855" y="806768"/>
            <a:ext cx="47663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核心目标：在差分隐私保护下兼顾临床安全与推荐精度</a:t>
            </a:r>
          </a:p>
        </p:txBody>
      </p:sp>
      <p:sp>
        <p:nvSpPr>
          <p:cNvPr id="7" name="Rectangle 7"/>
          <p:cNvSpPr/>
          <p:nvPr/>
        </p:nvSpPr>
        <p:spPr>
          <a:xfrm>
            <a:off x="4667250" y="1333500"/>
            <a:ext cx="2857500" cy="762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00695C"/>
              </a:gs>
            </a:gsLst>
            <a:lin ang="27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122331" y="1476375"/>
            <a:ext cx="19473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安全 + 精准 + 隐私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22608" y="17726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2DFDB"/>
                </a:solidFill>
                <a:latin typeface="Arial"/>
                <a:ea typeface="Microsoft YaHei"/>
                <a:cs typeface="Arial"/>
              </a:rPr>
              <a:t>四层递进架构</a:t>
            </a:r>
          </a:p>
        </p:txBody>
      </p:sp>
      <p:sp>
        <p:nvSpPr>
          <p:cNvPr id="10" name="Line 10"/>
          <p:cNvSpPr/>
          <p:nvPr/>
        </p:nvSpPr>
        <p:spPr>
          <a:xfrm>
            <a:off x="1905000" y="2095500"/>
            <a:ext cx="3048000" cy="666750"/>
          </a:xfrm>
          <a:custGeom>
            <a:avLst/>
            <a:gdLst/>
            <a:ahLst/>
            <a:cxnLst/>
            <a:rect l="l" t="t" r="r" b="b"/>
            <a:pathLst>
              <a:path w="3048000" h="666750">
                <a:moveTo>
                  <a:pt x="3048000" y="0"/>
                </a:moveTo>
                <a:lnTo>
                  <a:pt x="0" y="666750"/>
                </a:lnTo>
              </a:path>
            </a:pathLst>
          </a:custGeom>
          <a:noFill/>
          <a:ln w="14288">
            <a:solidFill>
              <a:srgbClr val="00796B">
                <a:alpha val="30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4381500" y="2095500"/>
            <a:ext cx="1143000" cy="666750"/>
          </a:xfrm>
          <a:custGeom>
            <a:avLst/>
            <a:gdLst/>
            <a:ahLst/>
            <a:cxnLst/>
            <a:rect l="l" t="t" r="r" b="b"/>
            <a:pathLst>
              <a:path w="1143000" h="666750">
                <a:moveTo>
                  <a:pt x="1143000" y="0"/>
                </a:moveTo>
                <a:lnTo>
                  <a:pt x="0" y="666750"/>
                </a:lnTo>
              </a:path>
            </a:pathLst>
          </a:custGeom>
          <a:noFill/>
          <a:ln w="14288">
            <a:solidFill>
              <a:srgbClr val="00796B">
                <a:alpha val="30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6667500" y="2095500"/>
            <a:ext cx="762000" cy="666750"/>
          </a:xfrm>
          <a:custGeom>
            <a:avLst/>
            <a:gdLst/>
            <a:ahLst/>
            <a:cxnLst/>
            <a:rect l="l" t="t" r="r" b="b"/>
            <a:pathLst>
              <a:path w="762000" h="666750">
                <a:moveTo>
                  <a:pt x="0" y="0"/>
                </a:moveTo>
                <a:lnTo>
                  <a:pt x="762000" y="666750"/>
                </a:lnTo>
              </a:path>
            </a:pathLst>
          </a:custGeom>
          <a:noFill/>
          <a:ln w="14288">
            <a:solidFill>
              <a:srgbClr val="1565C0">
                <a:alpha val="30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7239000" y="2095500"/>
            <a:ext cx="2857500" cy="666750"/>
          </a:xfrm>
          <a:custGeom>
            <a:avLst/>
            <a:gdLst/>
            <a:ahLst/>
            <a:cxnLst/>
            <a:rect l="l" t="t" r="r" b="b"/>
            <a:pathLst>
              <a:path w="2857500" h="666750">
                <a:moveTo>
                  <a:pt x="0" y="0"/>
                </a:moveTo>
                <a:lnTo>
                  <a:pt x="2857500" y="666750"/>
                </a:lnTo>
              </a:path>
            </a:pathLst>
          </a:custGeom>
          <a:noFill/>
          <a:ln w="14288">
            <a:solidFill>
              <a:srgbClr val="1565C0">
                <a:alpha val="30000"/>
              </a:srgb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62000" y="2762250"/>
            <a:ext cx="2476500" cy="2667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0796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62000" y="2762250"/>
            <a:ext cx="2476500" cy="419100"/>
          </a:xfrm>
          <a:prstGeom prst="roundRect">
            <a:avLst>
              <a:gd name="adj" fmla="val 22727"/>
            </a:avLst>
          </a:prstGeom>
          <a:solidFill>
            <a:srgbClr val="00796B">
              <a:alpha val="1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62000" y="3086100"/>
            <a:ext cx="2476500" cy="95250"/>
          </a:xfrm>
          <a:prstGeom prst="rect">
            <a:avLst/>
          </a:prstGeom>
          <a:solidFill>
            <a:srgbClr val="00796B">
              <a:alpha val="1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26878" y="2899410"/>
            <a:ext cx="21467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第零层 KnowledgeRouter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165" y="333470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四级确定性路由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118" y="3590449"/>
            <a:ext cx="9005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L1 口语标准化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0618" y="37999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0118" y="3990499"/>
            <a:ext cx="7937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L2 疾病归类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0618" y="42000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0118" y="4390549"/>
            <a:ext cx="9361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L3 适应症映射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0618" y="46000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0118" y="4790599"/>
            <a:ext cx="7937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L4 药品召回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1070" y="5122545"/>
            <a:ext cx="23297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解决中文疾病名→英文适应症的语义鸿沟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429000" y="2762250"/>
            <a:ext cx="2476500" cy="2667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C62828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3429000" y="2762250"/>
            <a:ext cx="2476500" cy="419100"/>
          </a:xfrm>
          <a:prstGeom prst="roundRect">
            <a:avLst>
              <a:gd name="adj" fmla="val 22727"/>
            </a:avLst>
          </a:prstGeom>
          <a:solidFill>
            <a:srgbClr val="C62828">
              <a:alpha val="10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429000" y="3086100"/>
            <a:ext cx="2476500" cy="95250"/>
          </a:xfrm>
          <a:prstGeom prst="rect">
            <a:avLst/>
          </a:prstGeom>
          <a:solidFill>
            <a:srgbClr val="C62828">
              <a:alpha val="1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787102" y="2899410"/>
            <a:ext cx="17602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第一层 SafetyFilter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06165" y="3334702"/>
            <a:ext cx="1725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12条硬排除 + 9类软标记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07118" y="3609499"/>
            <a:ext cx="18189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硬排除（绝对安全红线）：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07118" y="383809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过敏冲突、绝对禁忌症、致命交互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607118" y="4066699"/>
            <a:ext cx="19685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妊娠X级、儿科禁忌、哺乳期L5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607118" y="4371499"/>
            <a:ext cx="15199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软标记（标记待审）：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07118" y="4600099"/>
            <a:ext cx="1605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相对禁忌改为"标记待审"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607118" y="48286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医生做最终判断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608070" y="5122545"/>
            <a:ext cx="21391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确定性安全判断，DP噪声不影响此层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2762250"/>
            <a:ext cx="2476500" cy="2667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FF8F0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286500" y="2762250"/>
            <a:ext cx="2476500" cy="419100"/>
          </a:xfrm>
          <a:prstGeom prst="roundRect">
            <a:avLst>
              <a:gd name="adj" fmla="val 22727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6286500" y="3086100"/>
            <a:ext cx="2476500" cy="95250"/>
          </a:xfrm>
          <a:prstGeom prst="rect">
            <a:avLst/>
          </a:prstGeom>
          <a:solidFill>
            <a:srgbClr val="FF8F00">
              <a:alpha val="1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704409" y="2899410"/>
            <a:ext cx="16406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第二层 RuleMarker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463665" y="3334702"/>
            <a:ext cx="10813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7种软标记规则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64618" y="36094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相对禁忌症、中等交互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64618" y="3838099"/>
            <a:ext cx="8293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妊娠C/D警告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464618" y="40666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肾功能警告、肝功能警告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64618" y="42952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生育力警告、数据未验证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64618" y="46191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标记而非排除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464618" y="48477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候选药物保留参与排序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465570" y="5122545"/>
            <a:ext cx="17973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为DeepFM排序提供安全上下文</a:t>
            </a:r>
          </a:p>
        </p:txBody>
      </p:sp>
      <p:sp>
        <p:nvSpPr>
          <p:cNvPr id="51" name="Rectangle 51"/>
          <p:cNvSpPr/>
          <p:nvPr/>
        </p:nvSpPr>
        <p:spPr>
          <a:xfrm>
            <a:off x="8953500" y="2762250"/>
            <a:ext cx="2476500" cy="2667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8953500" y="2762250"/>
            <a:ext cx="2476500" cy="419100"/>
          </a:xfrm>
          <a:prstGeom prst="roundRect">
            <a:avLst>
              <a:gd name="adj" fmla="val 22727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8953500" y="3086100"/>
            <a:ext cx="2476500" cy="95250"/>
          </a:xfrm>
          <a:prstGeom prst="rect">
            <a:avLst/>
          </a:prstGeom>
          <a:solidFill>
            <a:srgbClr val="1565C0">
              <a:alpha val="10000"/>
            </a:srgbClr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9550832" y="2899410"/>
            <a:ext cx="12818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第三层 DeepFM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130665" y="3334702"/>
            <a:ext cx="15161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个性化排序 + DP噪声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131618" y="36094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对安全候选药物精准评分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131618" y="3876199"/>
            <a:ext cx="13853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DP噪声仅在此层应用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131618" y="4200049"/>
            <a:ext cx="22817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Merged Embedding + 连续特征旁路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131618" y="4428649"/>
            <a:ext cx="16338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LayerNorm + Focal Loss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131618" y="475249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临床阈值后处理保障安全性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131618" y="49810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不受噪声干扰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132570" y="5122545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隐私保护与推荐精度的平衡点</a:t>
            </a:r>
          </a:p>
        </p:txBody>
      </p:sp>
      <p:sp>
        <p:nvSpPr>
          <p:cNvPr id="63" name="Rectangle 63"/>
          <p:cNvSpPr/>
          <p:nvPr/>
        </p:nvSpPr>
        <p:spPr>
          <a:xfrm>
            <a:off x="762000" y="57150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2846556" y="5871210"/>
            <a:ext cx="6498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关键原则：噪声不影响安全过滤的确定性判断 — 隐私保护仅作用于个性化排序层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241106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系统总体架构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143000"/>
            <a:ext cx="3048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796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143000"/>
            <a:ext cx="3048000" cy="381000"/>
          </a:xfrm>
          <a:prstGeom prst="roundRect">
            <a:avLst>
              <a:gd name="adj" fmla="val 25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428750"/>
            <a:ext cx="3048000" cy="9525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45082" y="1280160"/>
            <a:ext cx="12818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前端服务 :5173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165" y="1696402"/>
            <a:ext cx="21843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React 18 + TypeScript + Vite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0118" y="1933099"/>
            <a:ext cx="1605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Tailwind CSS 响应式界面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0118" y="2161699"/>
            <a:ext cx="16623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Auth Context + 状态管理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0118" y="2390299"/>
            <a:ext cx="22034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推荐审核 / 隐私配置 / 统计仪表板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0118" y="2656999"/>
            <a:ext cx="17833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四页面路由 + RBAC前端守卫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572000" y="1143000"/>
            <a:ext cx="3048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572000" y="1143000"/>
            <a:ext cx="3048000" cy="3810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572000" y="1428750"/>
            <a:ext cx="3048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432079" y="1280160"/>
            <a:ext cx="13278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后端服务 :8080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49165" y="1696402"/>
            <a:ext cx="20313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Spring Boot 3.2 + MyBatis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50118" y="1933099"/>
            <a:ext cx="16196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JWT认证 + RBAC权限校验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50118" y="2161699"/>
            <a:ext cx="21037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MySQL数据持久化 + RESTful API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50118" y="2390299"/>
            <a:ext cx="18973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代理模型服务调用 + 数据转发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50118" y="2656999"/>
            <a:ext cx="21536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启动时加载1807种药物至模型服务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382000" y="1143000"/>
            <a:ext cx="3048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8F0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382000" y="1143000"/>
            <a:ext cx="3048000" cy="381000"/>
          </a:xfrm>
          <a:prstGeom prst="roundRect">
            <a:avLst>
              <a:gd name="adj" fmla="val 25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382000" y="1428750"/>
            <a:ext cx="3048000" cy="9525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265082" y="1280160"/>
            <a:ext cx="12818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模型服务 :8001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59165" y="1696402"/>
            <a:ext cx="20233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FastAPI + PyTorch DeepFM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60118" y="1933099"/>
            <a:ext cx="1769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四层推荐架构 + DP噪声注入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60118" y="2161699"/>
            <a:ext cx="1612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隐私预算追踪 + 审计日志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60118" y="2390299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中文翻译管线 (EN→CN)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60118" y="2656999"/>
            <a:ext cx="20610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口语增强 + 疾病映射 + 审核反馈</a:t>
            </a:r>
          </a:p>
        </p:txBody>
      </p:sp>
      <p:sp>
        <p:nvSpPr>
          <p:cNvPr id="33" name="Line 33"/>
          <p:cNvSpPr/>
          <p:nvPr/>
        </p:nvSpPr>
        <p:spPr>
          <a:xfrm>
            <a:off x="3810000" y="2095500"/>
            <a:ext cx="762000" cy="1"/>
          </a:xfrm>
          <a:prstGeom prst="line">
            <a:avLst/>
          </a:prstGeom>
          <a:noFill/>
          <a:ln w="19050">
            <a:solidFill>
              <a:srgbClr val="546E7A"/>
            </a:solidFill>
            <a:tailEnd type="triangle" w="lg" len="lg"/>
          </a:ln>
        </p:spPr>
      </p:sp>
      <p:sp>
        <p:nvSpPr>
          <p:cNvPr id="34" name="Line 34"/>
          <p:cNvSpPr/>
          <p:nvPr/>
        </p:nvSpPr>
        <p:spPr>
          <a:xfrm flipH="1">
            <a:off x="3810000" y="2286000"/>
            <a:ext cx="762000" cy="1"/>
          </a:xfrm>
          <a:prstGeom prst="line">
            <a:avLst/>
          </a:prstGeom>
          <a:noFill/>
          <a:ln w="19050">
            <a:solidFill>
              <a:srgbClr val="546E7A"/>
            </a:solidFill>
            <a:tailEnd type="triangle" w="lg" len="lg"/>
          </a:ln>
        </p:spPr>
      </p:sp>
      <p:sp>
        <p:nvSpPr>
          <p:cNvPr id="35" name="Line 35"/>
          <p:cNvSpPr/>
          <p:nvPr/>
        </p:nvSpPr>
        <p:spPr>
          <a:xfrm>
            <a:off x="7620000" y="2095500"/>
            <a:ext cx="762000" cy="1"/>
          </a:xfrm>
          <a:prstGeom prst="line">
            <a:avLst/>
          </a:prstGeom>
          <a:noFill/>
          <a:ln w="19050">
            <a:solidFill>
              <a:srgbClr val="546E7A"/>
            </a:solidFill>
            <a:tailEnd type="triangle" w="lg" len="lg"/>
          </a:ln>
        </p:spPr>
      </p:sp>
      <p:sp>
        <p:nvSpPr>
          <p:cNvPr id="36" name="Line 36"/>
          <p:cNvSpPr/>
          <p:nvPr/>
        </p:nvSpPr>
        <p:spPr>
          <a:xfrm flipH="1">
            <a:off x="7620000" y="2286000"/>
            <a:ext cx="762000" cy="1"/>
          </a:xfrm>
          <a:prstGeom prst="line">
            <a:avLst/>
          </a:prstGeom>
          <a:noFill/>
          <a:ln w="19050">
            <a:solidFill>
              <a:srgbClr val="546E7A"/>
            </a:solidFill>
            <a:tailEnd type="triangle" w="lg" len="lg"/>
          </a:ln>
        </p:spPr>
      </p:sp>
      <p:sp>
        <p:nvSpPr>
          <p:cNvPr id="37" name="TextBox 37"/>
          <p:cNvSpPr txBox="1"/>
          <p:nvPr/>
        </p:nvSpPr>
        <p:spPr>
          <a:xfrm>
            <a:off x="4071938" y="1966912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请求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071938" y="2347912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响应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86186" y="1966912"/>
            <a:ext cx="8296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/model/predict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772400" y="234791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推荐结果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2950" y="326707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数据流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3619500"/>
            <a:ext cx="10668000" cy="495300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39165" y="3810952"/>
            <a:ext cx="6482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前端请求 → 后端认证/CRUD → 模型服务(/model/predict) → 四层架构 + DP噪声 → 返回推荐结果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2950" y="4362450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数据库设计</a:t>
            </a:r>
          </a:p>
        </p:txBody>
      </p:sp>
      <p:sp>
        <p:nvSpPr>
          <p:cNvPr id="45" name="Rectangle 45"/>
          <p:cNvSpPr/>
          <p:nvPr/>
        </p:nvSpPr>
        <p:spPr>
          <a:xfrm>
            <a:off x="762000" y="4743450"/>
            <a:ext cx="161925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245965" y="4866799"/>
            <a:ext cx="6513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sys_user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54490" y="5073491"/>
            <a:ext cx="8342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用户账户/RBAC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524125" y="4743450"/>
            <a:ext cx="161925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065050" y="4866799"/>
            <a:ext cx="5374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patient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928664" y="5073491"/>
            <a:ext cx="8101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患者/健康档案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286250" y="4743450"/>
            <a:ext cx="161925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926854" y="486679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drug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600420" y="5073491"/>
            <a:ext cx="9909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药物目录(1807种)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048375" y="4743450"/>
            <a:ext cx="161925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6286702" y="4866799"/>
            <a:ext cx="11425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recommendation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452914" y="5073491"/>
            <a:ext cx="8101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推荐记录/结果</a:t>
            </a:r>
          </a:p>
        </p:txBody>
      </p:sp>
      <p:sp>
        <p:nvSpPr>
          <p:cNvPr id="57" name="Rectangle 57"/>
          <p:cNvSpPr/>
          <p:nvPr/>
        </p:nvSpPr>
        <p:spPr>
          <a:xfrm>
            <a:off x="7810500" y="4743450"/>
            <a:ext cx="161925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8095107" y="4866799"/>
            <a:ext cx="10500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privacy_config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248174" y="50734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隐私参数配置</a:t>
            </a:r>
          </a:p>
        </p:txBody>
      </p:sp>
      <p:sp>
        <p:nvSpPr>
          <p:cNvPr id="60" name="Rectangle 60"/>
          <p:cNvSpPr/>
          <p:nvPr/>
        </p:nvSpPr>
        <p:spPr>
          <a:xfrm>
            <a:off x="9572625" y="4743450"/>
            <a:ext cx="161925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9857232" y="4866799"/>
            <a:ext cx="10500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privacy_ledger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010299" y="50734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隐私预算日志</a:t>
            </a:r>
          </a:p>
        </p:txBody>
      </p:sp>
      <p:sp>
        <p:nvSpPr>
          <p:cNvPr id="63" name="Rectangle 63"/>
          <p:cNvSpPr/>
          <p:nvPr/>
        </p:nvSpPr>
        <p:spPr>
          <a:xfrm>
            <a:off x="762000" y="5619750"/>
            <a:ext cx="10668000" cy="5715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939165" y="57540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技术栈：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653540" y="5754052"/>
            <a:ext cx="28483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React 18 + TypeScript + Vite + Tailwind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463415" y="5754052"/>
            <a:ext cx="25953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Spring Boot 3.2 + MyBatis + MySQL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320915" y="5754052"/>
            <a:ext cx="19282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FastAPI + PyTorch DeepFM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40118" y="5971699"/>
            <a:ext cx="5613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启动时后端加载全部1807种药物 → 模型服务(/model/load-drugs)，初始化四层推荐引擎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319316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三层推荐安全架构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3335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143000"/>
            <a:ext cx="3238500" cy="43815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C62828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143000"/>
            <a:ext cx="3238500" cy="457200"/>
          </a:xfrm>
          <a:prstGeom prst="roundRect">
            <a:avLst>
              <a:gd name="adj" fmla="val 20833"/>
            </a:avLst>
          </a:prstGeom>
          <a:solidFill>
            <a:srgbClr val="C6282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504950"/>
            <a:ext cx="3238500" cy="9525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87570" y="1302068"/>
            <a:ext cx="2187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SafetyFilter 安全过滤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8212" y="1735931"/>
            <a:ext cx="12103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12条硬排除规则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52500" y="1952625"/>
            <a:ext cx="2857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40118" y="2066449"/>
            <a:ext cx="22034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1. 过敏冲突 — 药物含患者过敏成分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0118" y="2275999"/>
            <a:ext cx="20966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2. 绝对禁忌症 — 患者患禁忌疾病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0118" y="2485549"/>
            <a:ext cx="22390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3. 致命交互 — 与现有用药严重冲突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118" y="2695099"/>
            <a:ext cx="17477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4. 妊娠X级 — 孕妇绝对禁用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0118" y="2904649"/>
            <a:ext cx="18118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5. 儿科禁忌 — 儿童禁用药物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0118" y="3114199"/>
            <a:ext cx="19685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6. 哺乳期L5 — 哺乳期绝对禁用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0118" y="3323749"/>
            <a:ext cx="16196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...及其他6条硬排除规则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8212" y="3640931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9类软标记</a:t>
            </a:r>
          </a:p>
        </p:txBody>
      </p:sp>
      <p:sp>
        <p:nvSpPr>
          <p:cNvPr id="20" name="Rectangle 20"/>
          <p:cNvSpPr/>
          <p:nvPr/>
        </p:nvSpPr>
        <p:spPr>
          <a:xfrm>
            <a:off x="952500" y="3857625"/>
            <a:ext cx="2857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0118" y="3971449"/>
            <a:ext cx="1605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相对禁忌改为"标记待审"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0118" y="418099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医生做最终判断，不自动排除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52500" y="4572000"/>
            <a:ext cx="2857500" cy="342900"/>
          </a:xfrm>
          <a:prstGeom prst="roundRect">
            <a:avLst>
              <a:gd name="adj" fmla="val 16667"/>
            </a:avLst>
          </a:prstGeom>
          <a:solidFill>
            <a:srgbClr val="C62828">
              <a:alpha val="8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464279" y="4695349"/>
            <a:ext cx="1833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确定性判断，DP噪声不影响</a:t>
            </a:r>
          </a:p>
        </p:txBody>
      </p:sp>
      <p:sp>
        <p:nvSpPr>
          <p:cNvPr id="25" name="Line 25"/>
          <p:cNvSpPr/>
          <p:nvPr/>
        </p:nvSpPr>
        <p:spPr>
          <a:xfrm>
            <a:off x="4000500" y="3333750"/>
            <a:ext cx="476250" cy="1"/>
          </a:xfrm>
          <a:prstGeom prst="line">
            <a:avLst/>
          </a:prstGeom>
          <a:noFill/>
          <a:ln w="28575">
            <a:solidFill>
              <a:srgbClr val="546E7A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4572000" y="1143000"/>
            <a:ext cx="3238500" cy="43815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FF8F0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572000" y="1143000"/>
            <a:ext cx="3238500" cy="457200"/>
          </a:xfrm>
          <a:prstGeom prst="roundRect">
            <a:avLst>
              <a:gd name="adj" fmla="val 20833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4572000" y="1504950"/>
            <a:ext cx="3238500" cy="9525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164854" y="1302068"/>
            <a:ext cx="20527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RuleMarker 规则标记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48212" y="1735931"/>
            <a:ext cx="11585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7种软标记规则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762500" y="1952625"/>
            <a:ext cx="2857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750118" y="2066449"/>
            <a:ext cx="23458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1. 相对禁忌症 — 患者患相对禁忌疾病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50118" y="2295049"/>
            <a:ext cx="22390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2. 中等交互 — 与现有用药中等冲突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50118" y="2523649"/>
            <a:ext cx="1762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3. 妊娠C/D警告 — 孕妇慎用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50118" y="2752249"/>
            <a:ext cx="22390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4. 肾功能警告 — 肾损伤患者需调整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50118" y="2980849"/>
            <a:ext cx="22390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5. 肝功能警告 — 肝损伤患者需调整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750118" y="3209449"/>
            <a:ext cx="19542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6. 生育力警告 — 可能影响生育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750118" y="3438049"/>
            <a:ext cx="19542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7. 数据未验证 — 安全数据缺失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48212" y="378380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标记而非排除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762500" y="4000500"/>
            <a:ext cx="2857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750118" y="41428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候选药物保留参与排序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750118" y="4352449"/>
            <a:ext cx="19471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为DeepFM提供安全上下文标记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762500" y="4572000"/>
            <a:ext cx="2857500" cy="342900"/>
          </a:xfrm>
          <a:prstGeom prst="roundRect">
            <a:avLst>
              <a:gd name="adj" fmla="val 16667"/>
            </a:avLst>
          </a:prstGeom>
          <a:solidFill>
            <a:srgbClr val="FF8F00">
              <a:alpha val="8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281755" y="4695349"/>
            <a:ext cx="18189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标记待审，医生可覆盖判断</a:t>
            </a:r>
          </a:p>
        </p:txBody>
      </p:sp>
      <p:sp>
        <p:nvSpPr>
          <p:cNvPr id="45" name="Line 45"/>
          <p:cNvSpPr/>
          <p:nvPr/>
        </p:nvSpPr>
        <p:spPr>
          <a:xfrm>
            <a:off x="7810500" y="3333750"/>
            <a:ext cx="476250" cy="1"/>
          </a:xfrm>
          <a:prstGeom prst="line">
            <a:avLst/>
          </a:prstGeom>
          <a:noFill/>
          <a:ln w="28575">
            <a:solidFill>
              <a:srgbClr val="546E7A"/>
            </a:solidFill>
            <a:tailEnd type="triangle" w="lg" len="lg"/>
          </a:ln>
        </p:spPr>
      </p:sp>
      <p:sp>
        <p:nvSpPr>
          <p:cNvPr id="46" name="Rectangle 46"/>
          <p:cNvSpPr/>
          <p:nvPr/>
        </p:nvSpPr>
        <p:spPr>
          <a:xfrm>
            <a:off x="8382000" y="1143000"/>
            <a:ext cx="3048000" cy="43815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8382000" y="1143000"/>
            <a:ext cx="3048000" cy="457200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8382000" y="1504950"/>
            <a:ext cx="3048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288480" y="1302068"/>
            <a:ext cx="12350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DeepFM 排序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558212" y="1735931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个性化评分</a:t>
            </a:r>
          </a:p>
        </p:txBody>
      </p:sp>
      <p:sp>
        <p:nvSpPr>
          <p:cNvPr id="51" name="Rectangle 51"/>
          <p:cNvSpPr/>
          <p:nvPr/>
        </p:nvSpPr>
        <p:spPr>
          <a:xfrm>
            <a:off x="8572500" y="1952625"/>
            <a:ext cx="2667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560118" y="20854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对安全候选药物精准评分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60118" y="2333149"/>
            <a:ext cx="10642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FM捕获特征交叉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560118" y="2580799"/>
            <a:ext cx="1192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Deep学习高阶交互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560118" y="28284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连续特征旁路直通输出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558212" y="3164681"/>
            <a:ext cx="12534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DP噪声仅在此层</a:t>
            </a:r>
          </a:p>
        </p:txBody>
      </p:sp>
      <p:sp>
        <p:nvSpPr>
          <p:cNvPr id="57" name="Rectangle 57"/>
          <p:cNvSpPr/>
          <p:nvPr/>
        </p:nvSpPr>
        <p:spPr>
          <a:xfrm>
            <a:off x="8572500" y="3381375"/>
            <a:ext cx="2667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560118" y="3514249"/>
            <a:ext cx="17762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Laplace/Gaussian噪声注入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560118" y="37618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临床阈值后处理保障安全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560118" y="40095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隐私预算追踪与预警</a:t>
            </a:r>
          </a:p>
        </p:txBody>
      </p:sp>
      <p:sp>
        <p:nvSpPr>
          <p:cNvPr id="61" name="Rectangle 61"/>
          <p:cNvSpPr/>
          <p:nvPr/>
        </p:nvSpPr>
        <p:spPr>
          <a:xfrm>
            <a:off x="8572500" y="4572000"/>
            <a:ext cx="2667000" cy="342900"/>
          </a:xfrm>
          <a:prstGeom prst="roundRect">
            <a:avLst>
              <a:gd name="adj" fmla="val 16667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9071265" y="469534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隐私保护与精度的平衡点</a:t>
            </a:r>
          </a:p>
        </p:txBody>
      </p:sp>
      <p:sp>
        <p:nvSpPr>
          <p:cNvPr id="63" name="Rectangle 63"/>
          <p:cNvSpPr/>
          <p:nvPr/>
        </p:nvSpPr>
        <p:spPr>
          <a:xfrm>
            <a:off x="762000" y="58102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3053959" y="5974556"/>
            <a:ext cx="60840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设计原则：前两层确定性安全判断不受DP噪声影响，噪声仅作用于个性化排序层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48602"/>
            <a:ext cx="436630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推荐流程与患者口语增强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38175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4855" y="854392"/>
            <a:ext cx="1597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完整推荐9步流程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190625"/>
            <a:ext cx="1905000" cy="523875"/>
          </a:xfrm>
          <a:prstGeom prst="roundRect">
            <a:avLst>
              <a:gd name="adj" fmla="val 10909"/>
            </a:avLst>
          </a:prstGeom>
          <a:solidFill>
            <a:srgbClr val="00796B">
              <a:alpha val="8000"/>
            </a:srgbClr>
          </a:solidFill>
          <a:ln w="9525">
            <a:solidFill>
              <a:srgbClr val="00796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92492" y="1304449"/>
            <a:ext cx="696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2992" y="13044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获取患者信息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4898" y="1511141"/>
            <a:ext cx="11836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年龄/性别/疾病/过敏</a:t>
            </a:r>
          </a:p>
        </p:txBody>
      </p:sp>
      <p:sp>
        <p:nvSpPr>
          <p:cNvPr id="11" name="Line 11"/>
          <p:cNvSpPr/>
          <p:nvPr/>
        </p:nvSpPr>
        <p:spPr>
          <a:xfrm>
            <a:off x="2667000" y="1447800"/>
            <a:ext cx="23812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12" name="Rectangle 12"/>
          <p:cNvSpPr/>
          <p:nvPr/>
        </p:nvSpPr>
        <p:spPr>
          <a:xfrm>
            <a:off x="2952750" y="1190625"/>
            <a:ext cx="1905000" cy="523875"/>
          </a:xfrm>
          <a:prstGeom prst="roundRect">
            <a:avLst>
              <a:gd name="adj" fmla="val 10909"/>
            </a:avLst>
          </a:prstGeom>
          <a:solidFill>
            <a:srgbClr val="00796B">
              <a:alpha val="8000"/>
            </a:srgbClr>
          </a:solidFill>
          <a:ln w="9525">
            <a:solidFill>
              <a:srgbClr val="00796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083242" y="1304449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73742" y="130444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DiseaseMapper映射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75648" y="1511141"/>
            <a:ext cx="1292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中文疾病名→英文适应症</a:t>
            </a:r>
          </a:p>
        </p:txBody>
      </p:sp>
      <p:sp>
        <p:nvSpPr>
          <p:cNvPr id="16" name="Line 16"/>
          <p:cNvSpPr/>
          <p:nvPr/>
        </p:nvSpPr>
        <p:spPr>
          <a:xfrm>
            <a:off x="4857750" y="1447800"/>
            <a:ext cx="23812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17" name="Rectangle 17"/>
          <p:cNvSpPr/>
          <p:nvPr/>
        </p:nvSpPr>
        <p:spPr>
          <a:xfrm>
            <a:off x="5143500" y="1190625"/>
            <a:ext cx="1905000" cy="523875"/>
          </a:xfrm>
          <a:prstGeom prst="roundRect">
            <a:avLst>
              <a:gd name="adj" fmla="val 10909"/>
            </a:avLst>
          </a:prstGeom>
          <a:solidFill>
            <a:srgbClr val="C62828">
              <a:alpha val="6000"/>
            </a:srgbClr>
          </a:solidFill>
          <a:ln w="9525">
            <a:solidFill>
              <a:srgbClr val="C62828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273992" y="1304449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64492" y="1304449"/>
            <a:ext cx="11781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SafetyFilter过滤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66398" y="1511141"/>
            <a:ext cx="12198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12条硬排除+9类软标记</a:t>
            </a:r>
          </a:p>
        </p:txBody>
      </p:sp>
      <p:sp>
        <p:nvSpPr>
          <p:cNvPr id="21" name="Line 21"/>
          <p:cNvSpPr/>
          <p:nvPr/>
        </p:nvSpPr>
        <p:spPr>
          <a:xfrm>
            <a:off x="7048500" y="1447800"/>
            <a:ext cx="23812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7334250" y="1190625"/>
            <a:ext cx="1905000" cy="523875"/>
          </a:xfrm>
          <a:prstGeom prst="roundRect">
            <a:avLst>
              <a:gd name="adj" fmla="val 10909"/>
            </a:avLst>
          </a:prstGeom>
          <a:solidFill>
            <a:srgbClr val="FF8F00">
              <a:alpha val="6000"/>
            </a:srgbClr>
          </a:solidFill>
          <a:ln w="9525">
            <a:solidFill>
              <a:srgbClr val="FF8F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464742" y="1304449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55242" y="1304449"/>
            <a:ext cx="108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RuleMarker标记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57148" y="1511141"/>
            <a:ext cx="8101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7种软标记规则</a:t>
            </a:r>
          </a:p>
        </p:txBody>
      </p:sp>
      <p:sp>
        <p:nvSpPr>
          <p:cNvPr id="26" name="Line 26"/>
          <p:cNvSpPr/>
          <p:nvPr/>
        </p:nvSpPr>
        <p:spPr>
          <a:xfrm>
            <a:off x="9239250" y="1447800"/>
            <a:ext cx="23812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27" name="Rectangle 27"/>
          <p:cNvSpPr/>
          <p:nvPr/>
        </p:nvSpPr>
        <p:spPr>
          <a:xfrm>
            <a:off x="9525000" y="1190625"/>
            <a:ext cx="1905000" cy="523875"/>
          </a:xfrm>
          <a:prstGeom prst="roundRect">
            <a:avLst>
              <a:gd name="adj" fmla="val 10909"/>
            </a:avLst>
          </a:prstGeom>
          <a:solidFill>
            <a:srgbClr val="1565C0">
              <a:alpha val="6000"/>
            </a:srgbClr>
          </a:solidFill>
          <a:ln w="9525">
            <a:solidFill>
              <a:srgbClr val="1565C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655492" y="1304449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45992" y="130444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DeepFM+DP噪声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47898" y="1511141"/>
            <a:ext cx="11716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个性化评分+隐私保护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2000250"/>
            <a:ext cx="1905000" cy="523875"/>
          </a:xfrm>
          <a:prstGeom prst="roundRect">
            <a:avLst>
              <a:gd name="adj" fmla="val 10909"/>
            </a:avLst>
          </a:prstGeom>
          <a:solidFill>
            <a:srgbClr val="00796B">
              <a:alpha val="8000"/>
            </a:srgbClr>
          </a:solidFill>
          <a:ln w="9525">
            <a:solidFill>
              <a:srgbClr val="00796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92492" y="211407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2992" y="21140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疾病平衡选择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4898" y="2320766"/>
            <a:ext cx="10632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多疾病各选Top药物</a:t>
            </a:r>
          </a:p>
        </p:txBody>
      </p:sp>
      <p:sp>
        <p:nvSpPr>
          <p:cNvPr id="35" name="Line 35"/>
          <p:cNvSpPr/>
          <p:nvPr/>
        </p:nvSpPr>
        <p:spPr>
          <a:xfrm>
            <a:off x="2667000" y="2257425"/>
            <a:ext cx="23812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36" name="Rectangle 36"/>
          <p:cNvSpPr/>
          <p:nvPr/>
        </p:nvSpPr>
        <p:spPr>
          <a:xfrm>
            <a:off x="2952750" y="2000250"/>
            <a:ext cx="1905000" cy="523875"/>
          </a:xfrm>
          <a:prstGeom prst="roundRect">
            <a:avLst>
              <a:gd name="adj" fmla="val 10909"/>
            </a:avLst>
          </a:prstGeom>
          <a:solidFill>
            <a:srgbClr val="00796B">
              <a:alpha val="8000"/>
            </a:srgbClr>
          </a:solidFill>
          <a:ln w="9525">
            <a:solidFill>
              <a:srgbClr val="00796B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3083242" y="211407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273742" y="21140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解释生成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75648" y="2320766"/>
            <a:ext cx="1117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适应症+安全性+理由</a:t>
            </a:r>
          </a:p>
        </p:txBody>
      </p:sp>
      <p:sp>
        <p:nvSpPr>
          <p:cNvPr id="40" name="Line 40"/>
          <p:cNvSpPr/>
          <p:nvPr/>
        </p:nvSpPr>
        <p:spPr>
          <a:xfrm>
            <a:off x="4857750" y="2257425"/>
            <a:ext cx="23812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43500" y="2000250"/>
            <a:ext cx="1905000" cy="523875"/>
          </a:xfrm>
          <a:prstGeom prst="roundRect">
            <a:avLst>
              <a:gd name="adj" fmla="val 10909"/>
            </a:avLst>
          </a:prstGeom>
          <a:solidFill>
            <a:srgbClr val="C62828">
              <a:alpha val="6000"/>
            </a:srgbClr>
          </a:solidFill>
          <a:ln w="9525">
            <a:solidFill>
              <a:srgbClr val="C6282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273992" y="211407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464492" y="2114074"/>
            <a:ext cx="5089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DDI检查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466398" y="2320766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药物间交互二次验证</a:t>
            </a:r>
          </a:p>
        </p:txBody>
      </p:sp>
      <p:sp>
        <p:nvSpPr>
          <p:cNvPr id="45" name="Line 45"/>
          <p:cNvSpPr/>
          <p:nvPr/>
        </p:nvSpPr>
        <p:spPr>
          <a:xfrm>
            <a:off x="7048500" y="2257425"/>
            <a:ext cx="23812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46" name="Rectangle 46"/>
          <p:cNvSpPr/>
          <p:nvPr/>
        </p:nvSpPr>
        <p:spPr>
          <a:xfrm>
            <a:off x="7334250" y="2000250"/>
            <a:ext cx="1905000" cy="523875"/>
          </a:xfrm>
          <a:prstGeom prst="roundRect">
            <a:avLst>
              <a:gd name="adj" fmla="val 10909"/>
            </a:avLst>
          </a:prstGeom>
          <a:solidFill>
            <a:srgbClr val="2E7D32">
              <a:alpha val="6000"/>
            </a:srgbClr>
          </a:solidFill>
          <a:ln w="9525">
            <a:solidFill>
              <a:srgbClr val="2E7D32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464742" y="211407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655242" y="21140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质量保障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657148" y="2320766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最终推荐结果输出</a:t>
            </a:r>
          </a:p>
        </p:txBody>
      </p:sp>
      <p:sp>
        <p:nvSpPr>
          <p:cNvPr id="50" name="Rectangle 50"/>
          <p:cNvSpPr/>
          <p:nvPr/>
        </p:nvSpPr>
        <p:spPr>
          <a:xfrm>
            <a:off x="0" y="28098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744855" y="3045142"/>
            <a:ext cx="35123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患者口语增强 PatientInputEnhancer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62000" y="3381375"/>
            <a:ext cx="5334000" cy="1381125"/>
          </a:xfrm>
          <a:prstGeom prst="roundRect">
            <a:avLst>
              <a:gd name="adj" fmla="val 6897"/>
            </a:avLst>
          </a:prstGeom>
          <a:solidFill>
            <a:srgbClr val="F5F7FA"/>
          </a:solidFill>
          <a:ln w="9525">
            <a:solidFill>
              <a:srgbClr val="00796B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939165" y="3525202"/>
            <a:ext cx="1298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三层Fallback机制</a:t>
            </a:r>
          </a:p>
        </p:txBody>
      </p:sp>
      <p:sp>
        <p:nvSpPr>
          <p:cNvPr id="54" name="Rectangle 54"/>
          <p:cNvSpPr/>
          <p:nvPr/>
        </p:nvSpPr>
        <p:spPr>
          <a:xfrm>
            <a:off x="952500" y="3762375"/>
            <a:ext cx="1524000" cy="400050"/>
          </a:xfrm>
          <a:prstGeom prst="roundRect">
            <a:avLst>
              <a:gd name="adj" fmla="val 14286"/>
            </a:avLst>
          </a:prstGeom>
          <a:solidFill>
            <a:srgbClr val="00796B">
              <a:alpha val="10000"/>
            </a:srgbClr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403080" y="3828574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精确匹配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22058" y="3997166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标准疾病名直映射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604135" y="38519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58" name="Rectangle 58"/>
          <p:cNvSpPr/>
          <p:nvPr/>
        </p:nvSpPr>
        <p:spPr>
          <a:xfrm>
            <a:off x="2809875" y="3762375"/>
            <a:ext cx="1524000" cy="400050"/>
          </a:xfrm>
          <a:prstGeom prst="roundRect">
            <a:avLst>
              <a:gd name="adj" fmla="val 14286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3185696" y="3828574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关键词匹配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139678" y="3997166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症状关键词推理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461510" y="38519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667250" y="3762375"/>
            <a:ext cx="1238250" cy="400050"/>
          </a:xfrm>
          <a:prstGeom prst="roundRect">
            <a:avLst>
              <a:gd name="adj" fmla="val 14286"/>
            </a:avLst>
          </a:prstGeom>
          <a:solidFill>
            <a:srgbClr val="C62828">
              <a:alpha val="10000"/>
            </a:srgbClr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4825436" y="3828574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症状组合推理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854178" y="3997166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多症状联合推断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40118" y="4419124"/>
            <a:ext cx="29154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全部失败 → 降级为症状级推荐 + 低置信度标记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650355" y="304514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审核反馈闭环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667500" y="3381375"/>
            <a:ext cx="4762500" cy="1381125"/>
          </a:xfrm>
          <a:prstGeom prst="roundRect">
            <a:avLst>
              <a:gd name="adj" fmla="val 6897"/>
            </a:avLst>
          </a:pr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844665" y="3525202"/>
            <a:ext cx="2208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FeedbackLearner 渐进式惩罚</a:t>
            </a:r>
          </a:p>
        </p:txBody>
      </p:sp>
      <p:sp>
        <p:nvSpPr>
          <p:cNvPr id="69" name="Rectangle 69"/>
          <p:cNvSpPr/>
          <p:nvPr/>
        </p:nvSpPr>
        <p:spPr>
          <a:xfrm>
            <a:off x="6858000" y="3790950"/>
            <a:ext cx="1333500" cy="361950"/>
          </a:xfrm>
          <a:prstGeom prst="roundRect">
            <a:avLst>
              <a:gd name="adj" fmla="val 15789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6864453" y="391429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医生确认/修改/拒绝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273415" y="38681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72" name="Rectangle 72"/>
          <p:cNvSpPr/>
          <p:nvPr/>
        </p:nvSpPr>
        <p:spPr>
          <a:xfrm>
            <a:off x="8477250" y="3790950"/>
            <a:ext cx="1143000" cy="361950"/>
          </a:xfrm>
          <a:prstGeom prst="roundRect">
            <a:avLst>
              <a:gd name="adj" fmla="val 15789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8662571" y="3847624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渐进式惩罚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797290" y="40066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权重衰减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702165" y="38681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76" name="Rectangle 76"/>
          <p:cNvSpPr/>
          <p:nvPr/>
        </p:nvSpPr>
        <p:spPr>
          <a:xfrm>
            <a:off x="9906000" y="3790950"/>
            <a:ext cx="1333500" cy="361950"/>
          </a:xfrm>
          <a:prstGeom prst="roundRect">
            <a:avLst>
              <a:gd name="adj" fmla="val 15789"/>
            </a:avLst>
          </a:prstGeom>
          <a:solidFill>
            <a:srgbClr val="2E7D32">
              <a:alpha val="10000"/>
            </a:srgbClr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9990772" y="39142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持续优化推荐权重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845618" y="4371499"/>
            <a:ext cx="34280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惩罚系数：1次拒绝 ×0.7，2次 ×0.5，3次及以上 ×0.3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845618" y="4561999"/>
            <a:ext cx="3299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被反复拒绝的药物权重持续衰减，推动推荐质量提升</a:t>
            </a:r>
          </a:p>
        </p:txBody>
      </p:sp>
      <p:sp>
        <p:nvSpPr>
          <p:cNvPr id="80" name="Rectangle 80"/>
          <p:cNvSpPr/>
          <p:nvPr/>
        </p:nvSpPr>
        <p:spPr>
          <a:xfrm>
            <a:off x="762000" y="504825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2467386" y="5212556"/>
            <a:ext cx="72572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适应症路由覆盖率92.5%，支持1295种中文疾病输入，KnowledgeRouter四级路由解决语义鸿沟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397525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差分隐私推理阶段保护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2950" y="885825"/>
            <a:ext cx="23383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噪声机制与临床后处理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190625"/>
            <a:ext cx="5143500" cy="857250"/>
          </a:xfrm>
          <a:prstGeom prst="roundRect">
            <a:avLst>
              <a:gd name="adj" fmla="val 8889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190625"/>
            <a:ext cx="38100" cy="85725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8212" y="1326356"/>
            <a:ext cx="9946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Laplace机制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165" y="1553528"/>
            <a:ext cx="1015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Consolas"/>
                <a:ea typeface="Microsoft YaHei"/>
                <a:cs typeface="Consolas"/>
              </a:rPr>
              <a:t>scale = Δf / 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43212" y="1326356"/>
            <a:ext cx="10895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Gaussian机制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44165" y="1553528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Consolas"/>
                <a:ea typeface="Microsoft YaHei"/>
                <a:cs typeface="Consolas"/>
              </a:rPr>
              <a:t>σ = Δf × √(2ln(1.25/δ)) / 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1070" y="1807845"/>
            <a:ext cx="18565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默认配置：ε=0.1 Gaussian噪声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190750"/>
            <a:ext cx="51435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62000" y="2190750"/>
            <a:ext cx="5143500" cy="342900"/>
          </a:xfrm>
          <a:prstGeom prst="roundRect">
            <a:avLst>
              <a:gd name="adj" fmla="val 22222"/>
            </a:avLst>
          </a:prstGeom>
          <a:solidFill>
            <a:srgbClr val="00796B">
              <a:alpha val="8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62000" y="2476500"/>
            <a:ext cx="5143500" cy="57150"/>
          </a:xfrm>
          <a:prstGeom prst="rect">
            <a:avLst/>
          </a:prstGeom>
          <a:solidFill>
            <a:srgbClr val="00796B">
              <a:alpha val="8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38212" y="2307431"/>
            <a:ext cx="43588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临床阈值后处理（基于DP后处理定理，不降低隐私保护）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165" y="2667952"/>
            <a:ext cx="8164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1. 低分置零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118" y="2885599"/>
            <a:ext cx="10998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Consolas"/>
                <a:ea typeface="Microsoft YaHei"/>
                <a:cs typeface="Consolas"/>
              </a:rPr>
              <a:t>score &lt; 0.15 → 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22320" y="289369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低分药物不被噪声意外提升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9165" y="3163252"/>
            <a:ext cx="8547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2. 上限裁剪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0118" y="3380899"/>
            <a:ext cx="20753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Consolas"/>
                <a:ea typeface="Microsoft YaHei"/>
                <a:cs typeface="Consolas"/>
              </a:rPr>
              <a:t>ceiling = min(1.0, raw + 0.35)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22320" y="3388995"/>
            <a:ext cx="16856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防止噪声将低分放大超3.5倍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9165" y="3658552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3. dpAnomaly标记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0118" y="387619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噪声显著改变排序方向时触发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9165" y="4153852"/>
            <a:ext cx="11078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4. 95%置信区间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0118" y="4352449"/>
            <a:ext cx="13348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Laplace CI = ±2b/√3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54618" y="4352449"/>
            <a:ext cx="13775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Gaussian CI = ±1.96σ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57950" y="885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隐私预算管理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77000" y="1190625"/>
            <a:ext cx="4953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477000" y="1190625"/>
            <a:ext cx="4953000" cy="342900"/>
          </a:xfrm>
          <a:prstGeom prst="roundRect">
            <a:avLst>
              <a:gd name="adj" fmla="val 22222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6477000" y="1476375"/>
            <a:ext cx="4953000" cy="5715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30730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双重追踪机制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165" y="1648778"/>
            <a:ext cx="11461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1. MySQL持久化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5118" y="1847374"/>
            <a:ext cx="37912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privacy_config.budget_used + privacy_ledger 事件日志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165" y="2096452"/>
            <a:ext cx="11384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2. 内存Tracker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5118" y="2295049"/>
            <a:ext cx="28798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PrivacyBudgetTracker 强组合定理实时追踪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5118" y="2561749"/>
            <a:ext cx="21821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服务重启后从MySQL恢复预算状态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477000" y="2952750"/>
            <a:ext cx="4953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477000" y="2952750"/>
            <a:ext cx="4953000" cy="342900"/>
          </a:xfrm>
          <a:prstGeom prst="roundRect">
            <a:avLst>
              <a:gd name="adj" fmla="val 22222"/>
            </a:avLst>
          </a:prstGeom>
          <a:solidFill>
            <a:srgbClr val="FF8F00">
              <a:alpha val="8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6477000" y="3238500"/>
            <a:ext cx="4953000" cy="57150"/>
          </a:xfrm>
          <a:prstGeom prst="rect">
            <a:avLst/>
          </a:prstGeom>
          <a:solidFill>
            <a:srgbClr val="FF8F00">
              <a:alpha val="8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653212" y="3069431"/>
            <a:ext cx="2426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BudgetWarningLevel 三级预警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667500" y="3429000"/>
            <a:ext cx="4381500" cy="342900"/>
          </a:xfrm>
          <a:prstGeom prst="roundRect">
            <a:avLst>
              <a:gd name="adj" fmla="val 16667"/>
            </a:avLst>
          </a:prstGeom>
          <a:solidFill>
            <a:srgbClr val="2E7D32">
              <a:alpha val="8000"/>
            </a:srgbClr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6781800" y="352425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987540" y="3534728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GREEN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607618" y="354282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预算充足，正常推荐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667500" y="3848100"/>
            <a:ext cx="4381500" cy="342900"/>
          </a:xfrm>
          <a:prstGeom prst="roundRect">
            <a:avLst>
              <a:gd name="adj" fmla="val 16667"/>
            </a:avLst>
          </a:prstGeom>
          <a:solidFill>
            <a:srgbClr val="FF8F00">
              <a:alpha val="8000"/>
            </a:srgbClr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6781800" y="3943350"/>
            <a:ext cx="152400" cy="152400"/>
          </a:xfrm>
          <a:prstGeom prst="ellipse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987540" y="3953828"/>
            <a:ext cx="6224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YELLOW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683818" y="3961924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预算接近上限，警告提示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667500" y="4267200"/>
            <a:ext cx="4381500" cy="342900"/>
          </a:xfrm>
          <a:prstGeom prst="roundRect">
            <a:avLst>
              <a:gd name="adj" fmla="val 16667"/>
            </a:avLst>
          </a:prstGeom>
          <a:solidFill>
            <a:srgbClr val="C62828">
              <a:alpha val="8000"/>
            </a:srgbClr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6781800" y="4362450"/>
            <a:ext cx="152400" cy="1524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987540" y="437292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RED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64742" y="4381024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预算耗尽，拒绝推荐请求</a:t>
            </a:r>
          </a:p>
        </p:txBody>
      </p:sp>
      <p:sp>
        <p:nvSpPr>
          <p:cNvPr id="55" name="Rectangle 55"/>
          <p:cNvSpPr/>
          <p:nvPr/>
        </p:nvSpPr>
        <p:spPr>
          <a:xfrm>
            <a:off x="762000" y="4857750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38212" y="50220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核心设计思路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39165" y="5268278"/>
            <a:ext cx="41825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后处理定理保证：对DP输出做确定性变换不降低隐私保护强度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9165" y="5458778"/>
            <a:ext cx="4496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临床阈值裁剪是公开函数，不泄露个体信息 → 安全性与精度可兼得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354510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DeepFM v3模型改进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3335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047750"/>
            <a:ext cx="3429000" cy="47625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047750"/>
            <a:ext cx="3429000" cy="457200"/>
          </a:xfrm>
          <a:prstGeom prst="roundRect">
            <a:avLst>
              <a:gd name="adj" fmla="val 20833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409700"/>
            <a:ext cx="3429000" cy="9525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89399" y="1214914"/>
            <a:ext cx="257420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合并嵌入 Merged Embedding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165" y="1696402"/>
            <a:ext cx="14114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Opacus兼容DP训练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52500" y="1905000"/>
            <a:ext cx="304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39165" y="2029778"/>
            <a:ext cx="26183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问题：传统做法每字段独立Embedding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2248852"/>
            <a:ext cx="26720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→ Opacus不支持多Embedding梯度采样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2553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00" y="2762250"/>
            <a:ext cx="304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39165" y="2887028"/>
            <a:ext cx="23499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单个 nn.Embedding 共享嵌入空间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165" y="3125152"/>
            <a:ext cx="22962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+ field_offsets 寄存器分段索引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52500" y="3476625"/>
            <a:ext cx="3048000" cy="666750"/>
          </a:xfrm>
          <a:prstGeom prst="roundRect">
            <a:avLst>
              <a:gd name="adj" fmla="val 8571"/>
            </a:avLst>
          </a:prstGeom>
          <a:solidFill>
            <a:srgbClr val="00796B">
              <a:alpha val="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620405" y="3609499"/>
            <a:ext cx="17121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796B"/>
                </a:solidFill>
                <a:latin typeface="Consolas"/>
                <a:ea typeface="Microsoft YaHei"/>
                <a:cs typeface="Consolas"/>
              </a:rPr>
              <a:t>15个类别字段共享嵌入空间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79962" y="3819049"/>
            <a:ext cx="9930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796B"/>
                </a:solidFill>
                <a:latin typeface="Consolas"/>
                <a:ea typeface="Microsoft YaHei"/>
                <a:cs typeface="Consolas"/>
              </a:rPr>
              <a:t>embed_dim = 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16845" y="3990499"/>
            <a:ext cx="1719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796B"/>
                </a:solidFill>
                <a:latin typeface="Consolas"/>
                <a:ea typeface="Microsoft YaHei"/>
                <a:cs typeface="Consolas"/>
              </a:rPr>
              <a:t>总vocab = 各字段词表之和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165" y="43634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效果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52500" y="4572000"/>
            <a:ext cx="304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39165" y="4696778"/>
            <a:ext cx="18592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 支持Opacus DP-SGD训练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9165" y="4915852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 参数量减少，训练效率提升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9165" y="5134928"/>
            <a:ext cx="15371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 跨字段语义信息共享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381500" y="1047750"/>
            <a:ext cx="3429000" cy="47625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4381500" y="1047750"/>
            <a:ext cx="3429000" cy="457200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381500" y="1409700"/>
            <a:ext cx="3429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493234" y="121491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连续特征旁路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58665" y="1696402"/>
            <a:ext cx="20555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绕过嵌入/FM/Deep的直通路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572000" y="1905000"/>
            <a:ext cx="304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558665" y="2029778"/>
            <a:ext cx="19512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4个连续特征直接参与评分：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572000" y="2333625"/>
            <a:ext cx="3048000" cy="285750"/>
          </a:xfrm>
          <a:prstGeom prst="roundRect">
            <a:avLst>
              <a:gd name="adj" fmla="val 13333"/>
            </a:avLst>
          </a:prstGeom>
          <a:solidFill>
            <a:srgbClr val="1565C0">
              <a:alpha val="6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654868" y="2418874"/>
            <a:ext cx="32429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age_raw, bmi_raw, gfr_raw, liver_score_raw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58665" y="27441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为什么需要旁路？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572000" y="2952750"/>
            <a:ext cx="304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558665" y="3077528"/>
            <a:ext cx="16982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连续特征经Embedding层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58665" y="329660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→ 离散化损失精度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58665" y="3553778"/>
            <a:ext cx="22732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GFR和肝功能评分是关键临床指标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58665" y="37728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→ 必须保留原始数值精度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558665" y="4077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实现方式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572000" y="4286250"/>
            <a:ext cx="304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558665" y="44110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独立线性变换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58665" y="4630102"/>
            <a:ext cx="1544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→ 与FM+Deep输出拼接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58665" y="4849178"/>
            <a:ext cx="15371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→ 共同进入最终预测层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572000" y="5238750"/>
            <a:ext cx="3048000" cy="342900"/>
          </a:xfrm>
          <a:prstGeom prst="roundRect">
            <a:avLst>
              <a:gd name="adj" fmla="val 16667"/>
            </a:avLst>
          </a:prstGeom>
          <a:solidFill>
            <a:srgbClr val="1565C0">
              <a:alpha val="6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995869" y="5362099"/>
            <a:ext cx="22002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肾/肝功能评分直接参与推荐决策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001000" y="1047750"/>
            <a:ext cx="3429000" cy="47625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8001000" y="1047750"/>
            <a:ext cx="3429000" cy="457200"/>
          </a:xfrm>
          <a:prstGeom prst="roundRect">
            <a:avLst>
              <a:gd name="adj" fmla="val 20833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8001000" y="1409700"/>
            <a:ext cx="3429000" cy="9525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9308259" y="121491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训练优化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178165" y="1696402"/>
            <a:ext cx="22890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1. LayerNorm 替代 BatchNorm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191500" y="1905000"/>
            <a:ext cx="304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178165" y="20297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推理无需批统计量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178165" y="2248852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→ 单样本推理无偏差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178165" y="2467928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 与Opacus DP-SGD兼容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178165" y="2839402"/>
            <a:ext cx="13550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2. 差异化Dropout</a:t>
            </a:r>
          </a:p>
        </p:txBody>
      </p:sp>
      <p:sp>
        <p:nvSpPr>
          <p:cNvPr id="59" name="Rectangle 59"/>
          <p:cNvSpPr/>
          <p:nvPr/>
        </p:nvSpPr>
        <p:spPr>
          <a:xfrm>
            <a:off x="8191500" y="3048000"/>
            <a:ext cx="304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178165" y="3172778"/>
            <a:ext cx="14451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FM层 Dropout = 0.3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178165" y="3391852"/>
            <a:ext cx="1544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Deep层 Dropout = 0.1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178165" y="3649028"/>
            <a:ext cx="160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FM低阶交叉需更强正则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178165" y="3868102"/>
            <a:ext cx="18975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Deep高阶网络自身有泛化性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178165" y="426815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3. Focal Loss</a:t>
            </a:r>
          </a:p>
        </p:txBody>
      </p:sp>
      <p:sp>
        <p:nvSpPr>
          <p:cNvPr id="65" name="Rectangle 65"/>
          <p:cNvSpPr/>
          <p:nvPr/>
        </p:nvSpPr>
        <p:spPr>
          <a:xfrm>
            <a:off x="8191500" y="4476750"/>
            <a:ext cx="304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8178165" y="4601528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α = 0.25, γ = 2.0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178165" y="48206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聚焦难分样本，抑制易分样本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178165" y="503967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应对正负样本极度不平衡</a:t>
            </a:r>
          </a:p>
        </p:txBody>
      </p:sp>
      <p:sp>
        <p:nvSpPr>
          <p:cNvPr id="69" name="Rectangle 69"/>
          <p:cNvSpPr/>
          <p:nvPr/>
        </p:nvSpPr>
        <p:spPr>
          <a:xfrm>
            <a:off x="8191500" y="5381625"/>
            <a:ext cx="3048000" cy="285750"/>
          </a:xfrm>
          <a:prstGeom prst="roundRect">
            <a:avLst>
              <a:gd name="adj" fmla="val 20000"/>
            </a:avLst>
          </a:prstGeom>
          <a:solidFill>
            <a:srgbClr val="FF8F00">
              <a:alpha val="6000"/>
            </a:srgbClr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8607893" y="5466874"/>
            <a:ext cx="22152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1807种候选药物 vs 少数适配药物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162896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关键实现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9525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047750"/>
            <a:ext cx="5238750" cy="24765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047750"/>
            <a:ext cx="5238750" cy="381000"/>
          </a:xfrm>
          <a:prstGeom prst="roundRect">
            <a:avLst>
              <a:gd name="adj" fmla="val 25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352550"/>
            <a:ext cx="5238750" cy="7620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" y="1175385"/>
            <a:ext cx="17234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三角色RBAC权限控制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165" y="1553528"/>
            <a:ext cx="11699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管理员 (ADMIN)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0118" y="1771174"/>
            <a:ext cx="38125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全权限：用户管理 + 患者管理 + 推荐 + 隐私分析 + 系统配置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9165" y="2029778"/>
            <a:ext cx="11699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医生 (DOCTOR)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0118" y="2247424"/>
            <a:ext cx="32002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患者管理 + 推荐审核 + 隐私分析（不可管理用户）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2506028"/>
            <a:ext cx="16207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研究员 (RESEARCHER)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118" y="2723674"/>
            <a:ext cx="28941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隐私分析 + 统计查看（不可管理患者和推荐）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3048000"/>
            <a:ext cx="4857750" cy="304800"/>
          </a:xfrm>
          <a:prstGeom prst="roundRect">
            <a:avLst>
              <a:gd name="adj" fmla="val 18750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710047" y="3152299"/>
            <a:ext cx="33426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前后端双重权限校验 — 前端路由守卫 + 后端接口鉴权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191250" y="1047750"/>
            <a:ext cx="5238750" cy="24765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191250" y="1047750"/>
            <a:ext cx="5238750" cy="3810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191250" y="1352550"/>
            <a:ext cx="5238750" cy="762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66510" y="117538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审核反馈闭环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68415" y="1553528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医生审核推荐结果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9368" y="1771174"/>
            <a:ext cx="34209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确认（approve）/ 修改（modify）/ 拒绝（reject）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8415" y="2029778"/>
            <a:ext cx="2208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FeedbackLearner 渐进式惩罚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69368" y="2247424"/>
            <a:ext cx="27161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1次拒绝 ×0.7，2次 ×0.5，3次及以上 ×0.3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69368" y="246649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被反复拒绝的药物权重持续衰减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381750" y="2762250"/>
            <a:ext cx="4857750" cy="571500"/>
          </a:xfrm>
          <a:prstGeom prst="roundRect">
            <a:avLst>
              <a:gd name="adj" fmla="val 10000"/>
            </a:avLst>
          </a:prstGeom>
          <a:solidFill>
            <a:srgbClr val="1565C0">
              <a:alpha val="6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758732" y="2866549"/>
            <a:ext cx="21037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推荐 → 审核 → 惩罚 → 优化 → 推荐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16190" y="3093720"/>
            <a:ext cx="23888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闭环持续优化推荐权重，提升临床采纳率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3714750"/>
            <a:ext cx="5238750" cy="24765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62000" y="3714750"/>
            <a:ext cx="5238750" cy="381000"/>
          </a:xfrm>
          <a:prstGeom prst="roundRect">
            <a:avLst>
              <a:gd name="adj" fmla="val 25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762000" y="4019550"/>
            <a:ext cx="5238750" cy="7620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7260" y="384238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推荐解释生成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9165" y="422052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三维解释信息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52500" y="4429125"/>
            <a:ext cx="48577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39165" y="4553902"/>
            <a:ext cx="31397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1. 适应症匹配详情 — 匹配的疾病和药物适应症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9165" y="4792028"/>
            <a:ext cx="31933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2. 安全性分析 — 禁忌症/交互/妊娠等安全标记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9165" y="5030152"/>
            <a:ext cx="2564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3. 推荐理由说明 — 为什么推荐此药物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9165" y="5363528"/>
            <a:ext cx="20796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ClinicalMatcher 标准化匹配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0118" y="5581174"/>
            <a:ext cx="20468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替代简单子串匹配，准确率95%+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0118" y="5800249"/>
            <a:ext cx="29154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标准化疾病名 → 精确适应症匹配 → 可解释推荐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191250" y="3714750"/>
            <a:ext cx="5238750" cy="24765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2E7D32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191250" y="3714750"/>
            <a:ext cx="5238750" cy="38100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6191250" y="4019550"/>
            <a:ext cx="523875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366510" y="3842385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全字段中文翻译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368415" y="422052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双语翻译管线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381750" y="4429125"/>
            <a:ext cx="48577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368415" y="4553902"/>
            <a:ext cx="23576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drug_translator — 药物名 EN→CN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68415" y="4792028"/>
            <a:ext cx="24419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translation_mapper — 统一映射器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68415" y="5030152"/>
            <a:ext cx="26873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disease_mapper — 中文疾病→英文映射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68415" y="536352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翻译覆盖字段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69368" y="5581174"/>
            <a:ext cx="31005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药物名 / 安全类型 / 副作用 / 疾病名 / 药物分类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381750" y="5857875"/>
            <a:ext cx="4857750" cy="190500"/>
          </a:xfrm>
          <a:prstGeom prst="roundRect">
            <a:avLst>
              <a:gd name="adj" fmla="val 20000"/>
            </a:avLst>
          </a:prstGeom>
          <a:solidFill>
            <a:srgbClr val="2E7D32">
              <a:alpha val="6000"/>
            </a:srgbClr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090410" y="5903595"/>
            <a:ext cx="34404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推荐结果同时返回 drugName(中文) + englishName(英文)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241106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系统界面展示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000125"/>
            <a:ext cx="5143500" cy="24765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952500" y="1190625"/>
            <a:ext cx="4762500" cy="1714500"/>
          </a:xfrm>
          <a:prstGeom prst="roundRect">
            <a:avLst>
              <a:gd name="adj" fmla="val 2222"/>
            </a:avLst>
          </a:prstGeom>
          <a:solidFill>
            <a:srgbClr val="E8EDF2"/>
          </a:solidFill>
          <a:ln w="9525">
            <a:solidFill>
              <a:srgbClr val="D0D7D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617470" y="18707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推荐审核页面截图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16766" y="2112645"/>
            <a:ext cx="20339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0B8C0"/>
                </a:solidFill>
                <a:latin typeface="Arial"/>
                <a:ea typeface="Microsoft YaHei"/>
                <a:cs typeface="Arial"/>
              </a:rPr>
              <a:t>images/screenshot_review.png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52500" y="3048000"/>
            <a:ext cx="47625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34415" y="31442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推荐审核页面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54618" y="3152299"/>
            <a:ext cx="40190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左侧待审核列表 + 右侧审核面板 + 安全级别标签(绿/黄/橙/紫)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1000125"/>
            <a:ext cx="5143500" cy="24765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477000" y="1190625"/>
            <a:ext cx="4762500" cy="1714500"/>
          </a:xfrm>
          <a:prstGeom prst="roundRect">
            <a:avLst>
              <a:gd name="adj" fmla="val 2222"/>
            </a:avLst>
          </a:prstGeom>
          <a:solidFill>
            <a:srgbClr val="E8EDF2"/>
          </a:solidFill>
          <a:ln w="9525">
            <a:solidFill>
              <a:srgbClr val="D0D7DE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141970" y="18707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隐私配置页面截图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18263" y="2112645"/>
            <a:ext cx="20799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0B8C0"/>
                </a:solidFill>
                <a:latin typeface="Arial"/>
                <a:ea typeface="Microsoft YaHei"/>
                <a:cs typeface="Arial"/>
              </a:rPr>
              <a:t>images/screenshot_privacy.png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77000" y="3048000"/>
            <a:ext cx="47625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58915" y="31442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隐私配置页面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79118" y="3152299"/>
            <a:ext cx="33070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ε/δ/噪声机制参数 + 隐私-效用权衡图表 + 预算管理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714750"/>
            <a:ext cx="5143500" cy="24765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952500" y="3905250"/>
            <a:ext cx="4762500" cy="1714500"/>
          </a:xfrm>
          <a:prstGeom prst="roundRect">
            <a:avLst>
              <a:gd name="adj" fmla="val 2222"/>
            </a:avLst>
          </a:prstGeom>
          <a:solidFill>
            <a:srgbClr val="E8EDF2"/>
          </a:solidFill>
          <a:ln w="9525">
            <a:solidFill>
              <a:srgbClr val="D0D7D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529840" y="4585335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推荐统计仪表板截图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05038" y="4827270"/>
            <a:ext cx="22574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0B8C0"/>
                </a:solidFill>
                <a:latin typeface="Arial"/>
                <a:ea typeface="Microsoft YaHei"/>
                <a:cs typeface="Arial"/>
              </a:rPr>
              <a:t>images/screenshot_dashboard.png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52500" y="5762625"/>
            <a:ext cx="47625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34415" y="5858828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推荐统计仪表板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54618" y="5866924"/>
            <a:ext cx="32429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趋势折线图 + 药物Top10 + ATC分类 + 安全分层漏斗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86500" y="3714750"/>
            <a:ext cx="5143500" cy="24765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477000" y="3905250"/>
            <a:ext cx="4762500" cy="1714500"/>
          </a:xfrm>
          <a:prstGeom prst="roundRect">
            <a:avLst>
              <a:gd name="adj" fmla="val 2222"/>
            </a:avLst>
          </a:prstGeom>
          <a:solidFill>
            <a:srgbClr val="E8EDF2"/>
          </a:solidFill>
          <a:ln w="9525">
            <a:solidFill>
              <a:srgbClr val="D0D7DE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317230" y="45853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系统首页截图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97130" y="4827270"/>
            <a:ext cx="19222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0B8C0"/>
                </a:solidFill>
                <a:latin typeface="Arial"/>
                <a:ea typeface="Microsoft YaHei"/>
                <a:cs typeface="Arial"/>
              </a:rPr>
              <a:t>images/screenshot_home.png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5762625"/>
            <a:ext cx="47625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58915" y="58588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系统首页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07618" y="5866924"/>
            <a:ext cx="21821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核心数据指标 + 四大功能模块卡片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306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48602"/>
            <a:ext cx="280211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实验与测试结果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38175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25717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C62828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904875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39165" y="1048702"/>
            <a:ext cx="12826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ε=0.1 准确率下降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2495" y="1279208"/>
            <a:ext cx="102197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~10%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118" y="17997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隐私保护代价可控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524250" y="904875"/>
            <a:ext cx="25717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3524250" y="904875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701415" y="1048702"/>
            <a:ext cx="8478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DP性能开销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74745" y="1279208"/>
            <a:ext cx="1239355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~5ms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02368" y="17997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噪声注入额外耗时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904875"/>
            <a:ext cx="25717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286500" y="904875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463665" y="10487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推荐响应时间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36995" y="1279208"/>
            <a:ext cx="87706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&lt;2s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4618" y="1799749"/>
            <a:ext cx="1398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含四层架构+DP全流程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048750" y="904875"/>
            <a:ext cx="25717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9048750" y="904875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225915" y="10487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药物候选规模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99245" y="1279208"/>
            <a:ext cx="102197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1807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26868" y="17997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种药物实时推荐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4855" y="2330768"/>
            <a:ext cx="18354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隐私预算 vs 准确率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2647950"/>
            <a:ext cx="5143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2647950"/>
            <a:ext cx="5143500" cy="285750"/>
          </a:xfrm>
          <a:prstGeom prst="roundRect">
            <a:avLst>
              <a:gd name="adj" fmla="val 26667"/>
            </a:avLst>
          </a:prstGeom>
          <a:solidFill>
            <a:srgbClr val="00796B">
              <a:alpha val="8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62000" y="2857500"/>
            <a:ext cx="5143500" cy="76200"/>
          </a:xfrm>
          <a:prstGeom prst="rect">
            <a:avLst/>
          </a:prstGeom>
          <a:solidFill>
            <a:srgbClr val="00796B">
              <a:alpha val="8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373313" y="2733199"/>
            <a:ext cx="3013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ε 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566571" y="273319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准确率下降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06311" y="273319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隐私保护强度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03318" y="3029902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Consolas"/>
                <a:ea typeface="Microsoft YaHei"/>
                <a:cs typeface="Consolas"/>
              </a:rPr>
              <a:t>1.0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12899" y="302990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~2%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77239" y="3029902"/>
            <a:ext cx="1800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弱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84149" y="331565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Consolas"/>
                <a:ea typeface="Microsoft YaHei"/>
                <a:cs typeface="Consolas"/>
              </a:rPr>
              <a:t>0.5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12899" y="331565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~5%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77239" y="3315652"/>
            <a:ext cx="1800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中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03318" y="3601402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Consolas"/>
                <a:ea typeface="Microsoft YaHei"/>
                <a:cs typeface="Consolas"/>
              </a:rPr>
              <a:t>0.1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789896" y="360140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~10%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77239" y="3601402"/>
            <a:ext cx="1800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269355" y="23307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安全数据覆盖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286500" y="2647950"/>
            <a:ext cx="5143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6286500" y="2647950"/>
            <a:ext cx="5143500" cy="285750"/>
          </a:xfrm>
          <a:prstGeom prst="roundRect">
            <a:avLst>
              <a:gd name="adj" fmla="val 26667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286500" y="2857500"/>
            <a:ext cx="5143500" cy="7620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172349" y="27331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类别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621589" y="27331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覆盖率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315599" y="27331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数量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90886" y="30299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禁忌症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623512" y="30299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95.3%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161294" y="3029902"/>
            <a:ext cx="6324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1831/1815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014210" y="3315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药物交互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643640" y="3315652"/>
            <a:ext cx="429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81.5%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142125" y="3315652"/>
            <a:ext cx="6707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1480/1815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860858" y="3601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任意安全数据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623512" y="36014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97.0%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15746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总体覆盖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62000" y="4191000"/>
            <a:ext cx="10668000" cy="200025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935355" y="43500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其他关键指标</a:t>
            </a:r>
          </a:p>
        </p:txBody>
      </p:sp>
      <p:sp>
        <p:nvSpPr>
          <p:cNvPr id="60" name="Rectangle 60"/>
          <p:cNvSpPr/>
          <p:nvPr/>
        </p:nvSpPr>
        <p:spPr>
          <a:xfrm>
            <a:off x="952500" y="466725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1673650" y="4707255"/>
            <a:ext cx="9389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92.5%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561147" y="50858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适应症路由覆盖率</a:t>
            </a:r>
          </a:p>
        </p:txBody>
      </p:sp>
      <p:sp>
        <p:nvSpPr>
          <p:cNvPr id="63" name="Rectangle 63"/>
          <p:cNvSpPr/>
          <p:nvPr/>
        </p:nvSpPr>
        <p:spPr>
          <a:xfrm>
            <a:off x="3524250" y="466725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4374216" y="4707255"/>
            <a:ext cx="6813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1295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061698" y="508587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种中文疾病输入支持</a:t>
            </a:r>
          </a:p>
        </p:txBody>
      </p:sp>
      <p:sp>
        <p:nvSpPr>
          <p:cNvPr id="66" name="Rectangle 66"/>
          <p:cNvSpPr/>
          <p:nvPr/>
        </p:nvSpPr>
        <p:spPr>
          <a:xfrm>
            <a:off x="6096000" y="466725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897660" y="4707255"/>
            <a:ext cx="77793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12/12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04648" y="50858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功能测试全部通过</a:t>
            </a:r>
          </a:p>
        </p:txBody>
      </p:sp>
      <p:sp>
        <p:nvSpPr>
          <p:cNvPr id="69" name="Rectangle 69"/>
          <p:cNvSpPr/>
          <p:nvPr/>
        </p:nvSpPr>
        <p:spPr>
          <a:xfrm>
            <a:off x="8667750" y="46672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9468048" y="4707255"/>
            <a:ext cx="9711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0 影响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001411" y="5085874"/>
            <a:ext cx="19044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SafetyFilter不受DP噪声影响</a:t>
            </a:r>
          </a:p>
        </p:txBody>
      </p:sp>
      <p:sp>
        <p:nvSpPr>
          <p:cNvPr id="72" name="Rectangle 72"/>
          <p:cNvSpPr/>
          <p:nvPr/>
        </p:nvSpPr>
        <p:spPr>
          <a:xfrm>
            <a:off x="952500" y="5524500"/>
            <a:ext cx="10287000" cy="476250"/>
          </a:xfrm>
          <a:prstGeom prst="roundRect">
            <a:avLst>
              <a:gd name="adj" fmla="val 16000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1954134" y="5688806"/>
            <a:ext cx="8283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核心发现：DP保护不降低模型质量 — DP模型separation(0.85)高于无DP基线(0.75)，更好区分高/低分药物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339703" y="6522720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280211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结论与未来工作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1045" y="917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796B"/>
                </a:solidFill>
                <a:latin typeface="Georgia"/>
                <a:ea typeface="KaiTi"/>
                <a:cs typeface="Georgia"/>
              </a:rPr>
              <a:t>主要工作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190625"/>
            <a:ext cx="952500" cy="1905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381125"/>
            <a:ext cx="53340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381125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4885" y="153733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四层推荐架构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790" y="1810702"/>
            <a:ext cx="44815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KnowledgeRouter 四级确定性路由，解决中文疾病→英文适应症的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6790" y="2020252"/>
            <a:ext cx="44738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语义鸿沟；SafetyFilter + RuleMarker 双层安全约束，硬排除与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6790" y="2229802"/>
            <a:ext cx="34694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软标记分离；DeepFM个性化排序，覆盖1807种药物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7742" y="2485549"/>
            <a:ext cx="21536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→ 确定性安全判断不受DP噪声影响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2857500"/>
            <a:ext cx="53340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762000" y="2857500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84885" y="3013710"/>
            <a:ext cx="20547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差分隐私与深度学习融合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6790" y="3287078"/>
            <a:ext cx="47652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推理阶段临床阈值后处理（低分置零、上限裁剪、dpAnomaly标记），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6790" y="3496628"/>
            <a:ext cx="43358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基于DP后处理定理保障安全性不受噪声干扰；双重隐私预算追踪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6790" y="3706178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（MySQL持久化 + 内存Tracker）+ 三级预算预警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7742" y="3961924"/>
            <a:ext cx="33924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→ ε=0.1时准确率仅下降~10%，DP模型separation更优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4333875"/>
            <a:ext cx="53340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62000" y="4333875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84885" y="4490085"/>
            <a:ext cx="20547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口语增强与审核反馈闭环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6790" y="4763452"/>
            <a:ext cx="45965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PatientInputEnhancer 三层Fallback（精确→关键词→症状组合），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6790" y="4973002"/>
            <a:ext cx="43512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支持1295种中文疾病输入；FeedbackLearner渐进式惩罚机制，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6790" y="5182552"/>
            <a:ext cx="29403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构建从患者口语表达到药品推荐的完整链路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7742" y="5438299"/>
            <a:ext cx="2708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→ 推荐审核闭环持续优化，临床采纳率提升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56045" y="917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未来方向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77000" y="1190625"/>
            <a:ext cx="952500" cy="190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477000" y="1381125"/>
            <a:ext cx="4953000" cy="1333500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381125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99885" y="1537335"/>
            <a:ext cx="1686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扩充罕见病路由覆盖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01790" y="1839278"/>
            <a:ext cx="20815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当前120个罕见病路由覆盖有限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01790" y="2058352"/>
            <a:ext cx="2625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目标：覆盖至100%，引入医学知识图谱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02742" y="2371249"/>
            <a:ext cx="29510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结合专业医学数据库自动扩充疾病-适应症映射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477000" y="2857500"/>
            <a:ext cx="4953000" cy="1333500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9525">
            <a:solidFill>
              <a:srgbClr val="FF8F0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6477000" y="2857500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699885" y="3013710"/>
            <a:ext cx="18707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审核反馈数据持续优化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01790" y="33156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积累医生审核反馈数据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01790" y="3534728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持续优化路由权重和推荐排序策略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02742" y="3847624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从规则驱动逐步过渡到数据驱动优化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477000" y="4333875"/>
            <a:ext cx="4953000" cy="1333500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9525">
            <a:solidFill>
              <a:srgbClr val="00796B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6477000" y="4333875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699885" y="4490085"/>
            <a:ext cx="21467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安全性特征编码入DeepFM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701790" y="4792028"/>
            <a:ext cx="36304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将安全性数据（禁忌症、交互等）编码为DeepFM特征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701790" y="5011102"/>
            <a:ext cx="29403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实现安全性与个性化排序的端到端联合优化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702742" y="5323999"/>
            <a:ext cx="28727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模型层面融合安全约束，而非仅靠后处理规则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306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96B">
                  <a:alpha val="4000"/>
                </a:srgbClr>
              </a:gs>
              <a:gs pos="100000">
                <a:srgbClr val="00796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1905000"/>
            <a:ext cx="38100" cy="2857500"/>
          </a:xfrm>
          <a:prstGeom prst="roundRect">
            <a:avLst>
              <a:gd name="adj" fmla="val 50000"/>
            </a:avLst>
          </a:prstGeom>
          <a:solidFill>
            <a:srgbClr val="00796B">
              <a:alpha val="1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358684" y="1864995"/>
            <a:ext cx="147463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致 谢</a:t>
            </a:r>
          </a:p>
        </p:txBody>
      </p:sp>
      <p:sp>
        <p:nvSpPr>
          <p:cNvPr id="7" name="Rectangle 7"/>
          <p:cNvSpPr/>
          <p:nvPr/>
        </p:nvSpPr>
        <p:spPr>
          <a:xfrm>
            <a:off x="5524500" y="245745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147185" y="3060382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感谢指导教师侯慧莹老师的悉心指导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85711" y="3631882"/>
            <a:ext cx="46205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感谢人工智能与大数据学院各位老师的培养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0132" y="4203382"/>
            <a:ext cx="24517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感谢家人的理解与支持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5715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gradFill>
            <a:gsLst>
              <a:gs pos="0">
                <a:srgbClr val="00796B">
                  <a:alpha val="6000"/>
                </a:srgbClr>
              </a:gs>
              <a:gs pos="100000">
                <a:srgbClr val="1565C0">
                  <a:alpha val="6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3" name="Polygon 13"/>
          <p:cNvSpPr/>
          <p:nvPr/>
        </p:nvSpPr>
        <p:spPr>
          <a:xfrm>
            <a:off x="10477500" y="5000625"/>
            <a:ext cx="476250" cy="571500"/>
          </a:xfrm>
          <a:custGeom>
            <a:avLst/>
            <a:gdLst/>
            <a:ahLst/>
            <a:cxnLst/>
            <a:rect l="l" t="t" r="r" b="b"/>
            <a:pathLst>
              <a:path w="476250" h="571500">
                <a:moveTo>
                  <a:pt x="0" y="142875"/>
                </a:moveTo>
                <a:lnTo>
                  <a:pt x="238125" y="0"/>
                </a:lnTo>
                <a:lnTo>
                  <a:pt x="476250" y="142875"/>
                </a:lnTo>
                <a:lnTo>
                  <a:pt x="476250" y="428625"/>
                </a:lnTo>
                <a:lnTo>
                  <a:pt x="238125" y="571500"/>
                </a:lnTo>
                <a:lnTo>
                  <a:pt x="0" y="428625"/>
                </a:lnTo>
                <a:close/>
              </a:path>
            </a:pathLst>
          </a:custGeom>
          <a:noFill/>
          <a:ln w="9525">
            <a:solidFill>
              <a:srgbClr val="00796B">
                <a:alpha val="12000"/>
              </a:srgbClr>
            </a:solidFill>
          </a:ln>
        </p:spPr>
      </p:sp>
      <p:sp>
        <p:nvSpPr>
          <p:cNvPr id="14" name="Polygon 14"/>
          <p:cNvSpPr/>
          <p:nvPr/>
        </p:nvSpPr>
        <p:spPr>
          <a:xfrm>
            <a:off x="10953750" y="5000625"/>
            <a:ext cx="476250" cy="571500"/>
          </a:xfrm>
          <a:custGeom>
            <a:avLst/>
            <a:gdLst/>
            <a:ahLst/>
            <a:cxnLst/>
            <a:rect l="l" t="t" r="r" b="b"/>
            <a:pathLst>
              <a:path w="476250" h="571500">
                <a:moveTo>
                  <a:pt x="0" y="142875"/>
                </a:moveTo>
                <a:lnTo>
                  <a:pt x="238125" y="0"/>
                </a:lnTo>
                <a:lnTo>
                  <a:pt x="476250" y="142875"/>
                </a:lnTo>
                <a:lnTo>
                  <a:pt x="476250" y="428625"/>
                </a:lnTo>
                <a:lnTo>
                  <a:pt x="238125" y="571500"/>
                </a:lnTo>
                <a:lnTo>
                  <a:pt x="0" y="428625"/>
                </a:lnTo>
                <a:close/>
              </a:path>
            </a:pathLst>
          </a:custGeom>
          <a:noFill/>
          <a:ln w="9525">
            <a:solidFill>
              <a:srgbClr val="1565C0">
                <a:alpha val="12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129665" y="6506528"/>
            <a:ext cx="7550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2026年3月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06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
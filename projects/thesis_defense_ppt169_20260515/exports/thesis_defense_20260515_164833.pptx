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png" ContentType="image/pn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8.xml"/>
</Relationships>
</file>

<file path=ppt/notesSlides/_rels/notesSlide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9.xml"/>
</Relationships>
</file>

<file path=ppt/notesSlides/_rels/notesSlide1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0.xml"/>
</Relationships>
</file>

<file path=ppt/notesSlides/_rels/notesSlide1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1.xml"/>
</Relationships>
</file>

<file path=ppt/notesSlides/_rels/notesSlide1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2.xml"/>
</Relationships>
</file>

<file path=ppt/notesSlides/_rels/notesSlide1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3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关键词：题目、姓名、指导教师</a:t>
            </a:r>
          </a:p>
          <a:p>
            <a:r>
              <a:rPr lang="zh-CN" dirty="0"/>
              <a:t>• 时间：0:00-0:30</a:t>
            </a:r>
          </a:p>
          <a:p>
            <a:r>
              <a:rPr lang="zh-CN" dirty="0"/>
              <a:t>• 过渡：各位老师好，我今天答辩的题目是...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关键词：医疗数据增长30%+、700+数据泄露事件、传统隐私保护失效、差分隐私与推荐系统融合匮乏</a:t>
            </a:r>
          </a:p>
          <a:p>
            <a:r>
              <a:rPr lang="zh-CN" dirty="0"/>
              <a:t>• 时间：0:30-2:30</a:t>
            </a:r>
          </a:p>
          <a:p>
            <a:r>
              <a:rPr lang="zh-CN" dirty="0"/>
              <a:t>• 要点：</a:t>
            </a:r>
          </a:p>
          <a:p>
            <a:r>
              <a:rPr lang="zh-CN" dirty="0"/>
              <a:t>1. 医疗数据爆发式增长，但隐私泄露严重</a:t>
            </a:r>
          </a:p>
          <a:p>
            <a:r>
              <a:rPr lang="zh-CN" dirty="0"/>
              <a:t>2. 传统K-匿名等方法有根本缺陷，差分隐私提供数学证明</a:t>
            </a:r>
          </a:p>
          <a:p>
            <a:r>
              <a:rPr lang="zh-CN" dirty="0"/>
              <a:t>3. 现有医疗推荐缺乏安全约束和可解释性</a:t>
            </a:r>
          </a:p>
          <a:p>
            <a:r>
              <a:rPr lang="zh-CN" dirty="0"/>
              <a:t>• 过渡：面对这些痛点，我们的研究目标是什么？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关键词：四层递进、知识路由、安全过滤、规则标记、DeepFM排序</a:t>
            </a:r>
          </a:p>
          <a:p>
            <a:r>
              <a:rPr lang="zh-CN" dirty="0"/>
              <a:t>• 时间：2:30-4:00</a:t>
            </a:r>
          </a:p>
          <a:p>
            <a:r>
              <a:rPr lang="zh-CN" dirty="0"/>
              <a:t>• 要点：</a:t>
            </a:r>
          </a:p>
          <a:p>
            <a:r>
              <a:rPr lang="zh-CN" dirty="0"/>
              <a:t>1. 核心目标：在差分隐私保护下兼顾临床安全与推荐精度</a:t>
            </a:r>
          </a:p>
          <a:p>
            <a:r>
              <a:rPr lang="zh-CN" dirty="0"/>
              <a:t>2. 四层架构各司其职：路由解决语义鸿沟，安全过滤硬排除，规则标记软提示，DeepFM个性化</a:t>
            </a:r>
          </a:p>
          <a:p>
            <a:r>
              <a:rPr lang="zh-CN" dirty="0"/>
              <a:t>3. 关键原则：噪声不影响安全过滤的确定性判断</a:t>
            </a:r>
          </a:p>
          <a:p>
            <a:r>
              <a:rPr lang="zh-CN" dirty="0"/>
              <a:t>• 过渡：接下来看系统总体架构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关键词：三服务微服务、React+Spring Boot+FastAPI、1807种药物</a:t>
            </a:r>
          </a:p>
          <a:p>
            <a:r>
              <a:rPr lang="zh-CN" dirty="0"/>
              <a:t>• 时间：4:00-5:30</a:t>
            </a:r>
          </a:p>
          <a:p>
            <a:r>
              <a:rPr lang="zh-CN" dirty="0"/>
              <a:t>• 要点：</a:t>
            </a:r>
          </a:p>
          <a:p>
            <a:r>
              <a:rPr lang="zh-CN" dirty="0"/>
              <a:t>1. 前端React 18提供审核/隐私/统计三个核心界面</a:t>
            </a:r>
          </a:p>
          <a:p>
            <a:r>
              <a:rPr lang="zh-CN" dirty="0"/>
              <a:t>2. 后端Spring Boot负责认证、数据管理、模型服务代理</a:t>
            </a:r>
          </a:p>
          <a:p>
            <a:r>
              <a:rPr lang="zh-CN" dirty="0"/>
              <a:t>3. 模型服务FastAPI实现四层推荐+DP噪声注入</a:t>
            </a:r>
          </a:p>
          <a:p>
            <a:r>
              <a:rPr lang="zh-CN" dirty="0"/>
              <a:t>• 过渡：下面重点讲解三层安全架构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关键词：SafetyFilter 12+9、RuleMarker 7种、DeepFM+DP噪声</a:t>
            </a:r>
          </a:p>
          <a:p>
            <a:r>
              <a:rPr lang="zh-CN" dirty="0"/>
              <a:t>• 时间：5:30-8:00</a:t>
            </a:r>
          </a:p>
          <a:p>
            <a:r>
              <a:rPr lang="zh-CN" dirty="0"/>
              <a:t>• 要点：</a:t>
            </a:r>
          </a:p>
          <a:p>
            <a:r>
              <a:rPr lang="zh-CN" dirty="0"/>
              <a:t>1. SafetyFilter硬排除：过敏、禁忌症、致命交互等12条红线</a:t>
            </a:r>
          </a:p>
          <a:p>
            <a:r>
              <a:rPr lang="zh-CN" dirty="0"/>
              <a:t>2. RuleMarker软标记：7种规则标记但不排除，候选药物保留排序</a:t>
            </a:r>
          </a:p>
          <a:p>
            <a:r>
              <a:rPr lang="zh-CN" dirty="0"/>
              <a:t>3. DeepFM个性化排序，DP噪声仅在此层应用</a:t>
            </a:r>
          </a:p>
          <a:p>
            <a:r>
              <a:rPr lang="zh-CN" dirty="0"/>
              <a:t>• 过渡：安全架构是怎么串联起来的？看推荐流程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关键词：9步流程、PatientInputEnhancer三层fallback、FeedbackLearner渐进惩罚</a:t>
            </a:r>
          </a:p>
          <a:p>
            <a:r>
              <a:rPr lang="zh-CN" dirty="0"/>
              <a:t>• 时间：8:00-10:00</a:t>
            </a:r>
          </a:p>
          <a:p>
            <a:r>
              <a:rPr lang="zh-CN" dirty="0"/>
              <a:t>• 要点：</a:t>
            </a:r>
          </a:p>
          <a:p>
            <a:r>
              <a:rPr lang="zh-CN" dirty="0"/>
              <a:t>1. 完整9步流程：从患者信息到质量保障</a:t>
            </a:r>
          </a:p>
          <a:p>
            <a:r>
              <a:rPr lang="zh-CN" dirty="0"/>
              <a:t>2. 口语增强三层fallback：精确→关键词→症状组合</a:t>
            </a:r>
          </a:p>
          <a:p>
            <a:r>
              <a:rPr lang="zh-CN" dirty="0"/>
              <a:t>3. 审核反馈闭环：医生确认/修改/拒绝，渐进式惩罚持续优化</a:t>
            </a:r>
          </a:p>
          <a:p>
            <a:r>
              <a:rPr lang="zh-CN" dirty="0"/>
              <a:t>• 过渡：接下来讲差分隐私的具体保护机制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关键词：Laplace/Gaussian噪声、临床阈值后处理、双重预算追踪、三级预警</a:t>
            </a:r>
          </a:p>
          <a:p>
            <a:r>
              <a:rPr lang="zh-CN" dirty="0"/>
              <a:t>• 时间：10:00-12:00</a:t>
            </a:r>
          </a:p>
          <a:p>
            <a:r>
              <a:rPr lang="zh-CN" dirty="0"/>
              <a:t>• 要点：</a:t>
            </a:r>
          </a:p>
          <a:p>
            <a:r>
              <a:rPr lang="zh-CN" dirty="0"/>
              <a:t>1. 两种噪声机制及公式</a:t>
            </a:r>
          </a:p>
          <a:p>
            <a:r>
              <a:rPr lang="zh-CN" dirty="0"/>
              <a:t>2. 临床阈值后处理四条规则：低分置零、上限裁剪、dpAnomaly标记、置信区间</a:t>
            </a:r>
          </a:p>
          <a:p>
            <a:r>
              <a:rPr lang="zh-CN" dirty="0"/>
              <a:t>3. 隐私预算双重追踪+三级预警（绿/黄/红）</a:t>
            </a:r>
          </a:p>
          <a:p>
            <a:r>
              <a:rPr lang="zh-CN" dirty="0"/>
              <a:t>4. 后处理定理保证：确定性变换不降低隐私保护强度</a:t>
            </a:r>
          </a:p>
          <a:p>
            <a:r>
              <a:rPr lang="zh-CN" dirty="0"/>
              <a:t>• 过渡：下面讲DeepFM模型的改进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关键词：Merged Embedding、连续特征旁路、LayerNorm、Focal Loss</a:t>
            </a:r>
          </a:p>
          <a:p>
            <a:r>
              <a:rPr lang="zh-CN" dirty="0"/>
              <a:t>• 时间：12:00-13:30</a:t>
            </a:r>
          </a:p>
          <a:p>
            <a:r>
              <a:rPr lang="zh-CN" dirty="0"/>
              <a:t>• 要点：</a:t>
            </a:r>
          </a:p>
          <a:p>
            <a:r>
              <a:rPr lang="zh-CN" dirty="0"/>
              <a:t>1. 合并嵌入使Opacus DP训练成为可能</a:t>
            </a:r>
          </a:p>
          <a:p>
            <a:r>
              <a:rPr lang="zh-CN" dirty="0"/>
              <a:t>2. 连续特征旁路保留GFR/肝功能等关键临床指标的精度</a:t>
            </a:r>
          </a:p>
          <a:p>
            <a:r>
              <a:rPr lang="zh-CN" dirty="0"/>
              <a:t>3. LayerNorm+差异化Dropout+Focal Loss应对训练挑战</a:t>
            </a:r>
          </a:p>
          <a:p>
            <a:r>
              <a:rPr lang="zh-CN" dirty="0"/>
              <a:t>• 过渡：除了算法，系统实现还有几个关键点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关键词：RBAC三角色、审核反馈闭环、推荐解释、全字段中文翻译</a:t>
            </a:r>
          </a:p>
          <a:p>
            <a:r>
              <a:rPr lang="zh-CN" dirty="0"/>
              <a:t>• 时间：13:30-15:00</a:t>
            </a:r>
          </a:p>
          <a:p>
            <a:r>
              <a:rPr lang="zh-CN" dirty="0"/>
              <a:t>• 要点：</a:t>
            </a:r>
          </a:p>
          <a:p>
            <a:r>
              <a:rPr lang="zh-CN" dirty="0"/>
              <a:t>1. 管理员/医生/研究员三角色权限，前后端双重校验</a:t>
            </a:r>
          </a:p>
          <a:p>
            <a:r>
              <a:rPr lang="zh-CN" dirty="0"/>
              <a:t>2. 推荐解释生成：适应症匹配+安全性分析+推荐理由</a:t>
            </a:r>
          </a:p>
          <a:p>
            <a:r>
              <a:rPr lang="zh-CN" dirty="0"/>
              <a:t>3. 全字段英→中翻译管线</a:t>
            </a:r>
          </a:p>
          <a:p>
            <a:r>
              <a:rPr lang="zh-CN" dirty="0"/>
              <a:t>• 过渡：看下系统界面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关键词：推荐审核、隐私配置、统计仪表板、系统首页</a:t>
            </a:r>
          </a:p>
          <a:p>
            <a:r>
              <a:rPr lang="zh-CN" dirty="0"/>
              <a:t>• 时间：15:00-16:00</a:t>
            </a:r>
          </a:p>
          <a:p>
            <a:r>
              <a:rPr lang="zh-CN" dirty="0"/>
              <a:t>• 要点：</a:t>
            </a:r>
          </a:p>
          <a:p>
            <a:r>
              <a:rPr lang="zh-CN" dirty="0"/>
              <a:t>1. 推荐审核页面：安全级别标签（绿/黄/橙/紫）</a:t>
            </a:r>
          </a:p>
          <a:p>
            <a:r>
              <a:rPr lang="zh-CN" dirty="0"/>
              <a:t>2. 隐私配置页面：ε/δ参数+预算管理</a:t>
            </a:r>
          </a:p>
          <a:p>
            <a:r>
              <a:rPr lang="zh-CN" dirty="0"/>
              <a:t>3. 统计仪表板：趋势+Top10+分类+安全分层</a:t>
            </a:r>
          </a:p>
          <a:p>
            <a:r>
              <a:rPr lang="zh-CN" dirty="0"/>
              <a:t>• 过渡：最后看实验结果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关键词：ε=0.1下降~10%、DP开销~5ms、响应&lt;2s、92.5%路由覆盖、12/12测试通过</a:t>
            </a:r>
          </a:p>
          <a:p>
            <a:r>
              <a:rPr lang="zh-CN" dirty="0"/>
              <a:t>• 时间：16:00-18:00</a:t>
            </a:r>
          </a:p>
          <a:p>
            <a:r>
              <a:rPr lang="zh-CN" dirty="0"/>
              <a:t>• 要点：</a:t>
            </a:r>
          </a:p>
          <a:p>
            <a:r>
              <a:rPr lang="zh-CN" dirty="0"/>
              <a:t>1. KPI：ε=0.1准确率下降可控，性能开销小，响应快</a:t>
            </a:r>
          </a:p>
          <a:p>
            <a:r>
              <a:rPr lang="zh-CN" dirty="0"/>
              <a:t>2. 隐私预算vs准确率：ε越大精度越高，但隐私保护越弱</a:t>
            </a:r>
          </a:p>
          <a:p>
            <a:r>
              <a:rPr lang="zh-CN" dirty="0"/>
              <a:t>3. 安全数据覆盖：禁忌症95.3%、交互81.5%、总体97%</a:t>
            </a:r>
          </a:p>
          <a:p>
            <a:r>
              <a:rPr lang="zh-CN" dirty="0"/>
              <a:t>4. 核心发现：DP模型separation(0.85)高于基线(0.75)</a:t>
            </a:r>
          </a:p>
          <a:p>
            <a:r>
              <a:rPr lang="zh-CN" dirty="0"/>
              <a:t>• 过渡：总结一下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关键词：四层架构、DP+深度学习融合、口语增强+反馈闭环、未来三个方向</a:t>
            </a:r>
          </a:p>
          <a:p>
            <a:r>
              <a:rPr lang="zh-CN" dirty="0"/>
              <a:t>• 时间：18:00-19:30</a:t>
            </a:r>
          </a:p>
          <a:p>
            <a:r>
              <a:rPr lang="zh-CN" dirty="0"/>
              <a:t>• 要点：</a:t>
            </a:r>
          </a:p>
          <a:p>
            <a:r>
              <a:rPr lang="zh-CN" dirty="0"/>
              <a:t>1. 三项主要工作回顾</a:t>
            </a:r>
          </a:p>
          <a:p>
            <a:r>
              <a:rPr lang="zh-CN" dirty="0"/>
              <a:t>2. 未来方向：扩充罕见病、优化路由权重、安全性特征编码入模型</a:t>
            </a:r>
          </a:p>
          <a:p>
            <a:r>
              <a:rPr lang="zh-CN" dirty="0"/>
              <a:t>• 过渡：致谢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关键词：感谢</a:t>
            </a:r>
          </a:p>
          <a:p>
            <a:r>
              <a:rPr lang="zh-CN" dirty="0"/>
              <a:t>• 时间：19:30-20:00</a:t>
            </a:r>
          </a:p>
          <a:p>
            <a:r>
              <a:rPr lang="zh-CN" dirty="0"/>
              <a:t>• 要点：感谢导师、学院、家人</a:t>
            </a:r>
          </a:p>
          <a:p>
            <a:r>
              <a:rPr lang="zh-CN" dirty="0"/>
              <a:t>• 结束：谢谢各位老师，请批评指正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8.xml"/>
</Relationships>
</file>

<file path=ppt/slides/_rels/slide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9.xml"/>
</Relationships>
</file>

<file path=ppt/slides/_rels/slide1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f15e9c96b7813d6a.png"/>
  <Relationship Id="rId3" Type="http://schemas.openxmlformats.org/officeDocument/2006/relationships/image" Target="../media/image_c77de95fa65c0b68.png"/>
  <Relationship Id="rId4" Type="http://schemas.openxmlformats.org/officeDocument/2006/relationships/image" Target="../media/image_e063fe7abeb16af6.png"/>
  <Relationship Id="rId5" Type="http://schemas.openxmlformats.org/officeDocument/2006/relationships/image" Target="../media/image_282eda3b3d100410.png"/>
  <Relationship Id="rId6" Type="http://schemas.openxmlformats.org/officeDocument/2006/relationships/notesSlide" Target="../notesSlides/notesSlide10.xml"/>
</Relationships>
</file>

<file path=ppt/slides/_rels/slide1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1.xml"/>
</Relationships>
</file>

<file path=ppt/slides/_rels/slide1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2.xml"/>
</Relationships>
</file>

<file path=ppt/slides/_rels/slide1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3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0796B">
                  <a:alpha val="8000"/>
                </a:srgbClr>
              </a:gs>
              <a:gs pos="100000">
                <a:srgbClr val="00796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gradFill>
            <a:gsLst>
              <a:gs pos="0">
                <a:srgbClr val="00796B"/>
              </a:gs>
              <a:gs pos="100000">
                <a:srgbClr val="1565C0"/>
              </a:gs>
            </a:gsLst>
            <a:lin ang="0" scaled="1"/>
          </a:gra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762000" y="1143000"/>
            <a:ext cx="38100" cy="3810000"/>
          </a:xfrm>
          <a:prstGeom prst="roundRect">
            <a:avLst>
              <a:gd name="adj" fmla="val 50000"/>
            </a:avLst>
          </a:prstGeom>
          <a:solidFill>
            <a:srgbClr val="00796B">
              <a:alpha val="15000"/>
            </a:srgbClr>
          </a:solidFill>
          <a:ln>
            <a:noFill/>
          </a:ln>
        </p:spPr>
      </p:sp>
      <p:grpSp>
        <p:nvGrpSpPr>
          <p:cNvPr id="10" name="Group 10"/>
          <p:cNvGrpSpPr/>
          <p:nvPr/>
        </p:nvGrpSpPr>
        <p:grpSpPr>
          <a:xfrm>
            <a:off x="1102995" y="1564958"/>
            <a:ext cx="5393674" cy="1511617"/>
            <a:chOff x="1102995" y="1564958"/>
            <a:chExt cx="5393674" cy="1511617"/>
          </a:xfrm>
        </p:grpSpPr>
        <p:sp>
          <p:nvSpPr>
            <p:cNvPr id="6" name="TextBox 6"/>
            <p:cNvSpPr txBox="1"/>
            <p:nvPr/>
          </p:nvSpPr>
          <p:spPr>
            <a:xfrm>
              <a:off x="1102995" y="1564958"/>
              <a:ext cx="5321215" cy="640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1A1A2E"/>
                  </a:solidFill>
                  <a:latin typeface="Georgia"/>
                  <a:ea typeface="KaiTi"/>
                  <a:cs typeface="Georgia"/>
                </a:rPr>
                <a:t>差分隐私保护的AI驱动的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102995" y="2136458"/>
              <a:ext cx="5393674" cy="640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1A1A2E"/>
                  </a:solidFill>
                  <a:latin typeface="Georgia"/>
                  <a:ea typeface="KaiTi"/>
                  <a:cs typeface="Georgia"/>
                </a:rPr>
                <a:t>个性化医疗用药推荐系统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120140" y="2710815"/>
              <a:ext cx="162306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546E7A"/>
                  </a:solidFill>
                  <a:latin typeface="Georgia"/>
                  <a:ea typeface="KaiTi"/>
                  <a:cs typeface="Georgia"/>
                </a:rPr>
                <a:t>的设计与实现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1143000" y="3028950"/>
              <a:ext cx="1905000" cy="28575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0796B"/>
                </a:gs>
                <a:gs pos="100000">
                  <a:srgbClr val="1565C0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1143000" y="3333750"/>
            <a:ext cx="2095500" cy="342900"/>
            <a:chOff x="1143000" y="3333750"/>
            <a:chExt cx="2095500" cy="342900"/>
          </a:xfrm>
        </p:grpSpPr>
        <p:sp>
          <p:nvSpPr>
            <p:cNvPr id="11" name="Rectangle 11"/>
            <p:cNvSpPr/>
            <p:nvPr/>
          </p:nvSpPr>
          <p:spPr>
            <a:xfrm>
              <a:off x="1143000" y="3333750"/>
              <a:ext cx="2095500" cy="342900"/>
            </a:xfrm>
            <a:prstGeom prst="roundRect">
              <a:avLst>
                <a:gd name="adj" fmla="val 50000"/>
              </a:avLst>
            </a:prstGeom>
            <a:solidFill>
              <a:srgbClr val="00796B">
                <a:alpha val="10000"/>
              </a:srgbClr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439418" y="3432810"/>
              <a:ext cx="150266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0796B"/>
                  </a:solidFill>
                  <a:latin typeface="Arial"/>
                  <a:ea typeface="Microsoft YaHei"/>
                  <a:cs typeface="Arial"/>
                </a:rPr>
                <a:t>本科毕业设计答辩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125855" y="4045268"/>
            <a:ext cx="3346704" cy="922020"/>
            <a:chOff x="1125855" y="4045268"/>
            <a:chExt cx="3346704" cy="922020"/>
          </a:xfrm>
        </p:grpSpPr>
        <p:sp>
          <p:nvSpPr>
            <p:cNvPr id="14" name="TextBox 14"/>
            <p:cNvSpPr txBox="1"/>
            <p:nvPr/>
          </p:nvSpPr>
          <p:spPr>
            <a:xfrm>
              <a:off x="1125855" y="4045268"/>
              <a:ext cx="127644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46E7A"/>
                  </a:solidFill>
                  <a:latin typeface="Arial"/>
                  <a:ea typeface="Microsoft YaHei"/>
                  <a:cs typeface="Arial"/>
                </a:rPr>
                <a:t>学 生：晋修慧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125855" y="4369118"/>
              <a:ext cx="206511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46E7A"/>
                  </a:solidFill>
                  <a:latin typeface="Arial"/>
                  <a:ea typeface="Microsoft YaHei"/>
                  <a:cs typeface="Arial"/>
                </a:rPr>
                <a:t>指导教师：侯慧莹 讲师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125855" y="4692968"/>
              <a:ext cx="334670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46E7A"/>
                  </a:solidFill>
                  <a:latin typeface="Arial"/>
                  <a:ea typeface="Microsoft YaHei"/>
                  <a:cs typeface="Arial"/>
                </a:rPr>
                <a:t>院 系：人工智能与大数据 大数据2203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9525000" y="1238250"/>
            <a:ext cx="2381250" cy="3905250"/>
            <a:chOff x="9525000" y="1238250"/>
            <a:chExt cx="2381250" cy="3905250"/>
          </a:xfrm>
        </p:grpSpPr>
        <p:sp>
          <p:nvSpPr>
            <p:cNvPr id="18" name="Polygon 18"/>
            <p:cNvSpPr/>
            <p:nvPr/>
          </p:nvSpPr>
          <p:spPr>
            <a:xfrm>
              <a:off x="10001250" y="1238250"/>
              <a:ext cx="952500" cy="1047750"/>
            </a:xfrm>
            <a:custGeom>
              <a:avLst/>
              <a:gdLst/>
              <a:ahLst/>
              <a:cxnLst/>
              <a:rect l="l" t="t" r="r" b="b"/>
              <a:pathLst>
                <a:path w="952500" h="1047750">
                  <a:moveTo>
                    <a:pt x="0" y="285750"/>
                  </a:moveTo>
                  <a:lnTo>
                    <a:pt x="476250" y="0"/>
                  </a:lnTo>
                  <a:lnTo>
                    <a:pt x="952500" y="285750"/>
                  </a:lnTo>
                  <a:lnTo>
                    <a:pt x="952500" y="762000"/>
                  </a:lnTo>
                  <a:lnTo>
                    <a:pt x="476250" y="1047750"/>
                  </a:lnTo>
                  <a:lnTo>
                    <a:pt x="0" y="762000"/>
                  </a:lnTo>
                  <a:close/>
                </a:path>
              </a:pathLst>
            </a:custGeom>
            <a:noFill/>
            <a:ln w="14288">
              <a:solidFill>
                <a:srgbClr val="00796B">
                  <a:alpha val="20000"/>
                </a:srgbClr>
              </a:solidFill>
            </a:ln>
          </p:spPr>
        </p:sp>
        <p:sp>
          <p:nvSpPr>
            <p:cNvPr id="19" name="Polygon 19"/>
            <p:cNvSpPr/>
            <p:nvPr/>
          </p:nvSpPr>
          <p:spPr>
            <a:xfrm>
              <a:off x="9525000" y="2190750"/>
              <a:ext cx="952500" cy="1047750"/>
            </a:xfrm>
            <a:custGeom>
              <a:avLst/>
              <a:gdLst/>
              <a:ahLst/>
              <a:cxnLst/>
              <a:rect l="l" t="t" r="r" b="b"/>
              <a:pathLst>
                <a:path w="952500" h="1047750">
                  <a:moveTo>
                    <a:pt x="0" y="285750"/>
                  </a:moveTo>
                  <a:lnTo>
                    <a:pt x="476250" y="0"/>
                  </a:lnTo>
                  <a:lnTo>
                    <a:pt x="952500" y="285750"/>
                  </a:lnTo>
                  <a:lnTo>
                    <a:pt x="952500" y="762000"/>
                  </a:lnTo>
                  <a:lnTo>
                    <a:pt x="476250" y="1047750"/>
                  </a:lnTo>
                  <a:lnTo>
                    <a:pt x="0" y="762000"/>
                  </a:lnTo>
                  <a:close/>
                </a:path>
              </a:pathLst>
            </a:custGeom>
            <a:solidFill>
              <a:srgbClr val="00796B">
                <a:alpha val="6000"/>
              </a:srgbClr>
            </a:solidFill>
            <a:ln w="14288">
              <a:solidFill>
                <a:srgbClr val="00796B">
                  <a:alpha val="15000"/>
                </a:srgbClr>
              </a:solidFill>
            </a:ln>
          </p:spPr>
        </p:sp>
        <p:sp>
          <p:nvSpPr>
            <p:cNvPr id="20" name="Polygon 20"/>
            <p:cNvSpPr/>
            <p:nvPr/>
          </p:nvSpPr>
          <p:spPr>
            <a:xfrm>
              <a:off x="10477500" y="2190750"/>
              <a:ext cx="952500" cy="1047750"/>
            </a:xfrm>
            <a:custGeom>
              <a:avLst/>
              <a:gdLst/>
              <a:ahLst/>
              <a:cxnLst/>
              <a:rect l="l" t="t" r="r" b="b"/>
              <a:pathLst>
                <a:path w="952500" h="1047750">
                  <a:moveTo>
                    <a:pt x="0" y="285750"/>
                  </a:moveTo>
                  <a:lnTo>
                    <a:pt x="476250" y="0"/>
                  </a:lnTo>
                  <a:lnTo>
                    <a:pt x="952500" y="285750"/>
                  </a:lnTo>
                  <a:lnTo>
                    <a:pt x="952500" y="762000"/>
                  </a:lnTo>
                  <a:lnTo>
                    <a:pt x="476250" y="1047750"/>
                  </a:lnTo>
                  <a:lnTo>
                    <a:pt x="0" y="762000"/>
                  </a:lnTo>
                  <a:close/>
                </a:path>
              </a:pathLst>
            </a:custGeom>
            <a:noFill/>
            <a:ln w="14288">
              <a:solidFill>
                <a:srgbClr val="1565C0">
                  <a:alpha val="20000"/>
                </a:srgbClr>
              </a:solidFill>
            </a:ln>
          </p:spPr>
        </p:sp>
        <p:sp>
          <p:nvSpPr>
            <p:cNvPr id="21" name="Polygon 21"/>
            <p:cNvSpPr/>
            <p:nvPr/>
          </p:nvSpPr>
          <p:spPr>
            <a:xfrm>
              <a:off x="10001250" y="3143250"/>
              <a:ext cx="952500" cy="1047750"/>
            </a:xfrm>
            <a:custGeom>
              <a:avLst/>
              <a:gdLst/>
              <a:ahLst/>
              <a:cxnLst/>
              <a:rect l="l" t="t" r="r" b="b"/>
              <a:pathLst>
                <a:path w="952500" h="1047750">
                  <a:moveTo>
                    <a:pt x="0" y="285750"/>
                  </a:moveTo>
                  <a:lnTo>
                    <a:pt x="476250" y="0"/>
                  </a:lnTo>
                  <a:lnTo>
                    <a:pt x="952500" y="285750"/>
                  </a:lnTo>
                  <a:lnTo>
                    <a:pt x="952500" y="762000"/>
                  </a:lnTo>
                  <a:lnTo>
                    <a:pt x="476250" y="1047750"/>
                  </a:lnTo>
                  <a:lnTo>
                    <a:pt x="0" y="762000"/>
                  </a:lnTo>
                  <a:close/>
                </a:path>
              </a:pathLst>
            </a:custGeom>
            <a:solidFill>
              <a:srgbClr val="1565C0">
                <a:alpha val="6000"/>
              </a:srgbClr>
            </a:solidFill>
            <a:ln w="14288">
              <a:solidFill>
                <a:srgbClr val="1565C0">
                  <a:alpha val="15000"/>
                </a:srgbClr>
              </a:solidFill>
            </a:ln>
          </p:spPr>
        </p:sp>
        <p:sp>
          <p:nvSpPr>
            <p:cNvPr id="22" name="Polygon 22"/>
            <p:cNvSpPr/>
            <p:nvPr/>
          </p:nvSpPr>
          <p:spPr>
            <a:xfrm>
              <a:off x="10953750" y="3143250"/>
              <a:ext cx="952500" cy="1047750"/>
            </a:xfrm>
            <a:custGeom>
              <a:avLst/>
              <a:gdLst/>
              <a:ahLst/>
              <a:cxnLst/>
              <a:rect l="l" t="t" r="r" b="b"/>
              <a:pathLst>
                <a:path w="952500" h="1047750">
                  <a:moveTo>
                    <a:pt x="0" y="285750"/>
                  </a:moveTo>
                  <a:lnTo>
                    <a:pt x="476250" y="0"/>
                  </a:lnTo>
                  <a:lnTo>
                    <a:pt x="952500" y="285750"/>
                  </a:lnTo>
                  <a:lnTo>
                    <a:pt x="952500" y="762000"/>
                  </a:lnTo>
                  <a:lnTo>
                    <a:pt x="476250" y="1047750"/>
                  </a:lnTo>
                  <a:lnTo>
                    <a:pt x="0" y="762000"/>
                  </a:lnTo>
                  <a:close/>
                </a:path>
              </a:pathLst>
            </a:custGeom>
            <a:noFill/>
            <a:ln w="14288">
              <a:solidFill>
                <a:srgbClr val="00796B">
                  <a:alpha val="20000"/>
                </a:srgbClr>
              </a:solidFill>
            </a:ln>
          </p:spPr>
        </p:sp>
        <p:sp>
          <p:nvSpPr>
            <p:cNvPr id="23" name="Polygon 23"/>
            <p:cNvSpPr/>
            <p:nvPr/>
          </p:nvSpPr>
          <p:spPr>
            <a:xfrm>
              <a:off x="10001250" y="4095750"/>
              <a:ext cx="952500" cy="1047750"/>
            </a:xfrm>
            <a:custGeom>
              <a:avLst/>
              <a:gdLst/>
              <a:ahLst/>
              <a:cxnLst/>
              <a:rect l="l" t="t" r="r" b="b"/>
              <a:pathLst>
                <a:path w="952500" h="1047750">
                  <a:moveTo>
                    <a:pt x="0" y="285750"/>
                  </a:moveTo>
                  <a:lnTo>
                    <a:pt x="476250" y="0"/>
                  </a:lnTo>
                  <a:lnTo>
                    <a:pt x="952500" y="285750"/>
                  </a:lnTo>
                  <a:lnTo>
                    <a:pt x="952500" y="762000"/>
                  </a:lnTo>
                  <a:lnTo>
                    <a:pt x="476250" y="1047750"/>
                  </a:lnTo>
                  <a:lnTo>
                    <a:pt x="0" y="762000"/>
                  </a:lnTo>
                  <a:close/>
                </a:path>
              </a:pathLst>
            </a:custGeom>
            <a:noFill/>
            <a:ln w="14288">
              <a:solidFill>
                <a:srgbClr val="00796B">
                  <a:alpha val="15000"/>
                </a:srgbClr>
              </a:solidFill>
            </a:ln>
          </p:spPr>
        </p:sp>
      </p:grpSp>
      <p:sp>
        <p:nvSpPr>
          <p:cNvPr id="25" name="Rectangle 25"/>
          <p:cNvSpPr/>
          <p:nvPr/>
        </p:nvSpPr>
        <p:spPr>
          <a:xfrm>
            <a:off x="0" y="6286500"/>
            <a:ext cx="12192000" cy="571500"/>
          </a:xfrm>
          <a:prstGeom prst="rect">
            <a:avLst/>
          </a:prstGeom>
          <a:gradFill>
            <a:gsLst>
              <a:gs pos="0">
                <a:srgbClr val="00796B">
                  <a:alpha val="6000"/>
                </a:srgbClr>
              </a:gs>
              <a:gs pos="100000">
                <a:srgbClr val="1565C0">
                  <a:alpha val="6000"/>
                </a:srgbClr>
              </a:gs>
            </a:gsLst>
            <a:lin ang="0" scaled="1"/>
          </a:gra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1129665" y="6506528"/>
            <a:ext cx="75509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0A4AE"/>
                </a:solidFill>
                <a:latin typeface="Arial"/>
                <a:ea typeface="Microsoft YaHei"/>
                <a:cs typeface="Arial"/>
              </a:rPr>
              <a:t>2026年3月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5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3" grpId="0"/>
      <p:bldP spid="17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gradFill>
            <a:gsLst>
              <a:gs pos="0">
                <a:srgbClr val="00796B"/>
              </a:gs>
              <a:gs pos="100000">
                <a:srgbClr val="1565C0"/>
              </a:gs>
            </a:gsLst>
            <a:lin ang="0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29615" y="296228"/>
            <a:ext cx="2802112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1A1A2E"/>
                </a:solidFill>
                <a:latin typeface="Georgia"/>
                <a:ea typeface="KaiTi"/>
                <a:cs typeface="Georgia"/>
              </a:rPr>
              <a:t>研究背景与痛点</a:t>
            </a:r>
          </a:p>
        </p:txBody>
      </p:sp>
      <p:sp>
        <p:nvSpPr>
          <p:cNvPr id="5" name="Rectangle 5"/>
          <p:cNvSpPr/>
          <p:nvPr/>
        </p:nvSpPr>
        <p:spPr>
          <a:xfrm>
            <a:off x="762000" y="685800"/>
            <a:ext cx="1143000" cy="28575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0796B"/>
              </a:gs>
              <a:gs pos="100000">
                <a:srgbClr val="1565C0"/>
              </a:gs>
            </a:gsLst>
            <a:lin ang="0" scaled="1"/>
          </a:gradFill>
          <a:ln>
            <a:noFill/>
          </a:ln>
        </p:spPr>
      </p:sp>
      <p:grpSp>
        <p:nvGrpSpPr>
          <p:cNvPr id="21" name="Group 21"/>
          <p:cNvGrpSpPr/>
          <p:nvPr/>
        </p:nvGrpSpPr>
        <p:grpSpPr>
          <a:xfrm>
            <a:off x="762000" y="1238250"/>
            <a:ext cx="4000500" cy="4095750"/>
            <a:chOff x="762000" y="1238250"/>
            <a:chExt cx="4000500" cy="4095750"/>
          </a:xfrm>
        </p:grpSpPr>
        <p:sp>
          <p:nvSpPr>
            <p:cNvPr id="6" name="Rectangle 6"/>
            <p:cNvSpPr/>
            <p:nvPr/>
          </p:nvSpPr>
          <p:spPr>
            <a:xfrm>
              <a:off x="762000" y="1238250"/>
              <a:ext cx="4000500" cy="1238250"/>
            </a:xfrm>
            <a:prstGeom prst="roundRect">
              <a:avLst>
                <a:gd name="adj" fmla="val 7692"/>
              </a:avLst>
            </a:prstGeom>
            <a:solidFill>
              <a:srgbClr val="F5F7FA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762000" y="1238250"/>
              <a:ext cx="38100" cy="1238250"/>
            </a:xfrm>
            <a:prstGeom prst="roundRect">
              <a:avLst>
                <a:gd name="adj" fmla="val 50000"/>
              </a:avLst>
            </a:prstGeom>
            <a:solidFill>
              <a:srgbClr val="00796B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98220" y="1293495"/>
              <a:ext cx="1414824" cy="792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900" b="1" dirty="0">
                  <a:solidFill>
                    <a:srgbClr val="00796B"/>
                  </a:solidFill>
                  <a:latin typeface="Arial"/>
                  <a:ea typeface="Microsoft YaHei"/>
                  <a:cs typeface="Arial"/>
                </a:rPr>
                <a:t>30%+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31558" y="1862614"/>
              <a:ext cx="1335881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46E7A"/>
                  </a:solidFill>
                  <a:latin typeface="Arial"/>
                  <a:ea typeface="Microsoft YaHei"/>
                  <a:cs typeface="Arial"/>
                </a:rPr>
                <a:t>医疗数据年增长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34415" y="2220278"/>
              <a:ext cx="277934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0A4AE"/>
                  </a:solidFill>
                  <a:latin typeface="Arial"/>
                  <a:ea typeface="Microsoft YaHei"/>
                  <a:cs typeface="Arial"/>
                </a:rPr>
                <a:t>互联网医院2700+，电子病历普及率85%+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762000" y="2667000"/>
              <a:ext cx="4000500" cy="1238250"/>
            </a:xfrm>
            <a:prstGeom prst="roundRect">
              <a:avLst>
                <a:gd name="adj" fmla="val 7692"/>
              </a:avLst>
            </a:prstGeom>
            <a:solidFill>
              <a:srgbClr val="F5F7FA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762000" y="2667000"/>
              <a:ext cx="38100" cy="1238250"/>
            </a:xfrm>
            <a:prstGeom prst="roundRect">
              <a:avLst>
                <a:gd name="adj" fmla="val 50000"/>
              </a:avLst>
            </a:prstGeom>
            <a:solidFill>
              <a:srgbClr val="C6282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98220" y="2722245"/>
              <a:ext cx="1414824" cy="792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900" b="1" dirty="0">
                  <a:solidFill>
                    <a:srgbClr val="C62828"/>
                  </a:solidFill>
                  <a:latin typeface="Arial"/>
                  <a:ea typeface="Microsoft YaHei"/>
                  <a:cs typeface="Arial"/>
                </a:rPr>
                <a:t>700+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31558" y="3291364"/>
              <a:ext cx="1745552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46E7A"/>
                  </a:solidFill>
                  <a:latin typeface="Arial"/>
                  <a:ea typeface="Microsoft YaHei"/>
                  <a:cs typeface="Arial"/>
                </a:rPr>
                <a:t>2022年医疗数据泄露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34415" y="3649028"/>
              <a:ext cx="121515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0A4AE"/>
                  </a:solidFill>
                  <a:latin typeface="Arial"/>
                  <a:ea typeface="Microsoft YaHei"/>
                  <a:cs typeface="Arial"/>
                </a:rPr>
                <a:t>影响5000万+患者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762000" y="4095750"/>
              <a:ext cx="4000500" cy="1238250"/>
            </a:xfrm>
            <a:prstGeom prst="roundRect">
              <a:avLst>
                <a:gd name="adj" fmla="val 7692"/>
              </a:avLst>
            </a:prstGeom>
            <a:solidFill>
              <a:srgbClr val="F5F7FA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62000" y="4095750"/>
              <a:ext cx="38100" cy="1238250"/>
            </a:xfrm>
            <a:prstGeom prst="roundRect">
              <a:avLst>
                <a:gd name="adj" fmla="val 50000"/>
              </a:avLst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98220" y="4150995"/>
              <a:ext cx="1414824" cy="792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900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85%+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031558" y="4720114"/>
              <a:ext cx="1335881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46E7A"/>
                  </a:solidFill>
                  <a:latin typeface="Arial"/>
                  <a:ea typeface="Microsoft YaHei"/>
                  <a:cs typeface="Arial"/>
                </a:rPr>
                <a:t>电子病历普及率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34415" y="5077778"/>
              <a:ext cx="202025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0A4AE"/>
                  </a:solidFill>
                  <a:latin typeface="Arial"/>
                  <a:ea typeface="Microsoft YaHei"/>
                  <a:cs typeface="Arial"/>
                </a:rPr>
                <a:t>数据规模与隐私风险矛盾突出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5313045" y="1345882"/>
            <a:ext cx="6116955" cy="4511993"/>
            <a:chOff x="5313045" y="1345882"/>
            <a:chExt cx="6116955" cy="4511993"/>
          </a:xfrm>
        </p:grpSpPr>
        <p:sp>
          <p:nvSpPr>
            <p:cNvPr id="22" name="TextBox 22"/>
            <p:cNvSpPr txBox="1"/>
            <p:nvPr/>
          </p:nvSpPr>
          <p:spPr>
            <a:xfrm>
              <a:off x="5313045" y="1345882"/>
              <a:ext cx="156010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A1A2E"/>
                  </a:solidFill>
                  <a:latin typeface="Georgia"/>
                  <a:ea typeface="KaiTi"/>
                  <a:cs typeface="Georgia"/>
                </a:rPr>
                <a:t>三大核心痛点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0" y="1762125"/>
              <a:ext cx="6096000" cy="1238250"/>
            </a:xfrm>
            <a:prstGeom prst="roundRect">
              <a:avLst>
                <a:gd name="adj" fmla="val 7692"/>
              </a:avLst>
            </a:prstGeom>
            <a:solidFill>
              <a:srgbClr val="FFFFFF"/>
            </a:solidFill>
            <a:ln w="14288">
              <a:solidFill>
                <a:srgbClr val="C62828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5334000" y="1762125"/>
              <a:ext cx="38100" cy="1238250"/>
            </a:xfrm>
            <a:prstGeom prst="roundRect">
              <a:avLst>
                <a:gd name="adj" fmla="val 50000"/>
              </a:avLst>
            </a:prstGeom>
            <a:solidFill>
              <a:srgbClr val="C62828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5602605" y="1968818"/>
              <a:ext cx="169049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62828"/>
                  </a:solidFill>
                  <a:latin typeface="Arial"/>
                  <a:ea typeface="Microsoft YaHei"/>
                  <a:cs typeface="Arial"/>
                </a:rPr>
                <a:t>传统隐私保护失效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604510" y="2289810"/>
              <a:ext cx="409651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46E7A"/>
                  </a:solidFill>
                  <a:latin typeface="Arial"/>
                  <a:ea typeface="Microsoft YaHei"/>
                  <a:cs typeface="Arial"/>
                </a:rPr>
                <a:t>K-匿名、L-多样性无法抵御关联攻击和背景知识推断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605462" y="2640806"/>
              <a:ext cx="213991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C62828"/>
                  </a:solidFill>
                  <a:latin typeface="Arial"/>
                  <a:ea typeface="Microsoft YaHei"/>
                  <a:cs typeface="Arial"/>
                </a:rPr>
                <a:t>→ 缺乏数学可证明的安全保障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0" y="3190875"/>
              <a:ext cx="6096000" cy="1238250"/>
            </a:xfrm>
            <a:prstGeom prst="roundRect">
              <a:avLst>
                <a:gd name="adj" fmla="val 7692"/>
              </a:avLst>
            </a:prstGeom>
            <a:solidFill>
              <a:srgbClr val="FFFFFF"/>
            </a:solidFill>
            <a:ln w="14288">
              <a:solidFill>
                <a:srgbClr val="FF8F00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5334000" y="3190875"/>
              <a:ext cx="38100" cy="1238250"/>
            </a:xfrm>
            <a:prstGeom prst="roundRect">
              <a:avLst>
                <a:gd name="adj" fmla="val 50000"/>
              </a:avLst>
            </a:prstGeom>
            <a:solidFill>
              <a:srgbClr val="FF8F00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5602605" y="3397568"/>
              <a:ext cx="313967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8F00"/>
                  </a:solidFill>
                  <a:latin typeface="Arial"/>
                  <a:ea typeface="Microsoft YaHei"/>
                  <a:cs typeface="Arial"/>
                </a:rPr>
                <a:t>差分隐私与推荐系统融合研究匮乏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5604510" y="3718560"/>
              <a:ext cx="372846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46E7A"/>
                  </a:solidFill>
                  <a:latin typeface="Arial"/>
                  <a:ea typeface="Microsoft YaHei"/>
                  <a:cs typeface="Arial"/>
                </a:rPr>
                <a:t>ε-差分隐私有数学证明，但与推荐系统结合极少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5605462" y="4069556"/>
              <a:ext cx="296144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FF8F00"/>
                  </a:solidFill>
                  <a:latin typeface="Arial"/>
                  <a:ea typeface="Microsoft YaHei"/>
                  <a:cs typeface="Arial"/>
                </a:rPr>
                <a:t>→ 噪声对推荐精度的影响缺乏系统性研究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334000" y="4619625"/>
              <a:ext cx="6096000" cy="1238250"/>
            </a:xfrm>
            <a:prstGeom prst="roundRect">
              <a:avLst>
                <a:gd name="adj" fmla="val 7692"/>
              </a:avLst>
            </a:prstGeom>
            <a:solidFill>
              <a:srgbClr val="FFFFFF"/>
            </a:solidFill>
            <a:ln w="14288">
              <a:solidFill>
                <a:srgbClr val="00796B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5334000" y="4619625"/>
              <a:ext cx="38100" cy="1238250"/>
            </a:xfrm>
            <a:prstGeom prst="roundRect">
              <a:avLst>
                <a:gd name="adj" fmla="val 50000"/>
              </a:avLst>
            </a:prstGeom>
            <a:solidFill>
              <a:srgbClr val="00796B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5602605" y="4826318"/>
              <a:ext cx="210454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0796B"/>
                  </a:solidFill>
                  <a:latin typeface="Arial"/>
                  <a:ea typeface="Microsoft YaHei"/>
                  <a:cs typeface="Arial"/>
                </a:rPr>
                <a:t>安全性与可解释性不足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5604510" y="5147310"/>
              <a:ext cx="336042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46E7A"/>
                  </a:solidFill>
                  <a:latin typeface="Arial"/>
                  <a:ea typeface="Microsoft YaHei"/>
                  <a:cs typeface="Arial"/>
                </a:rPr>
                <a:t>医疗推荐缺乏安全约束，隐私与精度难兼顾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5605462" y="5498306"/>
              <a:ext cx="230421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00796B"/>
                  </a:solidFill>
                  <a:latin typeface="Arial"/>
                  <a:ea typeface="Microsoft YaHei"/>
                  <a:cs typeface="Arial"/>
                </a:rPr>
                <a:t>→ 医生难以信任和采纳推荐结果</a:t>
              </a:r>
            </a:p>
          </p:txBody>
        </p:sp>
      </p:grpSp>
      <p:sp>
        <p:nvSpPr>
          <p:cNvPr id="39" name="TextBox 39"/>
          <p:cNvSpPr txBox="1"/>
          <p:nvPr/>
        </p:nvSpPr>
        <p:spPr>
          <a:xfrm>
            <a:off x="11273980" y="6522720"/>
            <a:ext cx="16744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0A4AE"/>
                </a:solidFill>
                <a:latin typeface="Arial"/>
                <a:ea typeface="Microsoft YaHei"/>
                <a:cs typeface="Arial"/>
              </a:rPr>
              <a:t>02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3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gradFill>
            <a:gsLst>
              <a:gs pos="0">
                <a:srgbClr val="00796B"/>
              </a:gs>
              <a:gs pos="100000">
                <a:srgbClr val="1565C0"/>
              </a:gs>
            </a:gsLst>
            <a:lin ang="0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29615" y="296228"/>
            <a:ext cx="4366308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1A1A2E"/>
                </a:solidFill>
                <a:latin typeface="Georgia"/>
                <a:ea typeface="KaiTi"/>
                <a:cs typeface="Georgia"/>
              </a:rPr>
              <a:t>研究目标：四层推荐架构</a:t>
            </a:r>
          </a:p>
        </p:txBody>
      </p:sp>
      <p:sp>
        <p:nvSpPr>
          <p:cNvPr id="5" name="Rectangle 5"/>
          <p:cNvSpPr/>
          <p:nvPr/>
        </p:nvSpPr>
        <p:spPr>
          <a:xfrm>
            <a:off x="762000" y="685800"/>
            <a:ext cx="1524000" cy="28575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0796B"/>
              </a:gs>
              <a:gs pos="100000">
                <a:srgbClr val="1565C0"/>
              </a:gs>
            </a:gsLst>
            <a:lin ang="0" scaled="1"/>
          </a:gra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744855" y="806768"/>
            <a:ext cx="476631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核心目标：在差分隐私保护下兼顾临床安全与推荐精度</a:t>
            </a:r>
          </a:p>
        </p:txBody>
      </p:sp>
      <p:sp>
        <p:nvSpPr>
          <p:cNvPr id="7" name="Rectangle 7"/>
          <p:cNvSpPr/>
          <p:nvPr/>
        </p:nvSpPr>
        <p:spPr>
          <a:xfrm>
            <a:off x="4667250" y="1238250"/>
            <a:ext cx="2857500" cy="66675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0796B"/>
              </a:gs>
              <a:gs pos="100000">
                <a:srgbClr val="00695C"/>
              </a:gs>
            </a:gsLst>
            <a:lin ang="2700000" scaled="1"/>
          </a:gra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5122331" y="1362075"/>
            <a:ext cx="1947339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安全 + 精准 + 隐私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622608" y="1629728"/>
            <a:ext cx="94678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B2DFDB"/>
                </a:solidFill>
                <a:latin typeface="Arial"/>
                <a:ea typeface="Microsoft YaHei"/>
                <a:cs typeface="Arial"/>
              </a:rPr>
              <a:t>四层递进架构</a:t>
            </a:r>
          </a:p>
        </p:txBody>
      </p:sp>
      <p:sp>
        <p:nvSpPr>
          <p:cNvPr id="10" name="Line 10"/>
          <p:cNvSpPr/>
          <p:nvPr/>
        </p:nvSpPr>
        <p:spPr>
          <a:xfrm>
            <a:off x="1905000" y="1905000"/>
            <a:ext cx="3048000" cy="476250"/>
          </a:xfrm>
          <a:custGeom>
            <a:avLst/>
            <a:gdLst/>
            <a:ahLst/>
            <a:cxnLst/>
            <a:rect l="l" t="t" r="r" b="b"/>
            <a:pathLst>
              <a:path w="3048000" h="476250">
                <a:moveTo>
                  <a:pt x="3048000" y="0"/>
                </a:moveTo>
                <a:lnTo>
                  <a:pt x="0" y="476250"/>
                </a:lnTo>
              </a:path>
            </a:pathLst>
          </a:custGeom>
          <a:noFill/>
          <a:ln w="14288">
            <a:solidFill>
              <a:srgbClr val="00796B">
                <a:alpha val="30000"/>
              </a:srgbClr>
            </a:solidFill>
          </a:ln>
        </p:spPr>
      </p:sp>
      <p:sp>
        <p:nvSpPr>
          <p:cNvPr id="11" name="Line 11"/>
          <p:cNvSpPr/>
          <p:nvPr/>
        </p:nvSpPr>
        <p:spPr>
          <a:xfrm>
            <a:off x="4381500" y="1905000"/>
            <a:ext cx="1143000" cy="476250"/>
          </a:xfrm>
          <a:custGeom>
            <a:avLst/>
            <a:gdLst/>
            <a:ahLst/>
            <a:cxnLst/>
            <a:rect l="l" t="t" r="r" b="b"/>
            <a:pathLst>
              <a:path w="1143000" h="476250">
                <a:moveTo>
                  <a:pt x="1143000" y="0"/>
                </a:moveTo>
                <a:lnTo>
                  <a:pt x="0" y="476250"/>
                </a:lnTo>
              </a:path>
            </a:pathLst>
          </a:custGeom>
          <a:noFill/>
          <a:ln w="14288">
            <a:solidFill>
              <a:srgbClr val="00796B">
                <a:alpha val="30000"/>
              </a:srgbClr>
            </a:solidFill>
          </a:ln>
        </p:spPr>
      </p:sp>
      <p:sp>
        <p:nvSpPr>
          <p:cNvPr id="12" name="Line 12"/>
          <p:cNvSpPr/>
          <p:nvPr/>
        </p:nvSpPr>
        <p:spPr>
          <a:xfrm>
            <a:off x="6667500" y="1905000"/>
            <a:ext cx="762000" cy="476250"/>
          </a:xfrm>
          <a:custGeom>
            <a:avLst/>
            <a:gdLst/>
            <a:ahLst/>
            <a:cxnLst/>
            <a:rect l="l" t="t" r="r" b="b"/>
            <a:pathLst>
              <a:path w="762000" h="476250">
                <a:moveTo>
                  <a:pt x="0" y="0"/>
                </a:moveTo>
                <a:lnTo>
                  <a:pt x="762000" y="476250"/>
                </a:lnTo>
              </a:path>
            </a:pathLst>
          </a:custGeom>
          <a:noFill/>
          <a:ln w="14288">
            <a:solidFill>
              <a:srgbClr val="1565C0">
                <a:alpha val="30000"/>
              </a:srgbClr>
            </a:solidFill>
          </a:ln>
        </p:spPr>
      </p:sp>
      <p:sp>
        <p:nvSpPr>
          <p:cNvPr id="13" name="Line 13"/>
          <p:cNvSpPr/>
          <p:nvPr/>
        </p:nvSpPr>
        <p:spPr>
          <a:xfrm>
            <a:off x="7239000" y="1905000"/>
            <a:ext cx="2857500" cy="476250"/>
          </a:xfrm>
          <a:custGeom>
            <a:avLst/>
            <a:gdLst/>
            <a:ahLst/>
            <a:cxnLst/>
            <a:rect l="l" t="t" r="r" b="b"/>
            <a:pathLst>
              <a:path w="2857500" h="476250">
                <a:moveTo>
                  <a:pt x="0" y="0"/>
                </a:moveTo>
                <a:lnTo>
                  <a:pt x="2857500" y="476250"/>
                </a:lnTo>
              </a:path>
            </a:pathLst>
          </a:custGeom>
          <a:noFill/>
          <a:ln w="14288">
            <a:solidFill>
              <a:srgbClr val="1565C0">
                <a:alpha val="30000"/>
              </a:srgbClr>
            </a:solidFill>
          </a:ln>
        </p:spPr>
      </p:sp>
      <p:sp>
        <p:nvSpPr>
          <p:cNvPr id="14" name="Rectangle 14"/>
          <p:cNvSpPr/>
          <p:nvPr/>
        </p:nvSpPr>
        <p:spPr>
          <a:xfrm>
            <a:off x="762000" y="2381250"/>
            <a:ext cx="2476500" cy="295275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9050">
            <a:solidFill>
              <a:srgbClr val="00796B"/>
            </a:solidFill>
          </a:ln>
        </p:spPr>
      </p:sp>
      <p:sp>
        <p:nvSpPr>
          <p:cNvPr id="15" name="Rectangle 15"/>
          <p:cNvSpPr/>
          <p:nvPr/>
        </p:nvSpPr>
        <p:spPr>
          <a:xfrm>
            <a:off x="762000" y="2381250"/>
            <a:ext cx="2476500" cy="381000"/>
          </a:xfrm>
          <a:prstGeom prst="roundRect">
            <a:avLst>
              <a:gd name="adj" fmla="val 25000"/>
            </a:avLst>
          </a:prstGeom>
          <a:solidFill>
            <a:srgbClr val="00796B"/>
          </a:solidFill>
          <a:ln>
            <a:noFill/>
          </a:ln>
        </p:spPr>
      </p:sp>
      <p:sp>
        <p:nvSpPr>
          <p:cNvPr id="16" name="Rectangle 16"/>
          <p:cNvSpPr/>
          <p:nvPr/>
        </p:nvSpPr>
        <p:spPr>
          <a:xfrm>
            <a:off x="762000" y="2667000"/>
            <a:ext cx="2476500" cy="95250"/>
          </a:xfrm>
          <a:prstGeom prst="rect">
            <a:avLst/>
          </a:prstGeom>
          <a:solidFill>
            <a:srgbClr val="00796B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993964" y="2526506"/>
            <a:ext cx="201257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第零层 KnowledgeRouter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38212" y="2907506"/>
            <a:ext cx="123622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00796B"/>
                </a:solidFill>
                <a:latin typeface="Arial"/>
                <a:ea typeface="Microsoft YaHei"/>
                <a:cs typeface="Arial"/>
              </a:rPr>
              <a:t>四级确定性路由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39165" y="3201352"/>
            <a:ext cx="158319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口语标准化 → 疾病归类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39165" y="3449002"/>
            <a:ext cx="171354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→ 适应症映射 → 药品召回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39165" y="3791902"/>
            <a:ext cx="195124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1A1A2E"/>
                </a:solidFill>
                <a:latin typeface="Arial"/>
                <a:ea typeface="Microsoft YaHei"/>
                <a:cs typeface="Arial"/>
              </a:rPr>
              <a:t>解决中文疾病名→英文适应症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39165" y="4039552"/>
            <a:ext cx="79343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1A1A2E"/>
                </a:solidFill>
                <a:latin typeface="Arial"/>
                <a:ea typeface="Microsoft YaHei"/>
                <a:cs typeface="Arial"/>
              </a:rPr>
              <a:t>的语义鸿沟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39165" y="4420552"/>
            <a:ext cx="132288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00796B"/>
                </a:solidFill>
                <a:latin typeface="Arial"/>
                <a:ea typeface="Microsoft YaHei"/>
                <a:cs typeface="Arial"/>
              </a:rPr>
              <a:t>路由覆盖率 92.5%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939165" y="4668202"/>
            <a:ext cx="17058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支持1295种中文疾病输入</a:t>
            </a:r>
          </a:p>
        </p:txBody>
      </p:sp>
      <p:sp>
        <p:nvSpPr>
          <p:cNvPr id="25" name="Rectangle 25"/>
          <p:cNvSpPr/>
          <p:nvPr/>
        </p:nvSpPr>
        <p:spPr>
          <a:xfrm>
            <a:off x="3429000" y="2381250"/>
            <a:ext cx="2476500" cy="295275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9050">
            <a:solidFill>
              <a:srgbClr val="C62828"/>
            </a:solidFill>
          </a:ln>
        </p:spPr>
      </p:sp>
      <p:sp>
        <p:nvSpPr>
          <p:cNvPr id="26" name="Rectangle 26"/>
          <p:cNvSpPr/>
          <p:nvPr/>
        </p:nvSpPr>
        <p:spPr>
          <a:xfrm>
            <a:off x="3429000" y="2381250"/>
            <a:ext cx="2476500" cy="381000"/>
          </a:xfrm>
          <a:prstGeom prst="roundRect">
            <a:avLst>
              <a:gd name="adj" fmla="val 25000"/>
            </a:avLst>
          </a:prstGeom>
          <a:solidFill>
            <a:srgbClr val="C62828"/>
          </a:solidFill>
          <a:ln>
            <a:noFill/>
          </a:ln>
        </p:spPr>
      </p:sp>
      <p:sp>
        <p:nvSpPr>
          <p:cNvPr id="27" name="Rectangle 27"/>
          <p:cNvSpPr/>
          <p:nvPr/>
        </p:nvSpPr>
        <p:spPr>
          <a:xfrm>
            <a:off x="3429000" y="2667000"/>
            <a:ext cx="2476500" cy="95250"/>
          </a:xfrm>
          <a:prstGeom prst="rect">
            <a:avLst/>
          </a:prstGeom>
          <a:solidFill>
            <a:srgbClr val="C62828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3842111" y="2526506"/>
            <a:ext cx="165027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第一层 SafetyFilter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3605212" y="2907506"/>
            <a:ext cx="184867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C62828"/>
                </a:solidFill>
                <a:latin typeface="Arial"/>
                <a:ea typeface="Microsoft YaHei"/>
                <a:cs typeface="Arial"/>
              </a:rPr>
              <a:t>12条硬排除 + 9类软标记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3606165" y="3201352"/>
            <a:ext cx="217360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硬排除：过敏冲突、绝对禁忌、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3606165" y="3449002"/>
            <a:ext cx="149118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致命交互、妊娠X级等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3606165" y="3791902"/>
            <a:ext cx="186690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软标记：相对禁忌标记待审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3606165" y="4039552"/>
            <a:ext cx="110013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医生做最终判断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3606165" y="4420552"/>
            <a:ext cx="213603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C62828"/>
                </a:solidFill>
                <a:latin typeface="Arial"/>
                <a:ea typeface="Microsoft YaHei"/>
                <a:cs typeface="Arial"/>
              </a:rPr>
              <a:t>确定性判断，不受DP噪声影响</a:t>
            </a:r>
          </a:p>
        </p:txBody>
      </p:sp>
      <p:sp>
        <p:nvSpPr>
          <p:cNvPr id="35" name="Rectangle 35"/>
          <p:cNvSpPr/>
          <p:nvPr/>
        </p:nvSpPr>
        <p:spPr>
          <a:xfrm>
            <a:off x="6286500" y="2381250"/>
            <a:ext cx="2476500" cy="295275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9050">
            <a:solidFill>
              <a:srgbClr val="FF8F00"/>
            </a:solidFill>
          </a:ln>
        </p:spPr>
      </p:sp>
      <p:sp>
        <p:nvSpPr>
          <p:cNvPr id="36" name="Rectangle 36"/>
          <p:cNvSpPr/>
          <p:nvPr/>
        </p:nvSpPr>
        <p:spPr>
          <a:xfrm>
            <a:off x="6286500" y="2381250"/>
            <a:ext cx="2476500" cy="381000"/>
          </a:xfrm>
          <a:prstGeom prst="roundRect">
            <a:avLst>
              <a:gd name="adj" fmla="val 25000"/>
            </a:avLst>
          </a:prstGeom>
          <a:solidFill>
            <a:srgbClr val="FF8F00"/>
          </a:solidFill>
          <a:ln>
            <a:noFill/>
          </a:ln>
        </p:spPr>
      </p:sp>
      <p:sp>
        <p:nvSpPr>
          <p:cNvPr id="37" name="Rectangle 37"/>
          <p:cNvSpPr/>
          <p:nvPr/>
        </p:nvSpPr>
        <p:spPr>
          <a:xfrm>
            <a:off x="6286500" y="2667000"/>
            <a:ext cx="2476500" cy="95250"/>
          </a:xfrm>
          <a:prstGeom prst="rect">
            <a:avLst/>
          </a:prstGeom>
          <a:solidFill>
            <a:srgbClr val="FF8F00"/>
          </a:solidFill>
          <a:ln>
            <a:noFill/>
          </a:ln>
        </p:spPr>
      </p:sp>
      <p:sp>
        <p:nvSpPr>
          <p:cNvPr id="38" name="TextBox 38"/>
          <p:cNvSpPr txBox="1"/>
          <p:nvPr/>
        </p:nvSpPr>
        <p:spPr>
          <a:xfrm>
            <a:off x="6755681" y="2526506"/>
            <a:ext cx="153813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第二层 RuleMarker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6462712" y="2907506"/>
            <a:ext cx="115859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FF8F00"/>
                </a:solidFill>
                <a:latin typeface="Arial"/>
                <a:ea typeface="Microsoft YaHei"/>
                <a:cs typeface="Arial"/>
              </a:rPr>
              <a:t>7种软标记规则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6463665" y="3201352"/>
            <a:ext cx="140684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相对禁忌、中等交互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6463665" y="3449002"/>
            <a:ext cx="189757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妊娠C/D、肾/肝功能警告等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6463665" y="3791902"/>
            <a:ext cx="99279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F8F00"/>
                </a:solidFill>
                <a:latin typeface="Arial"/>
                <a:ea typeface="Microsoft YaHei"/>
                <a:cs typeface="Arial"/>
              </a:rPr>
              <a:t>标记而非排除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6463665" y="4039552"/>
            <a:ext cx="156019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候选药物保留参与排序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6463665" y="4420552"/>
            <a:ext cx="179022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为DeepFM提供安全上下文</a:t>
            </a:r>
          </a:p>
        </p:txBody>
      </p:sp>
      <p:sp>
        <p:nvSpPr>
          <p:cNvPr id="45" name="Rectangle 45"/>
          <p:cNvSpPr/>
          <p:nvPr/>
        </p:nvSpPr>
        <p:spPr>
          <a:xfrm>
            <a:off x="8953500" y="2381250"/>
            <a:ext cx="2476500" cy="295275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9050">
            <a:solidFill>
              <a:srgbClr val="1565C0"/>
            </a:solidFill>
          </a:ln>
        </p:spPr>
      </p:sp>
      <p:sp>
        <p:nvSpPr>
          <p:cNvPr id="46" name="Rectangle 46"/>
          <p:cNvSpPr/>
          <p:nvPr/>
        </p:nvSpPr>
        <p:spPr>
          <a:xfrm>
            <a:off x="8953500" y="2381250"/>
            <a:ext cx="2476500" cy="381000"/>
          </a:xfrm>
          <a:prstGeom prst="roundRect">
            <a:avLst>
              <a:gd name="adj" fmla="val 25000"/>
            </a:avLst>
          </a:prstGeom>
          <a:solidFill>
            <a:srgbClr val="1565C0"/>
          </a:solidFill>
          <a:ln>
            <a:noFill/>
          </a:ln>
        </p:spPr>
      </p:sp>
      <p:sp>
        <p:nvSpPr>
          <p:cNvPr id="47" name="Rectangle 47"/>
          <p:cNvSpPr/>
          <p:nvPr/>
        </p:nvSpPr>
        <p:spPr>
          <a:xfrm>
            <a:off x="8953500" y="2667000"/>
            <a:ext cx="2476500" cy="95250"/>
          </a:xfrm>
          <a:prstGeom prst="rect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48" name="TextBox 48"/>
          <p:cNvSpPr txBox="1"/>
          <p:nvPr/>
        </p:nvSpPr>
        <p:spPr>
          <a:xfrm>
            <a:off x="9590889" y="2526506"/>
            <a:ext cx="120172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第三层 DeepFM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9129712" y="2907506"/>
            <a:ext cx="162439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个性化排序 + DP噪声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9130665" y="3201352"/>
            <a:ext cx="196657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FM特征交叉 + Deep高阶交互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9130665" y="3449002"/>
            <a:ext cx="107713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+ 连续特征旁路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9130665" y="3791902"/>
            <a:ext cx="149195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DP噪声仅在此层应用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9130665" y="4039552"/>
            <a:ext cx="171354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临床阈值后处理保障安全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9130665" y="4420552"/>
            <a:ext cx="171354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隐私保护与精度的平衡点</a:t>
            </a:r>
          </a:p>
        </p:txBody>
      </p:sp>
      <p:sp>
        <p:nvSpPr>
          <p:cNvPr id="55" name="Rectangle 55"/>
          <p:cNvSpPr/>
          <p:nvPr/>
        </p:nvSpPr>
        <p:spPr>
          <a:xfrm>
            <a:off x="762000" y="5715000"/>
            <a:ext cx="10668000" cy="533400"/>
          </a:xfrm>
          <a:prstGeom prst="roundRect">
            <a:avLst>
              <a:gd name="adj" fmla="val 14286"/>
            </a:avLst>
          </a:prstGeom>
          <a:solidFill>
            <a:srgbClr val="00796B">
              <a:alpha val="6000"/>
            </a:srgbClr>
          </a:solidFill>
          <a:ln>
            <a:noFill/>
          </a:ln>
        </p:spPr>
      </p:sp>
      <p:sp>
        <p:nvSpPr>
          <p:cNvPr id="56" name="TextBox 56"/>
          <p:cNvSpPr txBox="1"/>
          <p:nvPr/>
        </p:nvSpPr>
        <p:spPr>
          <a:xfrm>
            <a:off x="2846556" y="5871210"/>
            <a:ext cx="649888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00796B"/>
                </a:solidFill>
                <a:latin typeface="Arial"/>
                <a:ea typeface="Microsoft YaHei"/>
                <a:cs typeface="Arial"/>
              </a:rPr>
              <a:t>关键原则：噪声不影响安全过滤的确定性判断 — 隐私保护仅作用于个性化排序层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11273980" y="6522720"/>
            <a:ext cx="16744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0A4AE"/>
                </a:solidFill>
                <a:latin typeface="Arial"/>
                <a:ea typeface="Microsoft YaHei"/>
                <a:cs typeface="Arial"/>
              </a:rPr>
              <a:t>03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gradFill>
            <a:gsLst>
              <a:gs pos="0">
                <a:srgbClr val="00796B"/>
              </a:gs>
              <a:gs pos="100000">
                <a:srgbClr val="1565C0"/>
              </a:gs>
            </a:gsLst>
            <a:lin ang="0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29615" y="296228"/>
            <a:ext cx="2411063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1A1A2E"/>
                </a:solidFill>
                <a:latin typeface="Georgia"/>
                <a:ea typeface="KaiTi"/>
                <a:cs typeface="Georgia"/>
              </a:rPr>
              <a:t>系统总体架构</a:t>
            </a:r>
          </a:p>
        </p:txBody>
      </p:sp>
      <p:sp>
        <p:nvSpPr>
          <p:cNvPr id="5" name="Rectangle 5"/>
          <p:cNvSpPr/>
          <p:nvPr/>
        </p:nvSpPr>
        <p:spPr>
          <a:xfrm>
            <a:off x="762000" y="685800"/>
            <a:ext cx="1143000" cy="28575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0796B"/>
              </a:gs>
              <a:gs pos="100000">
                <a:srgbClr val="1565C0"/>
              </a:gs>
            </a:gsLst>
            <a:lin ang="0" scaled="1"/>
          </a:gra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762000" y="1047750"/>
            <a:ext cx="3048000" cy="161925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9050">
            <a:solidFill>
              <a:srgbClr val="00796B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762000" y="1047750"/>
            <a:ext cx="3048000" cy="381000"/>
          </a:xfrm>
          <a:prstGeom prst="roundRect">
            <a:avLst>
              <a:gd name="adj" fmla="val 25000"/>
            </a:avLst>
          </a:prstGeom>
          <a:solidFill>
            <a:srgbClr val="00796B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762000" y="1333500"/>
            <a:ext cx="3048000" cy="95250"/>
          </a:xfrm>
          <a:prstGeom prst="rect">
            <a:avLst/>
          </a:prstGeom>
          <a:solidFill>
            <a:srgbClr val="00796B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1685139" y="1193006"/>
            <a:ext cx="120172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前端服务 :5173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38212" y="1574006"/>
            <a:ext cx="234036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1A1A2E"/>
                </a:solidFill>
                <a:latin typeface="Arial"/>
                <a:ea typeface="Microsoft YaHei"/>
                <a:cs typeface="Arial"/>
              </a:rPr>
              <a:t>React 18 + TypeScript + Vite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39165" y="1839278"/>
            <a:ext cx="237296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推荐审核 / 隐私配置 / 统计仪表板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39165" y="2077402"/>
            <a:ext cx="212759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Auth Context + RBAC前端守卫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39165" y="2344102"/>
            <a:ext cx="172888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0A4AE"/>
                </a:solidFill>
                <a:latin typeface="Arial"/>
                <a:ea typeface="Microsoft YaHei"/>
                <a:cs typeface="Arial"/>
              </a:rPr>
              <a:t>Tailwind CSS 响应式界面</a:t>
            </a:r>
          </a:p>
        </p:txBody>
      </p:sp>
      <p:sp>
        <p:nvSpPr>
          <p:cNvPr id="14" name="Rectangle 14"/>
          <p:cNvSpPr/>
          <p:nvPr/>
        </p:nvSpPr>
        <p:spPr>
          <a:xfrm>
            <a:off x="4572000" y="1047750"/>
            <a:ext cx="3048000" cy="161925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9050">
            <a:solidFill>
              <a:srgbClr val="1565C0"/>
            </a:solidFill>
          </a:ln>
        </p:spPr>
      </p:sp>
      <p:sp>
        <p:nvSpPr>
          <p:cNvPr id="15" name="Rectangle 15"/>
          <p:cNvSpPr/>
          <p:nvPr/>
        </p:nvSpPr>
        <p:spPr>
          <a:xfrm>
            <a:off x="4572000" y="1047750"/>
            <a:ext cx="3048000" cy="381000"/>
          </a:xfrm>
          <a:prstGeom prst="roundRect">
            <a:avLst>
              <a:gd name="adj" fmla="val 25000"/>
            </a:avLst>
          </a:prstGeom>
          <a:solidFill>
            <a:srgbClr val="1565C0"/>
          </a:solidFill>
          <a:ln>
            <a:noFill/>
          </a:ln>
        </p:spPr>
      </p:sp>
      <p:sp>
        <p:nvSpPr>
          <p:cNvPr id="16" name="Rectangle 16"/>
          <p:cNvSpPr/>
          <p:nvPr/>
        </p:nvSpPr>
        <p:spPr>
          <a:xfrm>
            <a:off x="4572000" y="1333500"/>
            <a:ext cx="3048000" cy="95250"/>
          </a:xfrm>
          <a:prstGeom prst="rect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5473574" y="1193006"/>
            <a:ext cx="124485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后端服务 :8080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748212" y="1574006"/>
            <a:ext cx="217646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1A1A2E"/>
                </a:solidFill>
                <a:latin typeface="Arial"/>
                <a:ea typeface="Microsoft YaHei"/>
                <a:cs typeface="Arial"/>
              </a:rPr>
              <a:t>Spring Boot 3.2 + MyBatis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749165" y="1839278"/>
            <a:ext cx="211993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JWT认证 + RBAC + RESTful API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749165" y="2077402"/>
            <a:ext cx="173655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代理模型服务 + 数据转发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749165" y="2344102"/>
            <a:ext cx="201258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0A4AE"/>
                </a:solidFill>
                <a:latin typeface="Arial"/>
                <a:ea typeface="Microsoft YaHei"/>
                <a:cs typeface="Arial"/>
              </a:rPr>
              <a:t>启动时加载1807种药物至模型</a:t>
            </a:r>
          </a:p>
        </p:txBody>
      </p:sp>
      <p:sp>
        <p:nvSpPr>
          <p:cNvPr id="22" name="Rectangle 22"/>
          <p:cNvSpPr/>
          <p:nvPr/>
        </p:nvSpPr>
        <p:spPr>
          <a:xfrm>
            <a:off x="8382000" y="1047750"/>
            <a:ext cx="3048000" cy="161925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9050">
            <a:solidFill>
              <a:srgbClr val="FF8F00"/>
            </a:solidFill>
          </a:ln>
        </p:spPr>
      </p:sp>
      <p:sp>
        <p:nvSpPr>
          <p:cNvPr id="23" name="Rectangle 23"/>
          <p:cNvSpPr/>
          <p:nvPr/>
        </p:nvSpPr>
        <p:spPr>
          <a:xfrm>
            <a:off x="8382000" y="1047750"/>
            <a:ext cx="3048000" cy="381000"/>
          </a:xfrm>
          <a:prstGeom prst="roundRect">
            <a:avLst>
              <a:gd name="adj" fmla="val 25000"/>
            </a:avLst>
          </a:prstGeom>
          <a:solidFill>
            <a:srgbClr val="FF8F00"/>
          </a:solidFill>
          <a:ln>
            <a:noFill/>
          </a:ln>
        </p:spPr>
      </p:sp>
      <p:sp>
        <p:nvSpPr>
          <p:cNvPr id="24" name="Rectangle 24"/>
          <p:cNvSpPr/>
          <p:nvPr/>
        </p:nvSpPr>
        <p:spPr>
          <a:xfrm>
            <a:off x="8382000" y="1333500"/>
            <a:ext cx="3048000" cy="95250"/>
          </a:xfrm>
          <a:prstGeom prst="rect">
            <a:avLst/>
          </a:prstGeom>
          <a:solidFill>
            <a:srgbClr val="FF8F00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9305139" y="1193006"/>
            <a:ext cx="120172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模型服务 :8001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8558212" y="1574006"/>
            <a:ext cx="216784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1A1A2E"/>
                </a:solidFill>
                <a:latin typeface="Arial"/>
                <a:ea typeface="Microsoft YaHei"/>
                <a:cs typeface="Arial"/>
              </a:rPr>
              <a:t>FastAPI + PyTorch DeepFM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559165" y="1839278"/>
            <a:ext cx="190523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四层推荐架构 + DP噪声注入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8559165" y="2077402"/>
            <a:ext cx="204325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隐私预算追踪 + 中文翻译管线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8559165" y="2344102"/>
            <a:ext cx="221961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0A4AE"/>
                </a:solidFill>
                <a:latin typeface="Arial"/>
                <a:ea typeface="Microsoft YaHei"/>
                <a:cs typeface="Arial"/>
              </a:rPr>
              <a:t>口语增强 + 疾病映射 + 审核反馈</a:t>
            </a:r>
          </a:p>
        </p:txBody>
      </p:sp>
      <p:sp>
        <p:nvSpPr>
          <p:cNvPr id="30" name="Line 30"/>
          <p:cNvSpPr/>
          <p:nvPr/>
        </p:nvSpPr>
        <p:spPr>
          <a:xfrm>
            <a:off x="3810000" y="1857375"/>
            <a:ext cx="762000" cy="1"/>
          </a:xfrm>
          <a:prstGeom prst="line">
            <a:avLst/>
          </a:prstGeom>
          <a:noFill/>
          <a:ln w="19050">
            <a:solidFill>
              <a:srgbClr val="546E7A"/>
            </a:solidFill>
            <a:tailEnd type="triangle" w="lg" len="lg"/>
          </a:ln>
        </p:spPr>
      </p:sp>
      <p:sp>
        <p:nvSpPr>
          <p:cNvPr id="31" name="Line 31"/>
          <p:cNvSpPr/>
          <p:nvPr/>
        </p:nvSpPr>
        <p:spPr>
          <a:xfrm flipH="1">
            <a:off x="3810000" y="2047875"/>
            <a:ext cx="762000" cy="1"/>
          </a:xfrm>
          <a:prstGeom prst="line">
            <a:avLst/>
          </a:prstGeom>
          <a:noFill/>
          <a:ln w="19050">
            <a:solidFill>
              <a:srgbClr val="546E7A"/>
            </a:solidFill>
            <a:tailEnd type="triangle" w="lg" len="lg"/>
          </a:ln>
        </p:spPr>
      </p:sp>
      <p:sp>
        <p:nvSpPr>
          <p:cNvPr id="32" name="Line 32"/>
          <p:cNvSpPr/>
          <p:nvPr/>
        </p:nvSpPr>
        <p:spPr>
          <a:xfrm>
            <a:off x="7620000" y="1857375"/>
            <a:ext cx="762000" cy="1"/>
          </a:xfrm>
          <a:prstGeom prst="line">
            <a:avLst/>
          </a:prstGeom>
          <a:noFill/>
          <a:ln w="19050">
            <a:solidFill>
              <a:srgbClr val="546E7A"/>
            </a:solidFill>
            <a:tailEnd type="triangle" w="lg" len="lg"/>
          </a:ln>
        </p:spPr>
      </p:sp>
      <p:sp>
        <p:nvSpPr>
          <p:cNvPr id="33" name="Line 33"/>
          <p:cNvSpPr/>
          <p:nvPr/>
        </p:nvSpPr>
        <p:spPr>
          <a:xfrm flipH="1">
            <a:off x="7620000" y="2047875"/>
            <a:ext cx="762000" cy="1"/>
          </a:xfrm>
          <a:prstGeom prst="line">
            <a:avLst/>
          </a:prstGeom>
          <a:noFill/>
          <a:ln w="19050">
            <a:solidFill>
              <a:srgbClr val="546E7A"/>
            </a:solidFill>
            <a:tailEnd type="triangle" w="lg" len="lg"/>
          </a:ln>
        </p:spPr>
      </p:sp>
      <p:sp>
        <p:nvSpPr>
          <p:cNvPr id="34" name="TextBox 34"/>
          <p:cNvSpPr txBox="1"/>
          <p:nvPr/>
        </p:nvSpPr>
        <p:spPr>
          <a:xfrm>
            <a:off x="4071938" y="1747838"/>
            <a:ext cx="238125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请求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4071938" y="2109788"/>
            <a:ext cx="238125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响应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7586186" y="1747838"/>
            <a:ext cx="829628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/model/predict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7772400" y="2109788"/>
            <a:ext cx="4572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推荐结果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742950" y="2981325"/>
            <a:ext cx="728186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A1A2E"/>
                </a:solidFill>
                <a:latin typeface="Georgia"/>
                <a:ea typeface="KaiTi"/>
                <a:cs typeface="Georgia"/>
              </a:rPr>
              <a:t>数据流</a:t>
            </a:r>
          </a:p>
        </p:txBody>
      </p:sp>
      <p:sp>
        <p:nvSpPr>
          <p:cNvPr id="39" name="Rectangle 39"/>
          <p:cNvSpPr/>
          <p:nvPr/>
        </p:nvSpPr>
        <p:spPr>
          <a:xfrm>
            <a:off x="762000" y="3333750"/>
            <a:ext cx="10668000" cy="457200"/>
          </a:xfrm>
          <a:prstGeom prst="roundRect">
            <a:avLst>
              <a:gd name="adj" fmla="val 16667"/>
            </a:avLst>
          </a:prstGeom>
          <a:solidFill>
            <a:srgbClr val="F5F7FA"/>
          </a:solidFill>
          <a:ln>
            <a:noFill/>
          </a:ln>
        </p:spPr>
      </p:sp>
      <p:sp>
        <p:nvSpPr>
          <p:cNvPr id="40" name="TextBox 40"/>
          <p:cNvSpPr txBox="1"/>
          <p:nvPr/>
        </p:nvSpPr>
        <p:spPr>
          <a:xfrm>
            <a:off x="938212" y="3498056"/>
            <a:ext cx="694586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前端请求 → 后端认证/CRUD → 模型服务(/model/predict) → 四层架构 + DP噪声 → 返回推荐结果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742950" y="4029075"/>
            <a:ext cx="728186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A1A2E"/>
                </a:solidFill>
                <a:latin typeface="Georgia"/>
                <a:ea typeface="KaiTi"/>
                <a:cs typeface="Georgia"/>
              </a:rPr>
              <a:t>数据库</a:t>
            </a:r>
          </a:p>
        </p:txBody>
      </p:sp>
      <p:sp>
        <p:nvSpPr>
          <p:cNvPr id="42" name="Rectangle 42"/>
          <p:cNvSpPr/>
          <p:nvPr/>
        </p:nvSpPr>
        <p:spPr>
          <a:xfrm>
            <a:off x="762000" y="4381500"/>
            <a:ext cx="10668000" cy="457200"/>
          </a:xfrm>
          <a:prstGeom prst="roundRect">
            <a:avLst>
              <a:gd name="adj" fmla="val 16667"/>
            </a:avLst>
          </a:prstGeom>
          <a:solidFill>
            <a:srgbClr val="F5F7FA"/>
          </a:solidFill>
          <a:ln>
            <a:noFill/>
          </a:ln>
        </p:spPr>
      </p:sp>
      <p:sp>
        <p:nvSpPr>
          <p:cNvPr id="43" name="TextBox 43"/>
          <p:cNvSpPr txBox="1"/>
          <p:nvPr/>
        </p:nvSpPr>
        <p:spPr>
          <a:xfrm>
            <a:off x="939165" y="4553902"/>
            <a:ext cx="70142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1565C0"/>
                </a:solidFill>
                <a:latin typeface="Consolas"/>
                <a:ea typeface="Microsoft YaHei"/>
                <a:cs typeface="Consolas"/>
              </a:rPr>
              <a:t>sys_user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987868" y="4561999"/>
            <a:ext cx="70115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0A4AE"/>
                </a:solidFill>
                <a:latin typeface="Arial"/>
                <a:ea typeface="Microsoft YaHei"/>
                <a:cs typeface="Arial"/>
              </a:rPr>
              <a:t>用户/RBAC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3129915" y="4553902"/>
            <a:ext cx="57873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1565C0"/>
                </a:solidFill>
                <a:latin typeface="Consolas"/>
                <a:ea typeface="Microsoft YaHei"/>
                <a:cs typeface="Consolas"/>
              </a:rPr>
              <a:t>patient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3988118" y="4561999"/>
            <a:ext cx="59436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0A4AE"/>
                </a:solidFill>
                <a:latin typeface="Arial"/>
                <a:ea typeface="Microsoft YaHei"/>
                <a:cs typeface="Arial"/>
              </a:rPr>
              <a:t>患者档案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5034915" y="4553902"/>
            <a:ext cx="36404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1565C0"/>
                </a:solidFill>
                <a:latin typeface="Consolas"/>
                <a:ea typeface="Microsoft YaHei"/>
                <a:cs typeface="Consolas"/>
              </a:rPr>
              <a:t>drug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5702618" y="4561999"/>
            <a:ext cx="74387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0A4AE"/>
                </a:solidFill>
                <a:latin typeface="Arial"/>
                <a:ea typeface="Microsoft YaHei"/>
                <a:cs typeface="Arial"/>
              </a:rPr>
              <a:t>药物(1807)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6749415" y="4553902"/>
            <a:ext cx="123048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1565C0"/>
                </a:solidFill>
                <a:latin typeface="Consolas"/>
                <a:ea typeface="Microsoft YaHei"/>
                <a:cs typeface="Consolas"/>
              </a:rPr>
              <a:t>recommendation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8179118" y="4561999"/>
            <a:ext cx="59436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0A4AE"/>
                </a:solidFill>
                <a:latin typeface="Arial"/>
                <a:ea typeface="Microsoft YaHei"/>
                <a:cs typeface="Arial"/>
              </a:rPr>
              <a:t>推荐记录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9225915" y="4553902"/>
            <a:ext cx="113080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1565C0"/>
                </a:solidFill>
                <a:latin typeface="Consolas"/>
                <a:ea typeface="Microsoft YaHei"/>
                <a:cs typeface="Consolas"/>
              </a:rPr>
              <a:t>privacy_config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10750868" y="4561999"/>
            <a:ext cx="58012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0A4AE"/>
                </a:solidFill>
                <a:latin typeface="Arial"/>
                <a:ea typeface="Microsoft YaHei"/>
                <a:cs typeface="Arial"/>
              </a:rPr>
              <a:t>+ ledger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11273980" y="6522720"/>
            <a:ext cx="16744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0A4AE"/>
                </a:solidFill>
                <a:latin typeface="Arial"/>
                <a:ea typeface="Microsoft YaHei"/>
                <a:cs typeface="Arial"/>
              </a:rPr>
              <a:t>04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gradFill>
            <a:gsLst>
              <a:gs pos="0">
                <a:srgbClr val="00796B"/>
              </a:gs>
              <a:gs pos="100000">
                <a:srgbClr val="1565C0"/>
              </a:gs>
            </a:gsLst>
            <a:lin ang="0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29615" y="296228"/>
            <a:ext cx="3193161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1A1A2E"/>
                </a:solidFill>
                <a:latin typeface="Georgia"/>
                <a:ea typeface="KaiTi"/>
                <a:cs typeface="Georgia"/>
              </a:rPr>
              <a:t>三层推荐安全架构</a:t>
            </a:r>
          </a:p>
        </p:txBody>
      </p:sp>
      <p:sp>
        <p:nvSpPr>
          <p:cNvPr id="5" name="Rectangle 5"/>
          <p:cNvSpPr/>
          <p:nvPr/>
        </p:nvSpPr>
        <p:spPr>
          <a:xfrm>
            <a:off x="762000" y="685800"/>
            <a:ext cx="1333500" cy="28575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0796B"/>
              </a:gs>
              <a:gs pos="100000">
                <a:srgbClr val="1565C0"/>
              </a:gs>
            </a:gsLst>
            <a:lin ang="0" scaled="1"/>
          </a:gra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762000" y="1047750"/>
            <a:ext cx="3238500" cy="409575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9050">
            <a:solidFill>
              <a:srgbClr val="C62828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762000" y="1047750"/>
            <a:ext cx="3238500" cy="419100"/>
          </a:xfrm>
          <a:prstGeom prst="roundRect">
            <a:avLst>
              <a:gd name="adj" fmla="val 22727"/>
            </a:avLst>
          </a:prstGeom>
          <a:solidFill>
            <a:srgbClr val="C62828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762000" y="1371600"/>
            <a:ext cx="3238500" cy="95250"/>
          </a:xfrm>
          <a:prstGeom prst="rect">
            <a:avLst/>
          </a:prstGeom>
          <a:solidFill>
            <a:srgbClr val="C62828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1348330" y="1195864"/>
            <a:ext cx="2065839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7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SafetyFilter 安全过滤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37260" y="1680210"/>
            <a:ext cx="129103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C62828"/>
                </a:solidFill>
                <a:latin typeface="Arial"/>
                <a:ea typeface="Microsoft YaHei"/>
                <a:cs typeface="Arial"/>
              </a:rPr>
              <a:t>12条硬排除规则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39165" y="1963102"/>
            <a:ext cx="156019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过敏冲突、绝对禁忌症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39165" y="2210752"/>
            <a:ext cx="133783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致命交互、妊娠X级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39165" y="2458402"/>
            <a:ext cx="162153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儿科禁忌、哺乳期L5 等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37260" y="2823210"/>
            <a:ext cx="86778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FF8F00"/>
                </a:solidFill>
                <a:latin typeface="Arial"/>
                <a:ea typeface="Microsoft YaHei"/>
                <a:cs typeface="Arial"/>
              </a:rPr>
              <a:t>9类软标记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39165" y="3106102"/>
            <a:ext cx="172888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相对禁忌改为"标记待审"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39165" y="3353752"/>
            <a:ext cx="202025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医生做最终判断，不自动排除</a:t>
            </a:r>
          </a:p>
        </p:txBody>
      </p:sp>
      <p:sp>
        <p:nvSpPr>
          <p:cNvPr id="17" name="Rectangle 17"/>
          <p:cNvSpPr/>
          <p:nvPr/>
        </p:nvSpPr>
        <p:spPr>
          <a:xfrm>
            <a:off x="952500" y="3810000"/>
            <a:ext cx="2857500" cy="400050"/>
          </a:xfrm>
          <a:prstGeom prst="roundRect">
            <a:avLst>
              <a:gd name="adj" fmla="val 14286"/>
            </a:avLst>
          </a:prstGeom>
          <a:solidFill>
            <a:srgbClr val="C62828">
              <a:alpha val="8000"/>
            </a:srgbClr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1313233" y="3953828"/>
            <a:ext cx="213603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C62828"/>
                </a:solidFill>
                <a:latin typeface="Arial"/>
                <a:ea typeface="Microsoft YaHei"/>
                <a:cs typeface="Arial"/>
              </a:rPr>
              <a:t>确定性判断，不受DP噪声影响</a:t>
            </a:r>
          </a:p>
        </p:txBody>
      </p:sp>
      <p:sp>
        <p:nvSpPr>
          <p:cNvPr id="19" name="Line 19"/>
          <p:cNvSpPr/>
          <p:nvPr/>
        </p:nvSpPr>
        <p:spPr>
          <a:xfrm>
            <a:off x="4000500" y="3048000"/>
            <a:ext cx="476250" cy="1"/>
          </a:xfrm>
          <a:prstGeom prst="line">
            <a:avLst/>
          </a:prstGeom>
          <a:noFill/>
          <a:ln w="28575">
            <a:solidFill>
              <a:srgbClr val="546E7A"/>
            </a:solidFill>
            <a:tailEnd type="triangle" w="lg" len="lg"/>
          </a:ln>
        </p:spPr>
      </p:sp>
      <p:sp>
        <p:nvSpPr>
          <p:cNvPr id="20" name="Rectangle 20"/>
          <p:cNvSpPr/>
          <p:nvPr/>
        </p:nvSpPr>
        <p:spPr>
          <a:xfrm>
            <a:off x="4572000" y="1047750"/>
            <a:ext cx="3238500" cy="409575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9050">
            <a:solidFill>
              <a:srgbClr val="FF8F00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4572000" y="1047750"/>
            <a:ext cx="3238500" cy="419100"/>
          </a:xfrm>
          <a:prstGeom prst="roundRect">
            <a:avLst>
              <a:gd name="adj" fmla="val 22727"/>
            </a:avLst>
          </a:prstGeom>
          <a:solidFill>
            <a:srgbClr val="FF8F00"/>
          </a:solidFill>
          <a:ln>
            <a:noFill/>
          </a:ln>
        </p:spPr>
      </p:sp>
      <p:sp>
        <p:nvSpPr>
          <p:cNvPr id="22" name="Rectangle 22"/>
          <p:cNvSpPr/>
          <p:nvPr/>
        </p:nvSpPr>
        <p:spPr>
          <a:xfrm>
            <a:off x="4572000" y="1371600"/>
            <a:ext cx="3238500" cy="95250"/>
          </a:xfrm>
          <a:prstGeom prst="rect">
            <a:avLst/>
          </a:prstGeom>
          <a:solidFill>
            <a:srgbClr val="FF8F00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5221876" y="1195864"/>
            <a:ext cx="1938748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7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RuleMarker 规则标记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4747260" y="1680210"/>
            <a:ext cx="123583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FF8F00"/>
                </a:solidFill>
                <a:latin typeface="Arial"/>
                <a:ea typeface="Microsoft YaHei"/>
                <a:cs typeface="Arial"/>
              </a:rPr>
              <a:t>7种软标记规则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4749165" y="1963102"/>
            <a:ext cx="156019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相对禁忌症、中等交互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4749165" y="2210752"/>
            <a:ext cx="174421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妊娠C/D、肾/肝功能警告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4749165" y="2458402"/>
            <a:ext cx="171354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生育力警告、数据未验证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4747260" y="2823210"/>
            <a:ext cx="113461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FF8F00"/>
                </a:solidFill>
                <a:latin typeface="Arial"/>
                <a:ea typeface="Microsoft YaHei"/>
                <a:cs typeface="Arial"/>
              </a:rPr>
              <a:t>标记而非排除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4749165" y="3106102"/>
            <a:ext cx="156019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候选药物保留参与排序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4749165" y="3353752"/>
            <a:ext cx="179022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为DeepFM提供安全上下文</a:t>
            </a:r>
          </a:p>
        </p:txBody>
      </p:sp>
      <p:sp>
        <p:nvSpPr>
          <p:cNvPr id="31" name="Rectangle 31"/>
          <p:cNvSpPr/>
          <p:nvPr/>
        </p:nvSpPr>
        <p:spPr>
          <a:xfrm>
            <a:off x="4762500" y="3810000"/>
            <a:ext cx="2857500" cy="400050"/>
          </a:xfrm>
          <a:prstGeom prst="roundRect">
            <a:avLst>
              <a:gd name="adj" fmla="val 14286"/>
            </a:avLst>
          </a:prstGeom>
          <a:solidFill>
            <a:srgbClr val="FF8F00">
              <a:alpha val="8000"/>
            </a:srgbClr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5211794" y="3953828"/>
            <a:ext cx="195891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8F00"/>
                </a:solidFill>
                <a:latin typeface="Arial"/>
                <a:ea typeface="Microsoft YaHei"/>
                <a:cs typeface="Arial"/>
              </a:rPr>
              <a:t>标记待审，医生可覆盖判断</a:t>
            </a:r>
          </a:p>
        </p:txBody>
      </p:sp>
      <p:sp>
        <p:nvSpPr>
          <p:cNvPr id="33" name="Line 33"/>
          <p:cNvSpPr/>
          <p:nvPr/>
        </p:nvSpPr>
        <p:spPr>
          <a:xfrm>
            <a:off x="7810500" y="3048000"/>
            <a:ext cx="476250" cy="1"/>
          </a:xfrm>
          <a:prstGeom prst="line">
            <a:avLst/>
          </a:prstGeom>
          <a:noFill/>
          <a:ln w="28575">
            <a:solidFill>
              <a:srgbClr val="546E7A"/>
            </a:solidFill>
            <a:tailEnd type="triangle" w="lg" len="lg"/>
          </a:ln>
        </p:spPr>
      </p:sp>
      <p:sp>
        <p:nvSpPr>
          <p:cNvPr id="34" name="Rectangle 34"/>
          <p:cNvSpPr/>
          <p:nvPr/>
        </p:nvSpPr>
        <p:spPr>
          <a:xfrm>
            <a:off x="8382000" y="1047750"/>
            <a:ext cx="3048000" cy="409575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9050">
            <a:solidFill>
              <a:srgbClr val="1565C0"/>
            </a:solidFill>
          </a:ln>
        </p:spPr>
      </p:sp>
      <p:sp>
        <p:nvSpPr>
          <p:cNvPr id="35" name="Rectangle 35"/>
          <p:cNvSpPr/>
          <p:nvPr/>
        </p:nvSpPr>
        <p:spPr>
          <a:xfrm>
            <a:off x="8382000" y="1047750"/>
            <a:ext cx="3048000" cy="419100"/>
          </a:xfrm>
          <a:prstGeom prst="roundRect">
            <a:avLst>
              <a:gd name="adj" fmla="val 22727"/>
            </a:avLst>
          </a:prstGeom>
          <a:solidFill>
            <a:srgbClr val="1565C0"/>
          </a:solidFill>
          <a:ln>
            <a:noFill/>
          </a:ln>
        </p:spPr>
      </p:sp>
      <p:sp>
        <p:nvSpPr>
          <p:cNvPr id="36" name="Rectangle 36"/>
          <p:cNvSpPr/>
          <p:nvPr/>
        </p:nvSpPr>
        <p:spPr>
          <a:xfrm>
            <a:off x="8382000" y="1371600"/>
            <a:ext cx="3048000" cy="95250"/>
          </a:xfrm>
          <a:prstGeom prst="rect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37" name="TextBox 37"/>
          <p:cNvSpPr txBox="1"/>
          <p:nvPr/>
        </p:nvSpPr>
        <p:spPr>
          <a:xfrm>
            <a:off x="9322787" y="1195864"/>
            <a:ext cx="1166427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7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DeepFM 排序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8557260" y="1680210"/>
            <a:ext cx="95059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个性化评分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8559165" y="1963102"/>
            <a:ext cx="196657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FM特征交叉 + Deep高阶交互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8559165" y="2210752"/>
            <a:ext cx="169054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+ 连续特征旁路直通输出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8557260" y="2575560"/>
            <a:ext cx="133704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DP噪声仅在此层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8559165" y="2858452"/>
            <a:ext cx="191290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Laplace/Gaussian噪声注入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8559165" y="3106102"/>
            <a:ext cx="171354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临床阈值后处理保障安全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8559165" y="3353752"/>
            <a:ext cx="140684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隐私预算追踪与预警</a:t>
            </a:r>
          </a:p>
        </p:txBody>
      </p:sp>
      <p:sp>
        <p:nvSpPr>
          <p:cNvPr id="45" name="Rectangle 45"/>
          <p:cNvSpPr/>
          <p:nvPr/>
        </p:nvSpPr>
        <p:spPr>
          <a:xfrm>
            <a:off x="8572500" y="3810000"/>
            <a:ext cx="2667000" cy="400050"/>
          </a:xfrm>
          <a:prstGeom prst="roundRect">
            <a:avLst>
              <a:gd name="adj" fmla="val 14286"/>
            </a:avLst>
          </a:prstGeom>
          <a:solidFill>
            <a:srgbClr val="1565C0">
              <a:alpha val="8000"/>
            </a:srgbClr>
          </a:solidFill>
          <a:ln>
            <a:noFill/>
          </a:ln>
        </p:spPr>
      </p:sp>
      <p:sp>
        <p:nvSpPr>
          <p:cNvPr id="46" name="TextBox 46"/>
          <p:cNvSpPr txBox="1"/>
          <p:nvPr/>
        </p:nvSpPr>
        <p:spPr>
          <a:xfrm>
            <a:off x="9007054" y="3953828"/>
            <a:ext cx="179789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隐私保护与精度的平衡点</a:t>
            </a:r>
          </a:p>
        </p:txBody>
      </p:sp>
      <p:sp>
        <p:nvSpPr>
          <p:cNvPr id="47" name="Rectangle 47"/>
          <p:cNvSpPr/>
          <p:nvPr/>
        </p:nvSpPr>
        <p:spPr>
          <a:xfrm>
            <a:off x="762000" y="5524500"/>
            <a:ext cx="10668000" cy="476250"/>
          </a:xfrm>
          <a:prstGeom prst="roundRect">
            <a:avLst>
              <a:gd name="adj" fmla="val 16000"/>
            </a:avLst>
          </a:prstGeom>
          <a:solidFill>
            <a:srgbClr val="00796B">
              <a:alpha val="6000"/>
            </a:srgbClr>
          </a:solidFill>
          <a:ln>
            <a:noFill/>
          </a:ln>
        </p:spPr>
      </p:sp>
      <p:sp>
        <p:nvSpPr>
          <p:cNvPr id="48" name="TextBox 48"/>
          <p:cNvSpPr txBox="1"/>
          <p:nvPr/>
        </p:nvSpPr>
        <p:spPr>
          <a:xfrm>
            <a:off x="2851156" y="5680710"/>
            <a:ext cx="648968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00796B"/>
                </a:solidFill>
                <a:latin typeface="Arial"/>
                <a:ea typeface="Microsoft YaHei"/>
                <a:cs typeface="Arial"/>
              </a:rPr>
              <a:t>设计原则：前两层确定性安全判断不受DP噪声影响，噪声仅作用于个性化排序层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11273980" y="6522720"/>
            <a:ext cx="16744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0A4AE"/>
                </a:solidFill>
                <a:latin typeface="Arial"/>
                <a:ea typeface="Microsoft YaHei"/>
                <a:cs typeface="Arial"/>
              </a:rPr>
              <a:t>05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gradFill>
            <a:gsLst>
              <a:gs pos="0">
                <a:srgbClr val="00796B"/>
              </a:gs>
              <a:gs pos="100000">
                <a:srgbClr val="1565C0"/>
              </a:gs>
            </a:gsLst>
            <a:lin ang="0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29615" y="248602"/>
            <a:ext cx="4366308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1A1A2E"/>
                </a:solidFill>
                <a:latin typeface="Georgia"/>
                <a:ea typeface="KaiTi"/>
                <a:cs typeface="Georgia"/>
              </a:rPr>
              <a:t>推荐流程与患者口语增强</a:t>
            </a:r>
          </a:p>
        </p:txBody>
      </p:sp>
      <p:sp>
        <p:nvSpPr>
          <p:cNvPr id="5" name="Rectangle 5"/>
          <p:cNvSpPr/>
          <p:nvPr/>
        </p:nvSpPr>
        <p:spPr>
          <a:xfrm>
            <a:off x="762000" y="638175"/>
            <a:ext cx="1524000" cy="28575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0796B"/>
              </a:gs>
              <a:gs pos="100000">
                <a:srgbClr val="1565C0"/>
              </a:gs>
            </a:gsLst>
            <a:lin ang="0" scaled="1"/>
          </a:gra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744855" y="806768"/>
            <a:ext cx="118328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A1A2E"/>
                </a:solidFill>
                <a:latin typeface="Georgia"/>
                <a:ea typeface="KaiTi"/>
                <a:cs typeface="Georgia"/>
              </a:rPr>
              <a:t>推荐9步流程</a:t>
            </a:r>
          </a:p>
        </p:txBody>
      </p:sp>
      <p:sp>
        <p:nvSpPr>
          <p:cNvPr id="7" name="Rectangle 7"/>
          <p:cNvSpPr/>
          <p:nvPr/>
        </p:nvSpPr>
        <p:spPr>
          <a:xfrm>
            <a:off x="762000" y="1095375"/>
            <a:ext cx="1095375" cy="381000"/>
          </a:xfrm>
          <a:prstGeom prst="roundRect">
            <a:avLst>
              <a:gd name="adj" fmla="val 15000"/>
            </a:avLst>
          </a:prstGeom>
          <a:solidFill>
            <a:srgbClr val="00796B">
              <a:alpha val="8000"/>
            </a:srgbClr>
          </a:solidFill>
          <a:ln w="9525">
            <a:solidFill>
              <a:srgbClr val="00796B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947226" y="1237774"/>
            <a:ext cx="71539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1A1A2E"/>
                </a:solidFill>
                <a:latin typeface="Arial"/>
                <a:ea typeface="Microsoft YaHei"/>
                <a:cs typeface="Arial"/>
              </a:rPr>
              <a:t>1.患者信息</a:t>
            </a:r>
          </a:p>
        </p:txBody>
      </p:sp>
      <p:sp>
        <p:nvSpPr>
          <p:cNvPr id="9" name="Line 9"/>
          <p:cNvSpPr/>
          <p:nvPr/>
        </p:nvSpPr>
        <p:spPr>
          <a:xfrm>
            <a:off x="1857375" y="1285875"/>
            <a:ext cx="142875" cy="1"/>
          </a:xfrm>
          <a:prstGeom prst="line">
            <a:avLst/>
          </a:prstGeom>
          <a:noFill/>
          <a:ln w="14288">
            <a:solidFill>
              <a:srgbClr val="00796B"/>
            </a:solidFill>
            <a:tailEnd type="triangle" w="lg" len="lg"/>
          </a:ln>
        </p:spPr>
      </p:sp>
      <p:sp>
        <p:nvSpPr>
          <p:cNvPr id="10" name="Rectangle 10"/>
          <p:cNvSpPr/>
          <p:nvPr/>
        </p:nvSpPr>
        <p:spPr>
          <a:xfrm>
            <a:off x="2047875" y="1095375"/>
            <a:ext cx="1238250" cy="381000"/>
          </a:xfrm>
          <a:prstGeom prst="roundRect">
            <a:avLst>
              <a:gd name="adj" fmla="val 15000"/>
            </a:avLst>
          </a:prstGeom>
          <a:solidFill>
            <a:srgbClr val="00796B">
              <a:alpha val="8000"/>
            </a:srgbClr>
          </a:solidFill>
          <a:ln w="9525">
            <a:solidFill>
              <a:srgbClr val="00796B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2291501" y="1237774"/>
            <a:ext cx="75099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1A1A2E"/>
                </a:solidFill>
                <a:latin typeface="Arial"/>
                <a:ea typeface="Microsoft YaHei"/>
                <a:cs typeface="Arial"/>
              </a:rPr>
              <a:t>2.疾病映射</a:t>
            </a:r>
          </a:p>
        </p:txBody>
      </p:sp>
      <p:sp>
        <p:nvSpPr>
          <p:cNvPr id="12" name="Line 12"/>
          <p:cNvSpPr/>
          <p:nvPr/>
        </p:nvSpPr>
        <p:spPr>
          <a:xfrm>
            <a:off x="3286125" y="1285875"/>
            <a:ext cx="142875" cy="1"/>
          </a:xfrm>
          <a:prstGeom prst="line">
            <a:avLst/>
          </a:prstGeom>
          <a:noFill/>
          <a:ln w="14288">
            <a:solidFill>
              <a:srgbClr val="00796B"/>
            </a:solidFill>
            <a:tailEnd type="triangle" w="lg" len="lg"/>
          </a:ln>
        </p:spPr>
      </p:sp>
      <p:sp>
        <p:nvSpPr>
          <p:cNvPr id="13" name="Rectangle 13"/>
          <p:cNvSpPr/>
          <p:nvPr/>
        </p:nvSpPr>
        <p:spPr>
          <a:xfrm>
            <a:off x="3476625" y="1095375"/>
            <a:ext cx="1238250" cy="381000"/>
          </a:xfrm>
          <a:prstGeom prst="roundRect">
            <a:avLst>
              <a:gd name="adj" fmla="val 15000"/>
            </a:avLst>
          </a:prstGeom>
          <a:solidFill>
            <a:srgbClr val="C62828">
              <a:alpha val="6000"/>
            </a:srgbClr>
          </a:solidFill>
          <a:ln w="9525">
            <a:solidFill>
              <a:srgbClr val="C62828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3720251" y="1237774"/>
            <a:ext cx="75099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1A1A2E"/>
                </a:solidFill>
                <a:latin typeface="Arial"/>
                <a:ea typeface="Microsoft YaHei"/>
                <a:cs typeface="Arial"/>
              </a:rPr>
              <a:t>3.安全过滤</a:t>
            </a:r>
          </a:p>
        </p:txBody>
      </p:sp>
      <p:sp>
        <p:nvSpPr>
          <p:cNvPr id="15" name="Line 15"/>
          <p:cNvSpPr/>
          <p:nvPr/>
        </p:nvSpPr>
        <p:spPr>
          <a:xfrm>
            <a:off x="4714875" y="1285875"/>
            <a:ext cx="142875" cy="1"/>
          </a:xfrm>
          <a:prstGeom prst="line">
            <a:avLst/>
          </a:prstGeom>
          <a:noFill/>
          <a:ln w="14288">
            <a:solidFill>
              <a:srgbClr val="00796B"/>
            </a:solidFill>
            <a:tailEnd type="triangle" w="lg" len="lg"/>
          </a:ln>
        </p:spPr>
      </p:sp>
      <p:sp>
        <p:nvSpPr>
          <p:cNvPr id="16" name="Rectangle 16"/>
          <p:cNvSpPr/>
          <p:nvPr/>
        </p:nvSpPr>
        <p:spPr>
          <a:xfrm>
            <a:off x="4905375" y="1095375"/>
            <a:ext cx="1238250" cy="381000"/>
          </a:xfrm>
          <a:prstGeom prst="roundRect">
            <a:avLst>
              <a:gd name="adj" fmla="val 15000"/>
            </a:avLst>
          </a:prstGeom>
          <a:solidFill>
            <a:srgbClr val="FF8F00">
              <a:alpha val="6000"/>
            </a:srgbClr>
          </a:solidFill>
          <a:ln w="9525">
            <a:solidFill>
              <a:srgbClr val="FF8F00"/>
            </a:solidFill>
          </a:ln>
        </p:spPr>
      </p:sp>
      <p:sp>
        <p:nvSpPr>
          <p:cNvPr id="17" name="TextBox 17"/>
          <p:cNvSpPr txBox="1"/>
          <p:nvPr/>
        </p:nvSpPr>
        <p:spPr>
          <a:xfrm>
            <a:off x="5149001" y="1237774"/>
            <a:ext cx="75099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1A1A2E"/>
                </a:solidFill>
                <a:latin typeface="Arial"/>
                <a:ea typeface="Microsoft YaHei"/>
                <a:cs typeface="Arial"/>
              </a:rPr>
              <a:t>4.规则标记</a:t>
            </a:r>
          </a:p>
        </p:txBody>
      </p:sp>
      <p:sp>
        <p:nvSpPr>
          <p:cNvPr id="18" name="Line 18"/>
          <p:cNvSpPr/>
          <p:nvPr/>
        </p:nvSpPr>
        <p:spPr>
          <a:xfrm>
            <a:off x="6143625" y="1285875"/>
            <a:ext cx="142875" cy="1"/>
          </a:xfrm>
          <a:prstGeom prst="line">
            <a:avLst/>
          </a:prstGeom>
          <a:noFill/>
          <a:ln w="14288">
            <a:solidFill>
              <a:srgbClr val="00796B"/>
            </a:solidFill>
            <a:tailEnd type="triangle" w="lg" len="lg"/>
          </a:ln>
        </p:spPr>
      </p:sp>
      <p:sp>
        <p:nvSpPr>
          <p:cNvPr id="19" name="Rectangle 19"/>
          <p:cNvSpPr/>
          <p:nvPr/>
        </p:nvSpPr>
        <p:spPr>
          <a:xfrm>
            <a:off x="6334125" y="1095375"/>
            <a:ext cx="1238250" cy="381000"/>
          </a:xfrm>
          <a:prstGeom prst="roundRect">
            <a:avLst>
              <a:gd name="adj" fmla="val 15000"/>
            </a:avLst>
          </a:prstGeom>
          <a:solidFill>
            <a:srgbClr val="1565C0">
              <a:alpha val="6000"/>
            </a:srgbClr>
          </a:solidFill>
          <a:ln w="9525">
            <a:solidFill>
              <a:srgbClr val="1565C0"/>
            </a:solidFill>
          </a:ln>
        </p:spPr>
      </p:sp>
      <p:sp>
        <p:nvSpPr>
          <p:cNvPr id="20" name="TextBox 20"/>
          <p:cNvSpPr txBox="1"/>
          <p:nvPr/>
        </p:nvSpPr>
        <p:spPr>
          <a:xfrm>
            <a:off x="6495871" y="1237774"/>
            <a:ext cx="91475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1A1A2E"/>
                </a:solidFill>
                <a:latin typeface="Arial"/>
                <a:ea typeface="Microsoft YaHei"/>
                <a:cs typeface="Arial"/>
              </a:rPr>
              <a:t>5.DeepFM+DP</a:t>
            </a:r>
          </a:p>
        </p:txBody>
      </p:sp>
      <p:sp>
        <p:nvSpPr>
          <p:cNvPr id="21" name="Line 21"/>
          <p:cNvSpPr/>
          <p:nvPr/>
        </p:nvSpPr>
        <p:spPr>
          <a:xfrm>
            <a:off x="7572375" y="1285875"/>
            <a:ext cx="142875" cy="1"/>
          </a:xfrm>
          <a:prstGeom prst="line">
            <a:avLst/>
          </a:prstGeom>
          <a:noFill/>
          <a:ln w="14288">
            <a:solidFill>
              <a:srgbClr val="00796B"/>
            </a:solidFill>
            <a:tailEnd type="triangle" w="lg" len="lg"/>
          </a:ln>
        </p:spPr>
      </p:sp>
      <p:sp>
        <p:nvSpPr>
          <p:cNvPr id="22" name="Rectangle 22"/>
          <p:cNvSpPr/>
          <p:nvPr/>
        </p:nvSpPr>
        <p:spPr>
          <a:xfrm>
            <a:off x="7762875" y="1095375"/>
            <a:ext cx="1238250" cy="381000"/>
          </a:xfrm>
          <a:prstGeom prst="roundRect">
            <a:avLst>
              <a:gd name="adj" fmla="val 15000"/>
            </a:avLst>
          </a:prstGeom>
          <a:solidFill>
            <a:srgbClr val="00796B">
              <a:alpha val="8000"/>
            </a:srgbClr>
          </a:solidFill>
          <a:ln w="9525">
            <a:solidFill>
              <a:srgbClr val="00796B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8006501" y="1237774"/>
            <a:ext cx="75099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1A1A2E"/>
                </a:solidFill>
                <a:latin typeface="Arial"/>
                <a:ea typeface="Microsoft YaHei"/>
                <a:cs typeface="Arial"/>
              </a:rPr>
              <a:t>6.平衡选择</a:t>
            </a:r>
          </a:p>
        </p:txBody>
      </p:sp>
      <p:sp>
        <p:nvSpPr>
          <p:cNvPr id="24" name="Line 24"/>
          <p:cNvSpPr/>
          <p:nvPr/>
        </p:nvSpPr>
        <p:spPr>
          <a:xfrm>
            <a:off x="9001125" y="1285875"/>
            <a:ext cx="142875" cy="1"/>
          </a:xfrm>
          <a:prstGeom prst="line">
            <a:avLst/>
          </a:prstGeom>
          <a:noFill/>
          <a:ln w="14288">
            <a:solidFill>
              <a:srgbClr val="00796B"/>
            </a:solidFill>
            <a:tailEnd type="triangle" w="lg" len="lg"/>
          </a:ln>
        </p:spPr>
      </p:sp>
      <p:sp>
        <p:nvSpPr>
          <p:cNvPr id="25" name="Rectangle 25"/>
          <p:cNvSpPr/>
          <p:nvPr/>
        </p:nvSpPr>
        <p:spPr>
          <a:xfrm>
            <a:off x="9191625" y="1095375"/>
            <a:ext cx="1095375" cy="381000"/>
          </a:xfrm>
          <a:prstGeom prst="roundRect">
            <a:avLst>
              <a:gd name="adj" fmla="val 15000"/>
            </a:avLst>
          </a:prstGeom>
          <a:solidFill>
            <a:srgbClr val="00796B">
              <a:alpha val="8000"/>
            </a:srgbClr>
          </a:solidFill>
          <a:ln w="9525">
            <a:solidFill>
              <a:srgbClr val="00796B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9359051" y="1237774"/>
            <a:ext cx="75099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1A1A2E"/>
                </a:solidFill>
                <a:latin typeface="Arial"/>
                <a:ea typeface="Microsoft YaHei"/>
                <a:cs typeface="Arial"/>
              </a:rPr>
              <a:t>7.解释生成</a:t>
            </a:r>
          </a:p>
        </p:txBody>
      </p:sp>
      <p:sp>
        <p:nvSpPr>
          <p:cNvPr id="27" name="Line 27"/>
          <p:cNvSpPr/>
          <p:nvPr/>
        </p:nvSpPr>
        <p:spPr>
          <a:xfrm>
            <a:off x="10287000" y="1285875"/>
            <a:ext cx="142875" cy="1"/>
          </a:xfrm>
          <a:prstGeom prst="line">
            <a:avLst/>
          </a:prstGeom>
          <a:noFill/>
          <a:ln w="14288">
            <a:solidFill>
              <a:srgbClr val="00796B"/>
            </a:solidFill>
            <a:tailEnd type="triangle" w="lg" len="lg"/>
          </a:ln>
        </p:spPr>
      </p:sp>
      <p:sp>
        <p:nvSpPr>
          <p:cNvPr id="28" name="Rectangle 28"/>
          <p:cNvSpPr/>
          <p:nvPr/>
        </p:nvSpPr>
        <p:spPr>
          <a:xfrm>
            <a:off x="10477500" y="1095375"/>
            <a:ext cx="952500" cy="381000"/>
          </a:xfrm>
          <a:prstGeom prst="roundRect">
            <a:avLst>
              <a:gd name="adj" fmla="val 15000"/>
            </a:avLst>
          </a:prstGeom>
          <a:solidFill>
            <a:srgbClr val="C62828">
              <a:alpha val="6000"/>
            </a:srgbClr>
          </a:solidFill>
          <a:ln w="9525">
            <a:solidFill>
              <a:srgbClr val="C62828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10620970" y="1237774"/>
            <a:ext cx="66555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1A1A2E"/>
                </a:solidFill>
                <a:latin typeface="Arial"/>
                <a:ea typeface="Microsoft YaHei"/>
                <a:cs typeface="Arial"/>
              </a:rPr>
              <a:t>8.DDI检查</a:t>
            </a:r>
          </a:p>
        </p:txBody>
      </p:sp>
      <p:sp>
        <p:nvSpPr>
          <p:cNvPr id="30" name="Rectangle 30"/>
          <p:cNvSpPr/>
          <p:nvPr/>
        </p:nvSpPr>
        <p:spPr>
          <a:xfrm>
            <a:off x="762000" y="1619250"/>
            <a:ext cx="1238250" cy="381000"/>
          </a:xfrm>
          <a:prstGeom prst="roundRect">
            <a:avLst>
              <a:gd name="adj" fmla="val 15000"/>
            </a:avLst>
          </a:prstGeom>
          <a:solidFill>
            <a:srgbClr val="2E7D32">
              <a:alpha val="6000"/>
            </a:srgbClr>
          </a:solidFill>
          <a:ln w="9525">
            <a:solidFill>
              <a:srgbClr val="2E7D32"/>
            </a:solidFill>
          </a:ln>
        </p:spPr>
      </p:sp>
      <p:sp>
        <p:nvSpPr>
          <p:cNvPr id="31" name="TextBox 31"/>
          <p:cNvSpPr txBox="1"/>
          <p:nvPr/>
        </p:nvSpPr>
        <p:spPr>
          <a:xfrm>
            <a:off x="1005626" y="1761649"/>
            <a:ext cx="75099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1A1A2E"/>
                </a:solidFill>
                <a:latin typeface="Arial"/>
                <a:ea typeface="Microsoft YaHei"/>
                <a:cs typeface="Arial"/>
              </a:rPr>
              <a:t>9.质量保障</a:t>
            </a:r>
          </a:p>
        </p:txBody>
      </p:sp>
      <p:sp>
        <p:nvSpPr>
          <p:cNvPr id="32" name="Rectangle 32"/>
          <p:cNvSpPr/>
          <p:nvPr/>
        </p:nvSpPr>
        <p:spPr>
          <a:xfrm>
            <a:off x="0" y="2238375"/>
            <a:ext cx="12192000" cy="9525"/>
          </a:xfrm>
          <a:prstGeom prst="rect">
            <a:avLst/>
          </a:prstGeom>
          <a:solidFill>
            <a:srgbClr val="E0E0E0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742950" y="2457450"/>
            <a:ext cx="1418272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A1A2E"/>
                </a:solidFill>
                <a:latin typeface="Georgia"/>
                <a:ea typeface="KaiTi"/>
                <a:cs typeface="Georgia"/>
              </a:rPr>
              <a:t>患者口语增强</a:t>
            </a:r>
          </a:p>
        </p:txBody>
      </p:sp>
      <p:sp>
        <p:nvSpPr>
          <p:cNvPr id="34" name="Rectangle 34"/>
          <p:cNvSpPr/>
          <p:nvPr/>
        </p:nvSpPr>
        <p:spPr>
          <a:xfrm>
            <a:off x="762000" y="2809875"/>
            <a:ext cx="5334000" cy="1809750"/>
          </a:xfrm>
          <a:prstGeom prst="roundRect">
            <a:avLst>
              <a:gd name="adj" fmla="val 5263"/>
            </a:avLst>
          </a:prstGeom>
          <a:solidFill>
            <a:srgbClr val="F5F7FA"/>
          </a:solidFill>
          <a:ln w="9525">
            <a:solidFill>
              <a:srgbClr val="00796B"/>
            </a:solidFill>
          </a:ln>
        </p:spPr>
      </p:sp>
      <p:sp>
        <p:nvSpPr>
          <p:cNvPr id="35" name="TextBox 35"/>
          <p:cNvSpPr txBox="1"/>
          <p:nvPr/>
        </p:nvSpPr>
        <p:spPr>
          <a:xfrm>
            <a:off x="938212" y="2974181"/>
            <a:ext cx="290968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00796B"/>
                </a:solidFill>
                <a:latin typeface="Arial"/>
                <a:ea typeface="Microsoft YaHei"/>
                <a:cs typeface="Arial"/>
              </a:rPr>
              <a:t>PatientInputEnhancer 三层Fallback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938212" y="3288506"/>
            <a:ext cx="287107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精确匹配 → 关键词匹配 → 症状组合推理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939165" y="3582352"/>
            <a:ext cx="313972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0A4AE"/>
                </a:solidFill>
                <a:latin typeface="Arial"/>
                <a:ea typeface="Microsoft YaHei"/>
                <a:cs typeface="Arial"/>
              </a:rPr>
              <a:t>全部失败 → 降级为症状级推荐 + 低置信度标记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938212" y="3926681"/>
            <a:ext cx="218509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00796B"/>
                </a:solidFill>
                <a:latin typeface="Arial"/>
                <a:ea typeface="Microsoft YaHei"/>
                <a:cs typeface="Arial"/>
              </a:rPr>
              <a:t>KnowledgeRouter 四级路由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939165" y="4220528"/>
            <a:ext cx="331608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口语标准化 → 疾病归类 → 适应症映射 → 药品召回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939165" y="4458652"/>
            <a:ext cx="281001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0A4AE"/>
                </a:solidFill>
                <a:latin typeface="Arial"/>
                <a:ea typeface="Microsoft YaHei"/>
                <a:cs typeface="Arial"/>
              </a:rPr>
              <a:t>解决中文疾病名 → 英文适应症的语义鸿沟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6457950" y="2457450"/>
            <a:ext cx="1418272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A1A2E"/>
                </a:solidFill>
                <a:latin typeface="Georgia"/>
                <a:ea typeface="KaiTi"/>
                <a:cs typeface="Georgia"/>
              </a:rPr>
              <a:t>审核反馈闭环</a:t>
            </a:r>
          </a:p>
        </p:txBody>
      </p:sp>
      <p:sp>
        <p:nvSpPr>
          <p:cNvPr id="42" name="Rectangle 42"/>
          <p:cNvSpPr/>
          <p:nvPr/>
        </p:nvSpPr>
        <p:spPr>
          <a:xfrm>
            <a:off x="6477000" y="2809875"/>
            <a:ext cx="4953000" cy="1809750"/>
          </a:xfrm>
          <a:prstGeom prst="roundRect">
            <a:avLst>
              <a:gd name="adj" fmla="val 5263"/>
            </a:avLst>
          </a:prstGeom>
          <a:solidFill>
            <a:srgbClr val="F5F7FA"/>
          </a:solidFill>
          <a:ln w="9525">
            <a:solidFill>
              <a:srgbClr val="1565C0"/>
            </a:solidFill>
          </a:ln>
        </p:spPr>
      </p:sp>
      <p:sp>
        <p:nvSpPr>
          <p:cNvPr id="43" name="TextBox 43"/>
          <p:cNvSpPr txBox="1"/>
          <p:nvPr/>
        </p:nvSpPr>
        <p:spPr>
          <a:xfrm>
            <a:off x="6653212" y="2974181"/>
            <a:ext cx="236624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FeedbackLearner 渐进式惩罚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6653212" y="3288506"/>
            <a:ext cx="172092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医生确认 / 修改 / 拒绝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6653212" y="3574256"/>
            <a:ext cx="307645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惩罚系数：1次×0.7，2次×0.5，3次+×0.3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6654165" y="3868102"/>
            <a:ext cx="217360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0A4AE"/>
                </a:solidFill>
                <a:latin typeface="Arial"/>
                <a:ea typeface="Microsoft YaHei"/>
                <a:cs typeface="Arial"/>
              </a:rPr>
              <a:t>被反复拒绝的药物权重持续衰减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6653212" y="4212431"/>
            <a:ext cx="254739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2E7D32"/>
                </a:solidFill>
                <a:latin typeface="Arial"/>
                <a:ea typeface="Microsoft YaHei"/>
                <a:cs typeface="Arial"/>
              </a:rPr>
              <a:t>推荐 → 审核 → 惩罚 → 优化 → 推荐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6654165" y="4458652"/>
            <a:ext cx="156019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0A4AE"/>
                </a:solidFill>
                <a:latin typeface="Arial"/>
                <a:ea typeface="Microsoft YaHei"/>
                <a:cs typeface="Arial"/>
              </a:rPr>
              <a:t>闭环持续优化推荐权重</a:t>
            </a:r>
          </a:p>
        </p:txBody>
      </p:sp>
      <p:sp>
        <p:nvSpPr>
          <p:cNvPr id="49" name="Rectangle 49"/>
          <p:cNvSpPr/>
          <p:nvPr/>
        </p:nvSpPr>
        <p:spPr>
          <a:xfrm>
            <a:off x="762000" y="4953000"/>
            <a:ext cx="10668000" cy="476250"/>
          </a:xfrm>
          <a:prstGeom prst="roundRect">
            <a:avLst>
              <a:gd name="adj" fmla="val 16000"/>
            </a:avLst>
          </a:prstGeom>
          <a:solidFill>
            <a:srgbClr val="00796B">
              <a:alpha val="6000"/>
            </a:srgbClr>
          </a:solidFill>
          <a:ln>
            <a:noFill/>
          </a:ln>
        </p:spPr>
      </p:sp>
      <p:sp>
        <p:nvSpPr>
          <p:cNvPr id="50" name="TextBox 50"/>
          <p:cNvSpPr txBox="1"/>
          <p:nvPr/>
        </p:nvSpPr>
        <p:spPr>
          <a:xfrm>
            <a:off x="3992099" y="5109210"/>
            <a:ext cx="420780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00796B"/>
                </a:solidFill>
                <a:latin typeface="Arial"/>
                <a:ea typeface="Microsoft YaHei"/>
                <a:cs typeface="Arial"/>
              </a:rPr>
              <a:t>适应症路由覆盖率92.5%，支持1295种中文疾病输入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11273980" y="6522720"/>
            <a:ext cx="16744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0A4AE"/>
                </a:solidFill>
                <a:latin typeface="Arial"/>
                <a:ea typeface="Microsoft YaHei"/>
                <a:cs typeface="Arial"/>
              </a:rPr>
              <a:t>06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gradFill>
            <a:gsLst>
              <a:gs pos="0">
                <a:srgbClr val="00796B"/>
              </a:gs>
              <a:gs pos="100000">
                <a:srgbClr val="1565C0"/>
              </a:gs>
            </a:gsLst>
            <a:lin ang="0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29615" y="296228"/>
            <a:ext cx="3975259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1A1A2E"/>
                </a:solidFill>
                <a:latin typeface="Georgia"/>
                <a:ea typeface="KaiTi"/>
                <a:cs typeface="Georgia"/>
              </a:rPr>
              <a:t>差分隐私推理阶段保护</a:t>
            </a:r>
          </a:p>
        </p:txBody>
      </p:sp>
      <p:sp>
        <p:nvSpPr>
          <p:cNvPr id="5" name="Rectangle 5"/>
          <p:cNvSpPr/>
          <p:nvPr/>
        </p:nvSpPr>
        <p:spPr>
          <a:xfrm>
            <a:off x="762000" y="685800"/>
            <a:ext cx="1524000" cy="28575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0796B"/>
              </a:gs>
              <a:gs pos="100000">
                <a:srgbClr val="1565C0"/>
              </a:gs>
            </a:gsLst>
            <a:lin ang="0" scaled="1"/>
          </a:gra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742950" y="885825"/>
            <a:ext cx="2338387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A1A2E"/>
                </a:solidFill>
                <a:latin typeface="Georgia"/>
                <a:ea typeface="KaiTi"/>
                <a:cs typeface="Georgia"/>
              </a:rPr>
              <a:t>噪声机制与临床后处理</a:t>
            </a:r>
          </a:p>
        </p:txBody>
      </p:sp>
      <p:sp>
        <p:nvSpPr>
          <p:cNvPr id="7" name="Rectangle 7"/>
          <p:cNvSpPr/>
          <p:nvPr/>
        </p:nvSpPr>
        <p:spPr>
          <a:xfrm>
            <a:off x="762000" y="1190625"/>
            <a:ext cx="5143500" cy="714375"/>
          </a:xfrm>
          <a:prstGeom prst="roundRect">
            <a:avLst>
              <a:gd name="adj" fmla="val 10667"/>
            </a:avLst>
          </a:prstGeom>
          <a:solidFill>
            <a:srgbClr val="F5F7FA"/>
          </a:solidFill>
          <a:ln w="9525">
            <a:solidFill>
              <a:srgbClr val="1565C0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762000" y="1190625"/>
            <a:ext cx="38100" cy="714375"/>
          </a:xfrm>
          <a:prstGeom prst="roundRect">
            <a:avLst>
              <a:gd name="adj" fmla="val 50000"/>
            </a:avLst>
          </a:prstGeom>
          <a:solidFill>
            <a:srgbClr val="1565C0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938212" y="1326356"/>
            <a:ext cx="64965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Laplace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39165" y="1553528"/>
            <a:ext cx="101579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1A1A2E"/>
                </a:solidFill>
                <a:latin typeface="Consolas"/>
                <a:ea typeface="Microsoft YaHei"/>
                <a:cs typeface="Consolas"/>
              </a:rPr>
              <a:t>scale = Δf / ε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938462" y="1326356"/>
            <a:ext cx="74453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Gaussian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939415" y="1553528"/>
            <a:ext cx="190523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1A1A2E"/>
                </a:solidFill>
                <a:latin typeface="Consolas"/>
                <a:ea typeface="Microsoft YaHei"/>
                <a:cs typeface="Consolas"/>
              </a:rPr>
              <a:t>σ = Δf×√(2ln(1.25/δ)) / ε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941570" y="1569720"/>
            <a:ext cx="65379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0A4AE"/>
                </a:solidFill>
                <a:latin typeface="Arial"/>
                <a:ea typeface="Microsoft YaHei"/>
                <a:cs typeface="Arial"/>
              </a:rPr>
              <a:t>默认 ε=0.1</a:t>
            </a:r>
          </a:p>
        </p:txBody>
      </p:sp>
      <p:sp>
        <p:nvSpPr>
          <p:cNvPr id="14" name="Rectangle 14"/>
          <p:cNvSpPr/>
          <p:nvPr/>
        </p:nvSpPr>
        <p:spPr>
          <a:xfrm>
            <a:off x="762000" y="2047875"/>
            <a:ext cx="5143500" cy="1905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4288">
            <a:solidFill>
              <a:srgbClr val="00796B"/>
            </a:solidFill>
          </a:ln>
        </p:spPr>
      </p:sp>
      <p:sp>
        <p:nvSpPr>
          <p:cNvPr id="15" name="Rectangle 15"/>
          <p:cNvSpPr/>
          <p:nvPr/>
        </p:nvSpPr>
        <p:spPr>
          <a:xfrm>
            <a:off x="762000" y="2047875"/>
            <a:ext cx="5143500" cy="342900"/>
          </a:xfrm>
          <a:prstGeom prst="roundRect">
            <a:avLst>
              <a:gd name="adj" fmla="val 22222"/>
            </a:avLst>
          </a:prstGeom>
          <a:solidFill>
            <a:srgbClr val="00796B">
              <a:alpha val="8000"/>
            </a:srgbClr>
          </a:solidFill>
          <a:ln>
            <a:noFill/>
          </a:ln>
        </p:spPr>
      </p:sp>
      <p:sp>
        <p:nvSpPr>
          <p:cNvPr id="16" name="Rectangle 16"/>
          <p:cNvSpPr/>
          <p:nvPr/>
        </p:nvSpPr>
        <p:spPr>
          <a:xfrm>
            <a:off x="762000" y="2333625"/>
            <a:ext cx="5143500" cy="57150"/>
          </a:xfrm>
          <a:prstGeom prst="rect">
            <a:avLst/>
          </a:prstGeom>
          <a:solidFill>
            <a:srgbClr val="00796B">
              <a:alpha val="8000"/>
            </a:srgbClr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938212" y="2164556"/>
            <a:ext cx="401382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00796B"/>
                </a:solidFill>
                <a:latin typeface="Arial"/>
                <a:ea typeface="Microsoft YaHei"/>
                <a:cs typeface="Arial"/>
              </a:rPr>
              <a:t>临床阈值后处理（DP后处理定理，不降低隐私保护）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38212" y="2564606"/>
            <a:ext cx="227957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A1A2E"/>
                </a:solidFill>
                <a:latin typeface="Arial"/>
                <a:ea typeface="Microsoft YaHei"/>
                <a:cs typeface="Arial"/>
              </a:rPr>
              <a:t>1. 低分置零：score &lt; 0.15 → 0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3797618" y="2580799"/>
            <a:ext cx="144875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0A4AE"/>
                </a:solidFill>
                <a:latin typeface="Arial"/>
                <a:ea typeface="Microsoft YaHei"/>
                <a:cs typeface="Arial"/>
              </a:rPr>
              <a:t>低分不被噪声意外提升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38212" y="2888456"/>
            <a:ext cx="334756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A1A2E"/>
                </a:solidFill>
                <a:latin typeface="Arial"/>
                <a:ea typeface="Microsoft YaHei"/>
                <a:cs typeface="Arial"/>
              </a:rPr>
              <a:t>2. 上限裁剪：ceiling = min(1.0, raw+0.35)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797618" y="2904649"/>
            <a:ext cx="139891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0A4AE"/>
                </a:solidFill>
                <a:latin typeface="Arial"/>
                <a:ea typeface="Microsoft YaHei"/>
                <a:cs typeface="Arial"/>
              </a:rPr>
              <a:t>防止噪声放大超3.5倍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38212" y="3212306"/>
            <a:ext cx="336399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A1A2E"/>
                </a:solidFill>
                <a:latin typeface="Arial"/>
                <a:ea typeface="Microsoft YaHei"/>
                <a:cs typeface="Arial"/>
              </a:rPr>
              <a:t>3. dpAnomaly标记：噪声改变排序方向时触发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38212" y="3536156"/>
            <a:ext cx="393084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A1A2E"/>
                </a:solidFill>
                <a:latin typeface="Arial"/>
                <a:ea typeface="Microsoft YaHei"/>
                <a:cs typeface="Arial"/>
              </a:rPr>
              <a:t>4. 95%置信区间：Laplace ±2b/√3，Gaussian ±1.96σ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457950" y="885825"/>
            <a:ext cx="1418272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A1A2E"/>
                </a:solidFill>
                <a:latin typeface="Georgia"/>
                <a:ea typeface="KaiTi"/>
                <a:cs typeface="Georgia"/>
              </a:rPr>
              <a:t>隐私预算管理</a:t>
            </a:r>
          </a:p>
        </p:txBody>
      </p:sp>
      <p:sp>
        <p:nvSpPr>
          <p:cNvPr id="25" name="Rectangle 25"/>
          <p:cNvSpPr/>
          <p:nvPr/>
        </p:nvSpPr>
        <p:spPr>
          <a:xfrm>
            <a:off x="6477000" y="1190625"/>
            <a:ext cx="4953000" cy="11430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4288">
            <a:solidFill>
              <a:srgbClr val="1565C0"/>
            </a:solidFill>
          </a:ln>
        </p:spPr>
      </p:sp>
      <p:sp>
        <p:nvSpPr>
          <p:cNvPr id="26" name="Rectangle 26"/>
          <p:cNvSpPr/>
          <p:nvPr/>
        </p:nvSpPr>
        <p:spPr>
          <a:xfrm>
            <a:off x="6477000" y="1190625"/>
            <a:ext cx="4953000" cy="342900"/>
          </a:xfrm>
          <a:prstGeom prst="roundRect">
            <a:avLst>
              <a:gd name="adj" fmla="val 22222"/>
            </a:avLst>
          </a:prstGeom>
          <a:solidFill>
            <a:srgbClr val="1565C0">
              <a:alpha val="8000"/>
            </a:srgbClr>
          </a:solidFill>
          <a:ln>
            <a:noFill/>
          </a:ln>
        </p:spPr>
      </p:sp>
      <p:sp>
        <p:nvSpPr>
          <p:cNvPr id="27" name="Rectangle 27"/>
          <p:cNvSpPr/>
          <p:nvPr/>
        </p:nvSpPr>
        <p:spPr>
          <a:xfrm>
            <a:off x="6477000" y="1476375"/>
            <a:ext cx="4953000" cy="57150"/>
          </a:xfrm>
          <a:prstGeom prst="rect">
            <a:avLst/>
          </a:prstGeom>
          <a:solidFill>
            <a:srgbClr val="1565C0">
              <a:alpha val="8000"/>
            </a:srgbClr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6653212" y="1307306"/>
            <a:ext cx="106370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双重追踪机制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6653212" y="1640681"/>
            <a:ext cx="373368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A1A2E"/>
                </a:solidFill>
                <a:latin typeface="Arial"/>
                <a:ea typeface="Microsoft YaHei"/>
                <a:cs typeface="Arial"/>
              </a:rPr>
              <a:t>1. MySQL持久化：budget_used + ledger事件日志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6653212" y="1926431"/>
            <a:ext cx="286285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A1A2E"/>
                </a:solidFill>
                <a:latin typeface="Arial"/>
                <a:ea typeface="Microsoft YaHei"/>
                <a:cs typeface="Arial"/>
              </a:rPr>
              <a:t>2. 内存Tracker：强组合定理实时追踪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655118" y="2161699"/>
            <a:ext cx="218210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0A4AE"/>
                </a:solidFill>
                <a:latin typeface="Arial"/>
                <a:ea typeface="Microsoft YaHei"/>
                <a:cs typeface="Arial"/>
              </a:rPr>
              <a:t>服务重启后从MySQL恢复预算状态</a:t>
            </a:r>
          </a:p>
        </p:txBody>
      </p:sp>
      <p:sp>
        <p:nvSpPr>
          <p:cNvPr id="32" name="Rectangle 32"/>
          <p:cNvSpPr/>
          <p:nvPr/>
        </p:nvSpPr>
        <p:spPr>
          <a:xfrm>
            <a:off x="6477000" y="2476500"/>
            <a:ext cx="4953000" cy="1476375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4288">
            <a:solidFill>
              <a:srgbClr val="FF8F00"/>
            </a:solidFill>
          </a:ln>
        </p:spPr>
      </p:sp>
      <p:sp>
        <p:nvSpPr>
          <p:cNvPr id="33" name="Rectangle 33"/>
          <p:cNvSpPr/>
          <p:nvPr/>
        </p:nvSpPr>
        <p:spPr>
          <a:xfrm>
            <a:off x="6477000" y="2476500"/>
            <a:ext cx="4953000" cy="342900"/>
          </a:xfrm>
          <a:prstGeom prst="roundRect">
            <a:avLst>
              <a:gd name="adj" fmla="val 22222"/>
            </a:avLst>
          </a:prstGeom>
          <a:solidFill>
            <a:srgbClr val="FF8F00">
              <a:alpha val="8000"/>
            </a:srgbClr>
          </a:solidFill>
          <a:ln>
            <a:noFill/>
          </a:ln>
        </p:spPr>
      </p:sp>
      <p:sp>
        <p:nvSpPr>
          <p:cNvPr id="34" name="Rectangle 34"/>
          <p:cNvSpPr/>
          <p:nvPr/>
        </p:nvSpPr>
        <p:spPr>
          <a:xfrm>
            <a:off x="6477000" y="2762250"/>
            <a:ext cx="4953000" cy="57150"/>
          </a:xfrm>
          <a:prstGeom prst="rect">
            <a:avLst/>
          </a:prstGeom>
          <a:solidFill>
            <a:srgbClr val="FF8F00">
              <a:alpha val="8000"/>
            </a:srgbClr>
          </a:solidFill>
          <a:ln>
            <a:noFill/>
          </a:ln>
        </p:spPr>
      </p:sp>
      <p:sp>
        <p:nvSpPr>
          <p:cNvPr id="35" name="TextBox 35"/>
          <p:cNvSpPr txBox="1"/>
          <p:nvPr/>
        </p:nvSpPr>
        <p:spPr>
          <a:xfrm>
            <a:off x="6653212" y="2593181"/>
            <a:ext cx="106370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FF8F00"/>
                </a:solidFill>
                <a:latin typeface="Arial"/>
                <a:ea typeface="Microsoft YaHei"/>
                <a:cs typeface="Arial"/>
              </a:rPr>
              <a:t>三级预算预警</a:t>
            </a:r>
          </a:p>
        </p:txBody>
      </p:sp>
      <p:sp>
        <p:nvSpPr>
          <p:cNvPr id="36" name="Ellipse 36"/>
          <p:cNvSpPr/>
          <p:nvPr/>
        </p:nvSpPr>
        <p:spPr>
          <a:xfrm>
            <a:off x="6734175" y="2971800"/>
            <a:ext cx="152400" cy="15240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</p:sp>
      <p:sp>
        <p:nvSpPr>
          <p:cNvPr id="37" name="TextBox 37"/>
          <p:cNvSpPr txBox="1"/>
          <p:nvPr/>
        </p:nvSpPr>
        <p:spPr>
          <a:xfrm>
            <a:off x="6938962" y="2974181"/>
            <a:ext cx="50300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2E7D32"/>
                </a:solidFill>
                <a:latin typeface="Arial"/>
                <a:ea typeface="Microsoft YaHei"/>
                <a:cs typeface="Arial"/>
              </a:rPr>
              <a:t>GREEN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7701915" y="2982278"/>
            <a:ext cx="140684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预算充足，正常推荐</a:t>
            </a:r>
          </a:p>
        </p:txBody>
      </p:sp>
      <p:sp>
        <p:nvSpPr>
          <p:cNvPr id="39" name="Ellipse 39"/>
          <p:cNvSpPr/>
          <p:nvPr/>
        </p:nvSpPr>
        <p:spPr>
          <a:xfrm>
            <a:off x="6734175" y="3305175"/>
            <a:ext cx="152400" cy="152400"/>
          </a:xfrm>
          <a:prstGeom prst="ellipse">
            <a:avLst/>
          </a:prstGeom>
          <a:solidFill>
            <a:srgbClr val="FF8F00"/>
          </a:solidFill>
          <a:ln>
            <a:noFill/>
          </a:ln>
        </p:spPr>
      </p:sp>
      <p:sp>
        <p:nvSpPr>
          <p:cNvPr id="40" name="TextBox 40"/>
          <p:cNvSpPr txBox="1"/>
          <p:nvPr/>
        </p:nvSpPr>
        <p:spPr>
          <a:xfrm>
            <a:off x="6938962" y="3307556"/>
            <a:ext cx="66690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FF8F00"/>
                </a:solidFill>
                <a:latin typeface="Arial"/>
                <a:ea typeface="Microsoft YaHei"/>
                <a:cs typeface="Arial"/>
              </a:rPr>
              <a:t>YELLOW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7778115" y="3315652"/>
            <a:ext cx="140684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接近上限，警告提示</a:t>
            </a:r>
          </a:p>
        </p:txBody>
      </p:sp>
      <p:sp>
        <p:nvSpPr>
          <p:cNvPr id="42" name="Ellipse 42"/>
          <p:cNvSpPr/>
          <p:nvPr/>
        </p:nvSpPr>
        <p:spPr>
          <a:xfrm>
            <a:off x="6734175" y="3638550"/>
            <a:ext cx="152400" cy="152400"/>
          </a:xfrm>
          <a:prstGeom prst="ellipse">
            <a:avLst/>
          </a:prstGeom>
          <a:solidFill>
            <a:srgbClr val="C62828"/>
          </a:solidFill>
          <a:ln>
            <a:noFill/>
          </a:ln>
        </p:spPr>
      </p:sp>
      <p:sp>
        <p:nvSpPr>
          <p:cNvPr id="43" name="TextBox 43"/>
          <p:cNvSpPr txBox="1"/>
          <p:nvPr/>
        </p:nvSpPr>
        <p:spPr>
          <a:xfrm>
            <a:off x="6938962" y="3640931"/>
            <a:ext cx="31323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C62828"/>
                </a:solidFill>
                <a:latin typeface="Arial"/>
                <a:ea typeface="Microsoft YaHei"/>
                <a:cs typeface="Arial"/>
              </a:rPr>
              <a:t>RED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7559040" y="3649028"/>
            <a:ext cx="140684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预算耗尽，拒绝推荐</a:t>
            </a:r>
          </a:p>
        </p:txBody>
      </p:sp>
      <p:sp>
        <p:nvSpPr>
          <p:cNvPr id="45" name="Rectangle 45"/>
          <p:cNvSpPr/>
          <p:nvPr/>
        </p:nvSpPr>
        <p:spPr>
          <a:xfrm>
            <a:off x="762000" y="4191000"/>
            <a:ext cx="10668000" cy="571500"/>
          </a:xfrm>
          <a:prstGeom prst="roundRect">
            <a:avLst>
              <a:gd name="adj" fmla="val 13333"/>
            </a:avLst>
          </a:prstGeom>
          <a:solidFill>
            <a:srgbClr val="F5F7FA"/>
          </a:solidFill>
          <a:ln>
            <a:noFill/>
          </a:ln>
        </p:spPr>
      </p:sp>
      <p:sp>
        <p:nvSpPr>
          <p:cNvPr id="46" name="TextBox 46"/>
          <p:cNvSpPr txBox="1"/>
          <p:nvPr/>
        </p:nvSpPr>
        <p:spPr>
          <a:xfrm>
            <a:off x="938212" y="4336256"/>
            <a:ext cx="71866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1A1A2E"/>
                </a:solidFill>
                <a:latin typeface="Arial"/>
                <a:ea typeface="Microsoft YaHei"/>
                <a:cs typeface="Arial"/>
              </a:rPr>
              <a:t>核心思路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1890712" y="4336256"/>
            <a:ext cx="448127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后处理定理保证：对DP输出做确定性变换不降低隐私保护强度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938212" y="4564856"/>
            <a:ext cx="350365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临床阈值裁剪是公开函数 → 安全性与精度可兼得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11273980" y="6522720"/>
            <a:ext cx="16744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0A4AE"/>
                </a:solidFill>
                <a:latin typeface="Arial"/>
                <a:ea typeface="Microsoft YaHei"/>
                <a:cs typeface="Arial"/>
              </a:rPr>
              <a:t>07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gradFill>
            <a:gsLst>
              <a:gs pos="0">
                <a:srgbClr val="00796B"/>
              </a:gs>
              <a:gs pos="100000">
                <a:srgbClr val="1565C0"/>
              </a:gs>
            </a:gsLst>
            <a:lin ang="0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29615" y="296228"/>
            <a:ext cx="3545105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1A1A2E"/>
                </a:solidFill>
                <a:latin typeface="Georgia"/>
                <a:ea typeface="KaiTi"/>
                <a:cs typeface="Georgia"/>
              </a:rPr>
              <a:t>DeepFM v3模型改进</a:t>
            </a:r>
          </a:p>
        </p:txBody>
      </p:sp>
      <p:sp>
        <p:nvSpPr>
          <p:cNvPr id="5" name="Rectangle 5"/>
          <p:cNvSpPr/>
          <p:nvPr/>
        </p:nvSpPr>
        <p:spPr>
          <a:xfrm>
            <a:off x="762000" y="685800"/>
            <a:ext cx="1333500" cy="28575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0796B"/>
              </a:gs>
              <a:gs pos="100000">
                <a:srgbClr val="1565C0"/>
              </a:gs>
            </a:gsLst>
            <a:lin ang="0" scaled="1"/>
          </a:gra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762000" y="1047750"/>
            <a:ext cx="3429000" cy="457200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4288">
            <a:solidFill>
              <a:srgbClr val="00796B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762000" y="1047750"/>
            <a:ext cx="3429000" cy="419100"/>
          </a:xfrm>
          <a:prstGeom prst="roundRect">
            <a:avLst>
              <a:gd name="adj" fmla="val 22727"/>
            </a:avLst>
          </a:prstGeom>
          <a:solidFill>
            <a:srgbClr val="00796B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762000" y="1371600"/>
            <a:ext cx="3429000" cy="95250"/>
          </a:xfrm>
          <a:prstGeom prst="rect">
            <a:avLst/>
          </a:prstGeom>
          <a:solidFill>
            <a:srgbClr val="00796B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1265110" y="1203960"/>
            <a:ext cx="242277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合并嵌入 Merged Embedding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38212" y="1688306"/>
            <a:ext cx="37361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00796B"/>
                </a:solidFill>
                <a:latin typeface="Arial"/>
                <a:ea typeface="Microsoft YaHei"/>
                <a:cs typeface="Arial"/>
              </a:rPr>
              <a:t>问题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39165" y="1934528"/>
            <a:ext cx="225794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每字段独立Embedding → Opacus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39165" y="2153602"/>
            <a:ext cx="200491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不支持多Embedding梯度采样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38212" y="2497931"/>
            <a:ext cx="37361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00796B"/>
                </a:solidFill>
                <a:latin typeface="Arial"/>
                <a:ea typeface="Microsoft YaHei"/>
                <a:cs typeface="Arial"/>
              </a:rPr>
              <a:t>方案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39165" y="2744152"/>
            <a:ext cx="204325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1A1A2E"/>
                </a:solidFill>
                <a:latin typeface="Arial"/>
                <a:ea typeface="Microsoft YaHei"/>
                <a:cs typeface="Arial"/>
              </a:rPr>
              <a:t>单个 nn.Embedding 共享空间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39165" y="2963228"/>
            <a:ext cx="183623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1A1A2E"/>
                </a:solidFill>
                <a:latin typeface="Arial"/>
                <a:ea typeface="Microsoft YaHei"/>
                <a:cs typeface="Arial"/>
              </a:rPr>
              <a:t>+ field_offsets 分段索引</a:t>
            </a:r>
          </a:p>
        </p:txBody>
      </p:sp>
      <p:sp>
        <p:nvSpPr>
          <p:cNvPr id="16" name="Rectangle 16"/>
          <p:cNvSpPr/>
          <p:nvPr/>
        </p:nvSpPr>
        <p:spPr>
          <a:xfrm>
            <a:off x="952500" y="3333750"/>
            <a:ext cx="3048000" cy="476250"/>
          </a:xfrm>
          <a:prstGeom prst="roundRect">
            <a:avLst>
              <a:gd name="adj" fmla="val 12000"/>
            </a:avLst>
          </a:prstGeom>
          <a:solidFill>
            <a:srgbClr val="00796B">
              <a:alpha val="5000"/>
            </a:srgbClr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1539216" y="3429952"/>
            <a:ext cx="187456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00796B"/>
                </a:solidFill>
                <a:latin typeface="Consolas"/>
                <a:ea typeface="Microsoft YaHei"/>
                <a:cs typeface="Consolas"/>
              </a:rPr>
              <a:t>15字段共享，embed_dim=8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794843" y="3638074"/>
            <a:ext cx="136331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00796B"/>
                </a:solidFill>
                <a:latin typeface="Consolas"/>
                <a:ea typeface="Microsoft YaHei"/>
                <a:cs typeface="Consolas"/>
              </a:rPr>
              <a:t>Opacus DP-SGD 兼容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38212" y="4021931"/>
            <a:ext cx="37361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2E7D32"/>
                </a:solidFill>
                <a:latin typeface="Arial"/>
                <a:ea typeface="Microsoft YaHei"/>
                <a:cs typeface="Arial"/>
              </a:rPr>
              <a:t>效果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39165" y="4268152"/>
            <a:ext cx="313205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2E7D32"/>
                </a:solidFill>
                <a:latin typeface="Arial"/>
                <a:ea typeface="Microsoft YaHei"/>
                <a:cs typeface="Arial"/>
              </a:rPr>
              <a:t>✓ 支持DP训练 ✓ 参数量减少 ✓ 跨字段语义共享</a:t>
            </a:r>
          </a:p>
        </p:txBody>
      </p:sp>
      <p:sp>
        <p:nvSpPr>
          <p:cNvPr id="21" name="Rectangle 21"/>
          <p:cNvSpPr/>
          <p:nvPr/>
        </p:nvSpPr>
        <p:spPr>
          <a:xfrm>
            <a:off x="4381500" y="1047750"/>
            <a:ext cx="3429000" cy="457200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4288">
            <a:solidFill>
              <a:srgbClr val="1565C0"/>
            </a:solidFill>
          </a:ln>
        </p:spPr>
      </p:sp>
      <p:sp>
        <p:nvSpPr>
          <p:cNvPr id="22" name="Rectangle 22"/>
          <p:cNvSpPr/>
          <p:nvPr/>
        </p:nvSpPr>
        <p:spPr>
          <a:xfrm>
            <a:off x="4381500" y="1047750"/>
            <a:ext cx="3429000" cy="419100"/>
          </a:xfrm>
          <a:prstGeom prst="roundRect">
            <a:avLst>
              <a:gd name="adj" fmla="val 22727"/>
            </a:avLst>
          </a:prstGeom>
          <a:solidFill>
            <a:srgbClr val="1565C0"/>
          </a:solidFill>
          <a:ln>
            <a:noFill/>
          </a:ln>
        </p:spPr>
      </p:sp>
      <p:sp>
        <p:nvSpPr>
          <p:cNvPr id="23" name="Rectangle 23"/>
          <p:cNvSpPr/>
          <p:nvPr/>
        </p:nvSpPr>
        <p:spPr>
          <a:xfrm>
            <a:off x="4381500" y="1371600"/>
            <a:ext cx="3429000" cy="95250"/>
          </a:xfrm>
          <a:prstGeom prst="rect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5528691" y="1203960"/>
            <a:ext cx="113461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连续特征旁路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4557712" y="1688306"/>
            <a:ext cx="37361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问题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4558665" y="1934528"/>
            <a:ext cx="169821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连续特征经Embedding层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4558665" y="2153602"/>
            <a:ext cx="123048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→ 离散化损失精度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4557712" y="2497931"/>
            <a:ext cx="37361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方案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4558665" y="2744152"/>
            <a:ext cx="219660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1A1A2E"/>
                </a:solidFill>
                <a:latin typeface="Arial"/>
                <a:ea typeface="Microsoft YaHei"/>
                <a:cs typeface="Arial"/>
              </a:rPr>
              <a:t>4个连续特征绕过嵌入/FM/Deep</a:t>
            </a:r>
          </a:p>
        </p:txBody>
      </p:sp>
      <p:sp>
        <p:nvSpPr>
          <p:cNvPr id="30" name="Rectangle 30"/>
          <p:cNvSpPr/>
          <p:nvPr/>
        </p:nvSpPr>
        <p:spPr>
          <a:xfrm>
            <a:off x="4572000" y="3048000"/>
            <a:ext cx="3048000" cy="285750"/>
          </a:xfrm>
          <a:prstGeom prst="roundRect">
            <a:avLst>
              <a:gd name="adj" fmla="val 13333"/>
            </a:avLst>
          </a:prstGeom>
          <a:solidFill>
            <a:srgbClr val="1565C0">
              <a:alpha val="6000"/>
            </a:srgbClr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4474512" y="3133249"/>
            <a:ext cx="324297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1565C0"/>
                </a:solidFill>
                <a:latin typeface="Consolas"/>
                <a:ea typeface="Microsoft YaHei"/>
                <a:cs typeface="Consolas"/>
              </a:rPr>
              <a:t>age_raw, bmi_raw, gfr_raw, liver_score_raw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4558665" y="3458528"/>
            <a:ext cx="220427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1A1A2E"/>
                </a:solidFill>
                <a:latin typeface="Arial"/>
                <a:ea typeface="Microsoft YaHei"/>
                <a:cs typeface="Arial"/>
              </a:rPr>
              <a:t>独立线性变换 → 与FM+Deep拼接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4557712" y="3783806"/>
            <a:ext cx="37361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2E7D32"/>
                </a:solidFill>
                <a:latin typeface="Arial"/>
                <a:ea typeface="Microsoft YaHei"/>
                <a:cs typeface="Arial"/>
              </a:rPr>
              <a:t>效果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4558665" y="4030028"/>
            <a:ext cx="327774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2E7D32"/>
                </a:solidFill>
                <a:latin typeface="Arial"/>
                <a:ea typeface="Microsoft YaHei"/>
                <a:cs typeface="Arial"/>
              </a:rPr>
              <a:t>✓ GFR/肝功能评分直接参与决策 ✓ 保留原始精度</a:t>
            </a:r>
          </a:p>
        </p:txBody>
      </p:sp>
      <p:sp>
        <p:nvSpPr>
          <p:cNvPr id="35" name="Rectangle 35"/>
          <p:cNvSpPr/>
          <p:nvPr/>
        </p:nvSpPr>
        <p:spPr>
          <a:xfrm>
            <a:off x="8001000" y="1047750"/>
            <a:ext cx="3429000" cy="457200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4288">
            <a:solidFill>
              <a:srgbClr val="FF8F00"/>
            </a:solidFill>
          </a:ln>
        </p:spPr>
      </p:sp>
      <p:sp>
        <p:nvSpPr>
          <p:cNvPr id="36" name="Rectangle 36"/>
          <p:cNvSpPr/>
          <p:nvPr/>
        </p:nvSpPr>
        <p:spPr>
          <a:xfrm>
            <a:off x="8001000" y="1047750"/>
            <a:ext cx="3429000" cy="419100"/>
          </a:xfrm>
          <a:prstGeom prst="roundRect">
            <a:avLst>
              <a:gd name="adj" fmla="val 22727"/>
            </a:avLst>
          </a:prstGeom>
          <a:solidFill>
            <a:srgbClr val="FF8F00"/>
          </a:solidFill>
          <a:ln>
            <a:noFill/>
          </a:ln>
        </p:spPr>
      </p:sp>
      <p:sp>
        <p:nvSpPr>
          <p:cNvPr id="37" name="Rectangle 37"/>
          <p:cNvSpPr/>
          <p:nvPr/>
        </p:nvSpPr>
        <p:spPr>
          <a:xfrm>
            <a:off x="8001000" y="1371600"/>
            <a:ext cx="3429000" cy="95250"/>
          </a:xfrm>
          <a:prstGeom prst="rect">
            <a:avLst/>
          </a:prstGeom>
          <a:solidFill>
            <a:srgbClr val="FF8F00"/>
          </a:solidFill>
          <a:ln>
            <a:noFill/>
          </a:ln>
        </p:spPr>
      </p:sp>
      <p:sp>
        <p:nvSpPr>
          <p:cNvPr id="38" name="TextBox 38"/>
          <p:cNvSpPr txBox="1"/>
          <p:nvPr/>
        </p:nvSpPr>
        <p:spPr>
          <a:xfrm>
            <a:off x="9332214" y="1203960"/>
            <a:ext cx="76657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训练优化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8177212" y="1688306"/>
            <a:ext cx="245250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FF8F00"/>
                </a:solidFill>
                <a:latin typeface="Arial"/>
                <a:ea typeface="Microsoft YaHei"/>
                <a:cs typeface="Arial"/>
              </a:rPr>
              <a:t>1. LayerNorm 替代 BatchNorm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8178165" y="1963102"/>
            <a:ext cx="234996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推理无需批统计量 → 单样本无偏差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8178165" y="2201228"/>
            <a:ext cx="17058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2E7D32"/>
                </a:solidFill>
                <a:latin typeface="Arial"/>
                <a:ea typeface="Microsoft YaHei"/>
                <a:cs typeface="Arial"/>
              </a:rPr>
              <a:t>✓ 与Opacus DP-SGD兼容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8177212" y="2545556"/>
            <a:ext cx="145187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FF8F00"/>
                </a:solidFill>
                <a:latin typeface="Arial"/>
                <a:ea typeface="Microsoft YaHei"/>
                <a:cs typeface="Arial"/>
              </a:rPr>
              <a:t>2. 差异化Dropout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8178165" y="2820352"/>
            <a:ext cx="160620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FM层 0.3 / Deep层 0.1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8178165" y="3058478"/>
            <a:ext cx="175955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FM低阶交叉需更强正则化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8177212" y="3402806"/>
            <a:ext cx="113271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FF8F00"/>
                </a:solidFill>
                <a:latin typeface="Arial"/>
                <a:ea typeface="Microsoft YaHei"/>
                <a:cs typeface="Arial"/>
              </a:rPr>
              <a:t>3. Focal Loss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8178165" y="3677602"/>
            <a:ext cx="108480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α=0.25, γ=2.0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8178165" y="3915728"/>
            <a:ext cx="248031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聚焦难分样本，应对正负样本不平衡</a:t>
            </a:r>
          </a:p>
        </p:txBody>
      </p:sp>
      <p:sp>
        <p:nvSpPr>
          <p:cNvPr id="48" name="Rectangle 48"/>
          <p:cNvSpPr/>
          <p:nvPr/>
        </p:nvSpPr>
        <p:spPr>
          <a:xfrm>
            <a:off x="8191500" y="4286250"/>
            <a:ext cx="3048000" cy="285750"/>
          </a:xfrm>
          <a:prstGeom prst="roundRect">
            <a:avLst>
              <a:gd name="adj" fmla="val 20000"/>
            </a:avLst>
          </a:prstGeom>
          <a:solidFill>
            <a:srgbClr val="FF8F00">
              <a:alpha val="6000"/>
            </a:srgbClr>
          </a:solidFill>
          <a:ln>
            <a:noFill/>
          </a:ln>
        </p:spPr>
      </p:sp>
      <p:sp>
        <p:nvSpPr>
          <p:cNvPr id="49" name="TextBox 49"/>
          <p:cNvSpPr txBox="1"/>
          <p:nvPr/>
        </p:nvSpPr>
        <p:spPr>
          <a:xfrm>
            <a:off x="8802445" y="4371499"/>
            <a:ext cx="182610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FF8F00"/>
                </a:solidFill>
                <a:latin typeface="Arial"/>
                <a:ea typeface="Microsoft YaHei"/>
                <a:cs typeface="Arial"/>
              </a:rPr>
              <a:t>1807种候选 vs 少数适配药物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11273980" y="6522720"/>
            <a:ext cx="16744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0A4AE"/>
                </a:solidFill>
                <a:latin typeface="Arial"/>
                <a:ea typeface="Microsoft YaHei"/>
                <a:cs typeface="Arial"/>
              </a:rPr>
              <a:t>08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gradFill>
            <a:gsLst>
              <a:gs pos="0">
                <a:srgbClr val="00796B"/>
              </a:gs>
              <a:gs pos="100000">
                <a:srgbClr val="1565C0"/>
              </a:gs>
            </a:gsLst>
            <a:lin ang="0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29615" y="296228"/>
            <a:ext cx="1628966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1A1A2E"/>
                </a:solidFill>
                <a:latin typeface="Georgia"/>
                <a:ea typeface="KaiTi"/>
                <a:cs typeface="Georgia"/>
              </a:rPr>
              <a:t>关键实现</a:t>
            </a:r>
          </a:p>
        </p:txBody>
      </p:sp>
      <p:sp>
        <p:nvSpPr>
          <p:cNvPr id="5" name="Rectangle 5"/>
          <p:cNvSpPr/>
          <p:nvPr/>
        </p:nvSpPr>
        <p:spPr>
          <a:xfrm>
            <a:off x="762000" y="685800"/>
            <a:ext cx="952500" cy="28575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0796B"/>
              </a:gs>
              <a:gs pos="100000">
                <a:srgbClr val="1565C0"/>
              </a:gs>
            </a:gsLst>
            <a:lin ang="0" scaled="1"/>
          </a:gra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762000" y="1000125"/>
            <a:ext cx="5238750" cy="23812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4288">
            <a:solidFill>
              <a:srgbClr val="00796B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762000" y="1000125"/>
            <a:ext cx="5238750" cy="381000"/>
          </a:xfrm>
          <a:prstGeom prst="roundRect">
            <a:avLst>
              <a:gd name="adj" fmla="val 25000"/>
            </a:avLst>
          </a:prstGeom>
          <a:solidFill>
            <a:srgbClr val="00796B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762000" y="1304925"/>
            <a:ext cx="5238750" cy="76200"/>
          </a:xfrm>
          <a:prstGeom prst="rect">
            <a:avLst/>
          </a:prstGeom>
          <a:solidFill>
            <a:srgbClr val="00796B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937260" y="1127760"/>
            <a:ext cx="172349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三角色RBAC权限控制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38212" y="1545431"/>
            <a:ext cx="54614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00796B"/>
                </a:solidFill>
                <a:latin typeface="Arial"/>
                <a:ea typeface="Microsoft YaHei"/>
                <a:cs typeface="Arial"/>
              </a:rPr>
              <a:t>管理员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605915" y="1553528"/>
            <a:ext cx="48672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全权限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38212" y="1831181"/>
            <a:ext cx="37361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医生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415415" y="1839278"/>
            <a:ext cx="142984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患者管理 + 推荐审核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38212" y="2116931"/>
            <a:ext cx="54614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FF8F00"/>
                </a:solidFill>
                <a:latin typeface="Arial"/>
                <a:ea typeface="Microsoft YaHei"/>
                <a:cs typeface="Arial"/>
              </a:rPr>
              <a:t>研究员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558290" y="2125028"/>
            <a:ext cx="142984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隐私分析 + 统计查看</a:t>
            </a:r>
          </a:p>
        </p:txBody>
      </p:sp>
      <p:sp>
        <p:nvSpPr>
          <p:cNvPr id="16" name="Rectangle 16"/>
          <p:cNvSpPr/>
          <p:nvPr/>
        </p:nvSpPr>
        <p:spPr>
          <a:xfrm>
            <a:off x="952500" y="2524125"/>
            <a:ext cx="4857750" cy="285750"/>
          </a:xfrm>
          <a:prstGeom prst="roundRect">
            <a:avLst>
              <a:gd name="adj" fmla="val 20000"/>
            </a:avLst>
          </a:prstGeom>
          <a:solidFill>
            <a:srgbClr val="00796B">
              <a:alpha val="6000"/>
            </a:srgbClr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2677954" y="2610802"/>
            <a:ext cx="140684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00796B"/>
                </a:solidFill>
                <a:latin typeface="Arial"/>
                <a:ea typeface="Microsoft YaHei"/>
                <a:cs typeface="Arial"/>
              </a:rPr>
              <a:t>前后端双重权限校验</a:t>
            </a:r>
          </a:p>
        </p:txBody>
      </p:sp>
      <p:sp>
        <p:nvSpPr>
          <p:cNvPr id="18" name="Rectangle 18"/>
          <p:cNvSpPr/>
          <p:nvPr/>
        </p:nvSpPr>
        <p:spPr>
          <a:xfrm>
            <a:off x="6191250" y="1000125"/>
            <a:ext cx="5238750" cy="23812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4288">
            <a:solidFill>
              <a:srgbClr val="1565C0"/>
            </a:solidFill>
          </a:ln>
        </p:spPr>
      </p:sp>
      <p:sp>
        <p:nvSpPr>
          <p:cNvPr id="19" name="Rectangle 19"/>
          <p:cNvSpPr/>
          <p:nvPr/>
        </p:nvSpPr>
        <p:spPr>
          <a:xfrm>
            <a:off x="6191250" y="1000125"/>
            <a:ext cx="5238750" cy="381000"/>
          </a:xfrm>
          <a:prstGeom prst="roundRect">
            <a:avLst>
              <a:gd name="adj" fmla="val 25000"/>
            </a:avLst>
          </a:prstGeom>
          <a:solidFill>
            <a:srgbClr val="1565C0"/>
          </a:solidFill>
          <a:ln>
            <a:noFill/>
          </a:ln>
        </p:spPr>
      </p:sp>
      <p:sp>
        <p:nvSpPr>
          <p:cNvPr id="20" name="Rectangle 20"/>
          <p:cNvSpPr/>
          <p:nvPr/>
        </p:nvSpPr>
        <p:spPr>
          <a:xfrm>
            <a:off x="6191250" y="1304925"/>
            <a:ext cx="5238750" cy="76200"/>
          </a:xfrm>
          <a:prstGeom prst="rect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6366510" y="1127760"/>
            <a:ext cx="113461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审核反馈闭环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367462" y="1545431"/>
            <a:ext cx="236624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FeedbackLearner 渐进式惩罚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368415" y="1839278"/>
            <a:ext cx="254931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1次拒绝 ×0.7，2次 ×0.5，3次+ ×0.3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368415" y="2125028"/>
            <a:ext cx="217360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被反复拒绝的药物权重持续衰减</a:t>
            </a:r>
          </a:p>
        </p:txBody>
      </p:sp>
      <p:sp>
        <p:nvSpPr>
          <p:cNvPr id="25" name="Rectangle 25"/>
          <p:cNvSpPr/>
          <p:nvPr/>
        </p:nvSpPr>
        <p:spPr>
          <a:xfrm>
            <a:off x="6381750" y="2524125"/>
            <a:ext cx="4857750" cy="285750"/>
          </a:xfrm>
          <a:prstGeom prst="roundRect">
            <a:avLst>
              <a:gd name="adj" fmla="val 20000"/>
            </a:avLst>
          </a:prstGeom>
          <a:solidFill>
            <a:srgbClr val="1565C0">
              <a:alpha val="6000"/>
            </a:srgbClr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7677817" y="2610802"/>
            <a:ext cx="226561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推荐 → 审核 → 惩罚 → 优化 → 推荐</a:t>
            </a:r>
          </a:p>
        </p:txBody>
      </p:sp>
      <p:sp>
        <p:nvSpPr>
          <p:cNvPr id="27" name="Rectangle 27"/>
          <p:cNvSpPr/>
          <p:nvPr/>
        </p:nvSpPr>
        <p:spPr>
          <a:xfrm>
            <a:off x="762000" y="3571875"/>
            <a:ext cx="5238750" cy="23812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4288">
            <a:solidFill>
              <a:srgbClr val="FF8F00"/>
            </a:solidFill>
          </a:ln>
        </p:spPr>
      </p:sp>
      <p:sp>
        <p:nvSpPr>
          <p:cNvPr id="28" name="Rectangle 28"/>
          <p:cNvSpPr/>
          <p:nvPr/>
        </p:nvSpPr>
        <p:spPr>
          <a:xfrm>
            <a:off x="762000" y="3571875"/>
            <a:ext cx="5238750" cy="381000"/>
          </a:xfrm>
          <a:prstGeom prst="roundRect">
            <a:avLst>
              <a:gd name="adj" fmla="val 25000"/>
            </a:avLst>
          </a:prstGeom>
          <a:solidFill>
            <a:srgbClr val="FF8F00"/>
          </a:solidFill>
          <a:ln>
            <a:noFill/>
          </a:ln>
        </p:spPr>
      </p:sp>
      <p:sp>
        <p:nvSpPr>
          <p:cNvPr id="29" name="Rectangle 29"/>
          <p:cNvSpPr/>
          <p:nvPr/>
        </p:nvSpPr>
        <p:spPr>
          <a:xfrm>
            <a:off x="762000" y="3876675"/>
            <a:ext cx="5238750" cy="76200"/>
          </a:xfrm>
          <a:prstGeom prst="rect">
            <a:avLst/>
          </a:prstGeom>
          <a:solidFill>
            <a:srgbClr val="FF8F00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937260" y="3699510"/>
            <a:ext cx="113461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推荐解释生成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938212" y="4117181"/>
            <a:ext cx="106370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FF8F00"/>
                </a:solidFill>
                <a:latin typeface="Arial"/>
                <a:ea typeface="Microsoft YaHei"/>
                <a:cs typeface="Arial"/>
              </a:rPr>
              <a:t>三维解释信息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939165" y="4411028"/>
            <a:ext cx="127649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1. 适应症匹配详情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939165" y="4649152"/>
            <a:ext cx="240363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2. 安全性分析（禁忌/交互/妊娠）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939165" y="4887278"/>
            <a:ext cx="116147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3. 推荐理由说明</a:t>
            </a:r>
          </a:p>
        </p:txBody>
      </p:sp>
      <p:sp>
        <p:nvSpPr>
          <p:cNvPr id="35" name="Rectangle 35"/>
          <p:cNvSpPr/>
          <p:nvPr/>
        </p:nvSpPr>
        <p:spPr>
          <a:xfrm>
            <a:off x="952500" y="5238750"/>
            <a:ext cx="4857750" cy="285750"/>
          </a:xfrm>
          <a:prstGeom prst="roundRect">
            <a:avLst>
              <a:gd name="adj" fmla="val 20000"/>
            </a:avLst>
          </a:prstGeom>
          <a:solidFill>
            <a:srgbClr val="FF8F00">
              <a:alpha val="6000"/>
            </a:srgbClr>
          </a:solidFill>
          <a:ln>
            <a:noFill/>
          </a:ln>
        </p:spPr>
      </p:sp>
      <p:sp>
        <p:nvSpPr>
          <p:cNvPr id="36" name="TextBox 36"/>
          <p:cNvSpPr txBox="1"/>
          <p:nvPr/>
        </p:nvSpPr>
        <p:spPr>
          <a:xfrm>
            <a:off x="1938028" y="5325428"/>
            <a:ext cx="288669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FF8F00"/>
                </a:solidFill>
                <a:latin typeface="Arial"/>
                <a:ea typeface="Microsoft YaHei"/>
                <a:cs typeface="Arial"/>
              </a:rPr>
              <a:t>ClinicalMatcher标准化匹配，准确率95%+</a:t>
            </a:r>
          </a:p>
        </p:txBody>
      </p:sp>
      <p:sp>
        <p:nvSpPr>
          <p:cNvPr id="37" name="Rectangle 37"/>
          <p:cNvSpPr/>
          <p:nvPr/>
        </p:nvSpPr>
        <p:spPr>
          <a:xfrm>
            <a:off x="6191250" y="3571875"/>
            <a:ext cx="5238750" cy="23812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4288">
            <a:solidFill>
              <a:srgbClr val="2E7D32"/>
            </a:solidFill>
          </a:ln>
        </p:spPr>
      </p:sp>
      <p:sp>
        <p:nvSpPr>
          <p:cNvPr id="38" name="Rectangle 38"/>
          <p:cNvSpPr/>
          <p:nvPr/>
        </p:nvSpPr>
        <p:spPr>
          <a:xfrm>
            <a:off x="6191250" y="3571875"/>
            <a:ext cx="5238750" cy="381000"/>
          </a:xfrm>
          <a:prstGeom prst="roundRect">
            <a:avLst>
              <a:gd name="adj" fmla="val 25000"/>
            </a:avLst>
          </a:prstGeom>
          <a:solidFill>
            <a:srgbClr val="2E7D32"/>
          </a:solidFill>
          <a:ln>
            <a:noFill/>
          </a:ln>
        </p:spPr>
      </p:sp>
      <p:sp>
        <p:nvSpPr>
          <p:cNvPr id="39" name="Rectangle 39"/>
          <p:cNvSpPr/>
          <p:nvPr/>
        </p:nvSpPr>
        <p:spPr>
          <a:xfrm>
            <a:off x="6191250" y="3876675"/>
            <a:ext cx="5238750" cy="76200"/>
          </a:xfrm>
          <a:prstGeom prst="rect">
            <a:avLst/>
          </a:prstGeom>
          <a:solidFill>
            <a:srgbClr val="2E7D32"/>
          </a:solidFill>
          <a:ln>
            <a:noFill/>
          </a:ln>
        </p:spPr>
      </p:sp>
      <p:sp>
        <p:nvSpPr>
          <p:cNvPr id="40" name="TextBox 40"/>
          <p:cNvSpPr txBox="1"/>
          <p:nvPr/>
        </p:nvSpPr>
        <p:spPr>
          <a:xfrm>
            <a:off x="6366510" y="3699510"/>
            <a:ext cx="131864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全字段中文翻译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6367462" y="4117181"/>
            <a:ext cx="106370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2E7D32"/>
                </a:solidFill>
                <a:latin typeface="Arial"/>
                <a:ea typeface="Microsoft YaHei"/>
                <a:cs typeface="Arial"/>
              </a:rPr>
              <a:t>双语翻译管线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6368415" y="4411028"/>
            <a:ext cx="235762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drug_translator — 药物名 EN→CN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6368415" y="4649152"/>
            <a:ext cx="228861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translation_mapper — 统一映射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6368415" y="4887278"/>
            <a:ext cx="238063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disease_mapper — 中文疾病→英文</a:t>
            </a:r>
          </a:p>
        </p:txBody>
      </p:sp>
      <p:sp>
        <p:nvSpPr>
          <p:cNvPr id="45" name="Rectangle 45"/>
          <p:cNvSpPr/>
          <p:nvPr/>
        </p:nvSpPr>
        <p:spPr>
          <a:xfrm>
            <a:off x="6381750" y="5238750"/>
            <a:ext cx="4857750" cy="285750"/>
          </a:xfrm>
          <a:prstGeom prst="roundRect">
            <a:avLst>
              <a:gd name="adj" fmla="val 20000"/>
            </a:avLst>
          </a:prstGeom>
          <a:solidFill>
            <a:srgbClr val="2E7D32">
              <a:alpha val="6000"/>
            </a:srgbClr>
          </a:solidFill>
          <a:ln>
            <a:noFill/>
          </a:ln>
        </p:spPr>
      </p:sp>
      <p:sp>
        <p:nvSpPr>
          <p:cNvPr id="46" name="TextBox 46"/>
          <p:cNvSpPr txBox="1"/>
          <p:nvPr/>
        </p:nvSpPr>
        <p:spPr>
          <a:xfrm>
            <a:off x="7635645" y="5325428"/>
            <a:ext cx="234996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2E7D32"/>
                </a:solidFill>
                <a:latin typeface="Arial"/>
                <a:ea typeface="Microsoft YaHei"/>
                <a:cs typeface="Arial"/>
              </a:rPr>
              <a:t>推荐结果同时返回中文 + 英文名称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11273980" y="6522720"/>
            <a:ext cx="16744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0A4AE"/>
                </a:solidFill>
                <a:latin typeface="Arial"/>
                <a:ea typeface="Microsoft YaHei"/>
                <a:cs typeface="Arial"/>
              </a:rPr>
              <a:t>09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gradFill>
            <a:gsLst>
              <a:gs pos="0">
                <a:srgbClr val="00796B"/>
              </a:gs>
              <a:gs pos="100000">
                <a:srgbClr val="1565C0"/>
              </a:gs>
            </a:gsLst>
            <a:lin ang="0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29615" y="296228"/>
            <a:ext cx="2411063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1A1A2E"/>
                </a:solidFill>
                <a:latin typeface="Georgia"/>
                <a:ea typeface="KaiTi"/>
                <a:cs typeface="Georgia"/>
              </a:rPr>
              <a:t>系统界面展示</a:t>
            </a:r>
          </a:p>
        </p:txBody>
      </p:sp>
      <p:sp>
        <p:nvSpPr>
          <p:cNvPr id="5" name="Rectangle 5"/>
          <p:cNvSpPr/>
          <p:nvPr/>
        </p:nvSpPr>
        <p:spPr>
          <a:xfrm>
            <a:off x="762000" y="685800"/>
            <a:ext cx="1143000" cy="28575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0796B"/>
              </a:gs>
              <a:gs pos="100000">
                <a:srgbClr val="1565C0"/>
              </a:gs>
            </a:gsLst>
            <a:lin ang="0" scaled="1"/>
          </a:gra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762000" y="952500"/>
            <a:ext cx="5238750" cy="2381250"/>
          </a:xfrm>
          <a:prstGeom prst="roundRect">
            <a:avLst>
              <a:gd name="adj" fmla="val 3200"/>
            </a:avLst>
          </a:prstGeom>
          <a:solidFill>
            <a:srgbClr val="F5F7FA"/>
          </a:solidFill>
          <a:ln w="9525">
            <a:solidFill>
              <a:srgbClr val="E0E0E0"/>
            </a:solidFill>
          </a:ln>
        </p:spPr>
      </p:sp>
      <p:pic>
        <p:nvPicPr>
          <p:cNvPr id="7" name="Image 7"/>
          <p:cNvPicPr>
            <a:picLocks noChangeAspect="1"/>
          </p:cNvPicPr>
          <p:nvPr/>
        </p:nvPicPr>
        <p:blipFill>
          <a:blip r:embed="rId2"/>
          <a:srcRect l="0" t="14356" r="0" b="14356"/>
          <a:stretch>
            <a:fillRect/>
          </a:stretch>
        </p:blipFill>
        <p:spPr>
          <a:xfrm>
            <a:off x="762000" y="952500"/>
            <a:ext cx="5238750" cy="2381250"/>
          </a:xfrm>
          <a:prstGeom prst="roundRect">
            <a:avLst>
              <a:gd name="adj" fmla="val 3200"/>
            </a:avLst>
          </a:prstGeom>
        </p:spPr>
      </p:pic>
      <p:sp>
        <p:nvSpPr>
          <p:cNvPr id="8" name="Rectangle 8"/>
          <p:cNvSpPr/>
          <p:nvPr/>
        </p:nvSpPr>
        <p:spPr>
          <a:xfrm>
            <a:off x="762000" y="952500"/>
            <a:ext cx="5238750" cy="2381250"/>
          </a:xfrm>
          <a:prstGeom prst="roundRect">
            <a:avLst>
              <a:gd name="adj" fmla="val 3200"/>
            </a:avLst>
          </a:prstGeom>
          <a:noFill/>
          <a:ln w="9525">
            <a:solidFill>
              <a:srgbClr val="E0E0E0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57250" y="3143250"/>
            <a:ext cx="5048250" cy="228600"/>
          </a:xfrm>
          <a:prstGeom prst="roundRect">
            <a:avLst>
              <a:gd name="adj" fmla="val 16667"/>
            </a:avLst>
          </a:prstGeom>
          <a:solidFill>
            <a:srgbClr val="FFFFFF">
              <a:alpha val="90000"/>
            </a:srgbClr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940118" y="3209449"/>
            <a:ext cx="92187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1A1A2E"/>
                </a:solidFill>
                <a:latin typeface="Arial"/>
                <a:ea typeface="Microsoft YaHei"/>
                <a:cs typeface="Arial"/>
              </a:rPr>
              <a:t>推荐审核页面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036445" y="3217545"/>
            <a:ext cx="203396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待审核列表 + 审核面板 + 安全标签</a:t>
            </a:r>
          </a:p>
        </p:txBody>
      </p:sp>
      <p:sp>
        <p:nvSpPr>
          <p:cNvPr id="12" name="Rectangle 12"/>
          <p:cNvSpPr/>
          <p:nvPr/>
        </p:nvSpPr>
        <p:spPr>
          <a:xfrm>
            <a:off x="6191250" y="952500"/>
            <a:ext cx="5238750" cy="2381250"/>
          </a:xfrm>
          <a:prstGeom prst="roundRect">
            <a:avLst>
              <a:gd name="adj" fmla="val 3200"/>
            </a:avLst>
          </a:prstGeom>
          <a:solidFill>
            <a:srgbClr val="F5F7FA"/>
          </a:solidFill>
          <a:ln w="9525">
            <a:solidFill>
              <a:srgbClr val="E0E0E0"/>
            </a:solidFill>
          </a:ln>
        </p:spPr>
      </p:sp>
      <p:pic>
        <p:nvPicPr>
          <p:cNvPr id="13" name="Image 13"/>
          <p:cNvPicPr>
            <a:picLocks noChangeAspect="1"/>
          </p:cNvPicPr>
          <p:nvPr/>
        </p:nvPicPr>
        <p:blipFill>
          <a:blip r:embed="rId3"/>
          <a:srcRect l="0" t="19371" r="0" b="19371"/>
          <a:stretch>
            <a:fillRect/>
          </a:stretch>
        </p:blipFill>
        <p:spPr>
          <a:xfrm>
            <a:off x="6191250" y="952500"/>
            <a:ext cx="5238750" cy="2381250"/>
          </a:xfrm>
          <a:prstGeom prst="roundRect">
            <a:avLst>
              <a:gd name="adj" fmla="val 3200"/>
            </a:avLst>
          </a:prstGeom>
        </p:spPr>
      </p:pic>
      <p:sp>
        <p:nvSpPr>
          <p:cNvPr id="14" name="Rectangle 14"/>
          <p:cNvSpPr/>
          <p:nvPr/>
        </p:nvSpPr>
        <p:spPr>
          <a:xfrm>
            <a:off x="6191250" y="952500"/>
            <a:ext cx="5238750" cy="2381250"/>
          </a:xfrm>
          <a:prstGeom prst="roundRect">
            <a:avLst>
              <a:gd name="adj" fmla="val 3200"/>
            </a:avLst>
          </a:prstGeom>
          <a:noFill/>
          <a:ln w="9525">
            <a:solidFill>
              <a:srgbClr val="E0E0E0"/>
            </a:solidFill>
          </a:ln>
        </p:spPr>
      </p:sp>
      <p:sp>
        <p:nvSpPr>
          <p:cNvPr id="15" name="Rectangle 15"/>
          <p:cNvSpPr/>
          <p:nvPr/>
        </p:nvSpPr>
        <p:spPr>
          <a:xfrm>
            <a:off x="6286500" y="3143250"/>
            <a:ext cx="5048250" cy="228600"/>
          </a:xfrm>
          <a:prstGeom prst="roundRect">
            <a:avLst>
              <a:gd name="adj" fmla="val 16667"/>
            </a:avLst>
          </a:prstGeom>
          <a:solidFill>
            <a:srgbClr val="FFFFFF">
              <a:alpha val="90000"/>
            </a:srgbClr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6369368" y="3209449"/>
            <a:ext cx="92187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1A1A2E"/>
                </a:solidFill>
                <a:latin typeface="Arial"/>
                <a:ea typeface="Microsoft YaHei"/>
                <a:cs typeface="Arial"/>
              </a:rPr>
              <a:t>隐私配置页面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465695" y="3217545"/>
            <a:ext cx="185651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ε/δ参数 + 效用权衡 + 预算管理</a:t>
            </a:r>
          </a:p>
        </p:txBody>
      </p:sp>
      <p:sp>
        <p:nvSpPr>
          <p:cNvPr id="18" name="Rectangle 18"/>
          <p:cNvSpPr/>
          <p:nvPr/>
        </p:nvSpPr>
        <p:spPr>
          <a:xfrm>
            <a:off x="762000" y="3571875"/>
            <a:ext cx="5238750" cy="2381250"/>
          </a:xfrm>
          <a:prstGeom prst="roundRect">
            <a:avLst>
              <a:gd name="adj" fmla="val 3200"/>
            </a:avLst>
          </a:prstGeom>
          <a:solidFill>
            <a:srgbClr val="F5F7FA"/>
          </a:solidFill>
          <a:ln w="9525">
            <a:solidFill>
              <a:srgbClr val="E0E0E0"/>
            </a:solidFill>
          </a:ln>
        </p:spPr>
      </p:sp>
      <p:pic>
        <p:nvPicPr>
          <p:cNvPr id="19" name="Image 19"/>
          <p:cNvPicPr>
            <a:picLocks noChangeAspect="1"/>
          </p:cNvPicPr>
          <p:nvPr/>
        </p:nvPicPr>
        <p:blipFill>
          <a:blip r:embed="rId4"/>
          <a:srcRect l="0" t="20922" r="0" b="20922"/>
          <a:stretch>
            <a:fillRect/>
          </a:stretch>
        </p:blipFill>
        <p:spPr>
          <a:xfrm>
            <a:off x="762000" y="3571875"/>
            <a:ext cx="5238750" cy="2381250"/>
          </a:xfrm>
          <a:prstGeom prst="roundRect">
            <a:avLst>
              <a:gd name="adj" fmla="val 3200"/>
            </a:avLst>
          </a:prstGeom>
        </p:spPr>
      </p:pic>
      <p:sp>
        <p:nvSpPr>
          <p:cNvPr id="20" name="Rectangle 20"/>
          <p:cNvSpPr/>
          <p:nvPr/>
        </p:nvSpPr>
        <p:spPr>
          <a:xfrm>
            <a:off x="762000" y="3571875"/>
            <a:ext cx="5238750" cy="2381250"/>
          </a:xfrm>
          <a:prstGeom prst="roundRect">
            <a:avLst>
              <a:gd name="adj" fmla="val 3200"/>
            </a:avLst>
          </a:prstGeom>
          <a:noFill/>
          <a:ln w="9525">
            <a:solidFill>
              <a:srgbClr val="E0E0E0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857250" y="5762625"/>
            <a:ext cx="5048250" cy="228600"/>
          </a:xfrm>
          <a:prstGeom prst="roundRect">
            <a:avLst>
              <a:gd name="adj" fmla="val 16667"/>
            </a:avLst>
          </a:prstGeom>
          <a:solidFill>
            <a:srgbClr val="FFFFFF">
              <a:alpha val="90000"/>
            </a:srgbClr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940118" y="5828824"/>
            <a:ext cx="107139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1A1A2E"/>
                </a:solidFill>
                <a:latin typeface="Arial"/>
                <a:ea typeface="Microsoft YaHei"/>
                <a:cs typeface="Arial"/>
              </a:rPr>
              <a:t>推荐统计仪表板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2150745" y="5836920"/>
            <a:ext cx="157391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趋势图 + Top10 + 安全分层</a:t>
            </a:r>
          </a:p>
        </p:txBody>
      </p:sp>
      <p:sp>
        <p:nvSpPr>
          <p:cNvPr id="24" name="Rectangle 24"/>
          <p:cNvSpPr/>
          <p:nvPr/>
        </p:nvSpPr>
        <p:spPr>
          <a:xfrm>
            <a:off x="6191250" y="3571875"/>
            <a:ext cx="5238750" cy="2381250"/>
          </a:xfrm>
          <a:prstGeom prst="roundRect">
            <a:avLst>
              <a:gd name="adj" fmla="val 3200"/>
            </a:avLst>
          </a:prstGeom>
          <a:solidFill>
            <a:srgbClr val="F5F7FA"/>
          </a:solidFill>
          <a:ln w="9525">
            <a:solidFill>
              <a:srgbClr val="E0E0E0"/>
            </a:solidFill>
          </a:ln>
        </p:spPr>
      </p:sp>
      <p:pic>
        <p:nvPicPr>
          <p:cNvPr id="25" name="Image 25"/>
          <p:cNvPicPr>
            <a:picLocks noChangeAspect="1"/>
          </p:cNvPicPr>
          <p:nvPr/>
        </p:nvPicPr>
        <p:blipFill>
          <a:blip r:embed="rId5"/>
          <a:srcRect l="0" t="21851" r="0" b="21851"/>
          <a:stretch>
            <a:fillRect/>
          </a:stretch>
        </p:blipFill>
        <p:spPr>
          <a:xfrm>
            <a:off x="6191250" y="3571875"/>
            <a:ext cx="5238750" cy="2381250"/>
          </a:xfrm>
          <a:prstGeom prst="roundRect">
            <a:avLst>
              <a:gd name="adj" fmla="val 3200"/>
            </a:avLst>
          </a:prstGeom>
        </p:spPr>
      </p:pic>
      <p:sp>
        <p:nvSpPr>
          <p:cNvPr id="26" name="Rectangle 26"/>
          <p:cNvSpPr/>
          <p:nvPr/>
        </p:nvSpPr>
        <p:spPr>
          <a:xfrm>
            <a:off x="6191250" y="3571875"/>
            <a:ext cx="5238750" cy="2381250"/>
          </a:xfrm>
          <a:prstGeom prst="roundRect">
            <a:avLst>
              <a:gd name="adj" fmla="val 3200"/>
            </a:avLst>
          </a:prstGeom>
          <a:noFill/>
          <a:ln w="9525">
            <a:solidFill>
              <a:srgbClr val="E0E0E0"/>
            </a:solidFill>
          </a:ln>
        </p:spPr>
      </p:sp>
      <p:sp>
        <p:nvSpPr>
          <p:cNvPr id="27" name="Rectangle 27"/>
          <p:cNvSpPr/>
          <p:nvPr/>
        </p:nvSpPr>
        <p:spPr>
          <a:xfrm>
            <a:off x="6286500" y="5762625"/>
            <a:ext cx="5048250" cy="228600"/>
          </a:xfrm>
          <a:prstGeom prst="roundRect">
            <a:avLst>
              <a:gd name="adj" fmla="val 16667"/>
            </a:avLst>
          </a:prstGeom>
          <a:solidFill>
            <a:srgbClr val="FFFFFF">
              <a:alpha val="90000"/>
            </a:srgbClr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6369368" y="5828824"/>
            <a:ext cx="62284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1A1A2E"/>
                </a:solidFill>
                <a:latin typeface="Arial"/>
                <a:ea typeface="Microsoft YaHei"/>
                <a:cs typeface="Arial"/>
              </a:rPr>
              <a:t>系统首页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7179945" y="5836920"/>
            <a:ext cx="148847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核心指标 + 功能模块卡片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1306842" y="6522720"/>
            <a:ext cx="13458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0A4AE"/>
                </a:solidFill>
                <a:latin typeface="Arial"/>
                <a:ea typeface="Microsoft YaHei"/>
                <a:cs typeface="Arial"/>
              </a:rPr>
              <a:t>10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gradFill>
            <a:gsLst>
              <a:gs pos="0">
                <a:srgbClr val="00796B"/>
              </a:gs>
              <a:gs pos="100000">
                <a:srgbClr val="1565C0"/>
              </a:gs>
            </a:gsLst>
            <a:lin ang="0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29615" y="248602"/>
            <a:ext cx="2802112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1A1A2E"/>
                </a:solidFill>
                <a:latin typeface="Georgia"/>
                <a:ea typeface="KaiTi"/>
                <a:cs typeface="Georgia"/>
              </a:rPr>
              <a:t>实验与测试结果</a:t>
            </a:r>
          </a:p>
        </p:txBody>
      </p:sp>
      <p:sp>
        <p:nvSpPr>
          <p:cNvPr id="5" name="Rectangle 5"/>
          <p:cNvSpPr/>
          <p:nvPr/>
        </p:nvSpPr>
        <p:spPr>
          <a:xfrm>
            <a:off x="762000" y="638175"/>
            <a:ext cx="1143000" cy="28575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0796B"/>
              </a:gs>
              <a:gs pos="100000">
                <a:srgbClr val="1565C0"/>
              </a:gs>
            </a:gsLst>
            <a:lin ang="0" scaled="1"/>
          </a:gra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762000" y="904875"/>
            <a:ext cx="2571750" cy="123825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4288">
            <a:solidFill>
              <a:srgbClr val="C62828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762000" y="904875"/>
            <a:ext cx="38100" cy="1238250"/>
          </a:xfrm>
          <a:prstGeom prst="roundRect">
            <a:avLst>
              <a:gd name="adj" fmla="val 50000"/>
            </a:avLst>
          </a:prstGeom>
          <a:solidFill>
            <a:srgbClr val="C62828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939165" y="1048702"/>
            <a:ext cx="128262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C62828"/>
                </a:solidFill>
                <a:latin typeface="Arial"/>
                <a:ea typeface="Microsoft YaHei"/>
                <a:cs typeface="Arial"/>
              </a:rPr>
              <a:t>ε=0.1 准确率下降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12495" y="1279208"/>
            <a:ext cx="1021978" cy="640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1A1A2E"/>
                </a:solidFill>
                <a:latin typeface="Arial"/>
                <a:ea typeface="Microsoft YaHei"/>
                <a:cs typeface="Arial"/>
              </a:rPr>
              <a:t>~10%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40118" y="1799749"/>
            <a:ext cx="116395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0A4AE"/>
                </a:solidFill>
                <a:latin typeface="Arial"/>
                <a:ea typeface="Microsoft YaHei"/>
                <a:cs typeface="Arial"/>
              </a:rPr>
              <a:t>隐私保护代价可控</a:t>
            </a:r>
          </a:p>
        </p:txBody>
      </p:sp>
      <p:sp>
        <p:nvSpPr>
          <p:cNvPr id="11" name="Rectangle 11"/>
          <p:cNvSpPr/>
          <p:nvPr/>
        </p:nvSpPr>
        <p:spPr>
          <a:xfrm>
            <a:off x="3524250" y="904875"/>
            <a:ext cx="2571750" cy="123825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4288">
            <a:solidFill>
              <a:srgbClr val="1565C0"/>
            </a:solidFill>
          </a:ln>
        </p:spPr>
      </p:sp>
      <p:sp>
        <p:nvSpPr>
          <p:cNvPr id="12" name="Rectangle 12"/>
          <p:cNvSpPr/>
          <p:nvPr/>
        </p:nvSpPr>
        <p:spPr>
          <a:xfrm>
            <a:off x="3524250" y="904875"/>
            <a:ext cx="38100" cy="1238250"/>
          </a:xfrm>
          <a:prstGeom prst="roundRect">
            <a:avLst>
              <a:gd name="adj" fmla="val 50000"/>
            </a:avLst>
          </a:prstGeom>
          <a:solidFill>
            <a:srgbClr val="1565C0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3701415" y="1048702"/>
            <a:ext cx="84787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DP性能开销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674745" y="1279208"/>
            <a:ext cx="1239355" cy="640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1A1A2E"/>
                </a:solidFill>
                <a:latin typeface="Arial"/>
                <a:ea typeface="Microsoft YaHei"/>
                <a:cs typeface="Arial"/>
              </a:rPr>
              <a:t>~5ms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702368" y="1799749"/>
            <a:ext cx="116395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0A4AE"/>
                </a:solidFill>
                <a:latin typeface="Arial"/>
                <a:ea typeface="Microsoft YaHei"/>
                <a:cs typeface="Arial"/>
              </a:rPr>
              <a:t>噪声注入额外耗时</a:t>
            </a:r>
          </a:p>
        </p:txBody>
      </p:sp>
      <p:sp>
        <p:nvSpPr>
          <p:cNvPr id="16" name="Rectangle 16"/>
          <p:cNvSpPr/>
          <p:nvPr/>
        </p:nvSpPr>
        <p:spPr>
          <a:xfrm>
            <a:off x="6286500" y="904875"/>
            <a:ext cx="2571750" cy="123825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4288">
            <a:solidFill>
              <a:srgbClr val="00796B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6286500" y="904875"/>
            <a:ext cx="38100" cy="1238250"/>
          </a:xfrm>
          <a:prstGeom prst="roundRect">
            <a:avLst>
              <a:gd name="adj" fmla="val 50000"/>
            </a:avLst>
          </a:prstGeom>
          <a:solidFill>
            <a:srgbClr val="00796B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6463665" y="1048702"/>
            <a:ext cx="99279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00796B"/>
                </a:solidFill>
                <a:latin typeface="Arial"/>
                <a:ea typeface="Microsoft YaHei"/>
                <a:cs typeface="Arial"/>
              </a:rPr>
              <a:t>推荐响应时间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436995" y="1279208"/>
            <a:ext cx="877060" cy="640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1A1A2E"/>
                </a:solidFill>
                <a:latin typeface="Arial"/>
                <a:ea typeface="Microsoft YaHei"/>
                <a:cs typeface="Arial"/>
              </a:rPr>
              <a:t>&lt;2s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464618" y="1799749"/>
            <a:ext cx="139891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0A4AE"/>
                </a:solidFill>
                <a:latin typeface="Arial"/>
                <a:ea typeface="Microsoft YaHei"/>
                <a:cs typeface="Arial"/>
              </a:rPr>
              <a:t>含四层架构+DP全流程</a:t>
            </a:r>
          </a:p>
        </p:txBody>
      </p:sp>
      <p:sp>
        <p:nvSpPr>
          <p:cNvPr id="21" name="Rectangle 21"/>
          <p:cNvSpPr/>
          <p:nvPr/>
        </p:nvSpPr>
        <p:spPr>
          <a:xfrm>
            <a:off x="9048750" y="904875"/>
            <a:ext cx="2571750" cy="123825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4288">
            <a:solidFill>
              <a:srgbClr val="FF8F00"/>
            </a:solidFill>
          </a:ln>
        </p:spPr>
      </p:sp>
      <p:sp>
        <p:nvSpPr>
          <p:cNvPr id="22" name="Rectangle 22"/>
          <p:cNvSpPr/>
          <p:nvPr/>
        </p:nvSpPr>
        <p:spPr>
          <a:xfrm>
            <a:off x="9048750" y="904875"/>
            <a:ext cx="38100" cy="1238250"/>
          </a:xfrm>
          <a:prstGeom prst="roundRect">
            <a:avLst>
              <a:gd name="adj" fmla="val 50000"/>
            </a:avLst>
          </a:prstGeom>
          <a:solidFill>
            <a:srgbClr val="FF8F00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9225915" y="1048702"/>
            <a:ext cx="99279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F8F00"/>
                </a:solidFill>
                <a:latin typeface="Arial"/>
                <a:ea typeface="Microsoft YaHei"/>
                <a:cs typeface="Arial"/>
              </a:rPr>
              <a:t>药物候选规模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9199245" y="1279208"/>
            <a:ext cx="1021978" cy="640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1A1A2E"/>
                </a:solidFill>
                <a:latin typeface="Arial"/>
                <a:ea typeface="Microsoft YaHei"/>
                <a:cs typeface="Arial"/>
              </a:rPr>
              <a:t>1807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9226868" y="1799749"/>
            <a:ext cx="102155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0A4AE"/>
                </a:solidFill>
                <a:latin typeface="Arial"/>
                <a:ea typeface="Microsoft YaHei"/>
                <a:cs typeface="Arial"/>
              </a:rPr>
              <a:t>种药物实时推荐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744855" y="2330768"/>
            <a:ext cx="183541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A1A2E"/>
                </a:solidFill>
                <a:latin typeface="Georgia"/>
                <a:ea typeface="KaiTi"/>
                <a:cs typeface="Georgia"/>
              </a:rPr>
              <a:t>隐私预算 vs 准确率</a:t>
            </a:r>
          </a:p>
        </p:txBody>
      </p:sp>
      <p:sp>
        <p:nvSpPr>
          <p:cNvPr id="27" name="Rectangle 27"/>
          <p:cNvSpPr/>
          <p:nvPr/>
        </p:nvSpPr>
        <p:spPr>
          <a:xfrm>
            <a:off x="762000" y="2647950"/>
            <a:ext cx="5143500" cy="13335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</p:spPr>
      </p:sp>
      <p:sp>
        <p:nvSpPr>
          <p:cNvPr id="28" name="Rectangle 28"/>
          <p:cNvSpPr/>
          <p:nvPr/>
        </p:nvSpPr>
        <p:spPr>
          <a:xfrm>
            <a:off x="762000" y="2647950"/>
            <a:ext cx="5143500" cy="285750"/>
          </a:xfrm>
          <a:prstGeom prst="roundRect">
            <a:avLst>
              <a:gd name="adj" fmla="val 26667"/>
            </a:avLst>
          </a:prstGeom>
          <a:solidFill>
            <a:srgbClr val="00796B">
              <a:alpha val="8000"/>
            </a:srgbClr>
          </a:solidFill>
          <a:ln>
            <a:noFill/>
          </a:ln>
        </p:spPr>
      </p:sp>
      <p:sp>
        <p:nvSpPr>
          <p:cNvPr id="29" name="Rectangle 29"/>
          <p:cNvSpPr/>
          <p:nvPr/>
        </p:nvSpPr>
        <p:spPr>
          <a:xfrm>
            <a:off x="762000" y="2857500"/>
            <a:ext cx="5143500" cy="76200"/>
          </a:xfrm>
          <a:prstGeom prst="rect">
            <a:avLst/>
          </a:prstGeom>
          <a:solidFill>
            <a:srgbClr val="00796B">
              <a:alpha val="8000"/>
            </a:srgbClr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1373313" y="2733199"/>
            <a:ext cx="30137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00796B"/>
                </a:solidFill>
                <a:latin typeface="Arial"/>
                <a:ea typeface="Microsoft YaHei"/>
                <a:cs typeface="Arial"/>
              </a:rPr>
              <a:t>ε 值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2566571" y="2733199"/>
            <a:ext cx="77235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00796B"/>
                </a:solidFill>
                <a:latin typeface="Arial"/>
                <a:ea typeface="Microsoft YaHei"/>
                <a:cs typeface="Arial"/>
              </a:rPr>
              <a:t>准确率下降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4206311" y="2733199"/>
            <a:ext cx="92187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00796B"/>
                </a:solidFill>
                <a:latin typeface="Arial"/>
                <a:ea typeface="Microsoft YaHei"/>
                <a:cs typeface="Arial"/>
              </a:rPr>
              <a:t>隐私保护强度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403318" y="3029902"/>
            <a:ext cx="24136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1A1A2E"/>
                </a:solidFill>
                <a:latin typeface="Consolas"/>
                <a:ea typeface="Microsoft YaHei"/>
                <a:cs typeface="Consolas"/>
              </a:rPr>
              <a:t>1.0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2812899" y="3029902"/>
            <a:ext cx="27970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2E7D32"/>
                </a:solidFill>
                <a:latin typeface="Arial"/>
                <a:ea typeface="Microsoft YaHei"/>
                <a:cs typeface="Arial"/>
              </a:rPr>
              <a:t>~2%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4577239" y="3029902"/>
            <a:ext cx="18002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弱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384149" y="3315652"/>
            <a:ext cx="27970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1A1A2E"/>
                </a:solidFill>
                <a:latin typeface="Consolas"/>
                <a:ea typeface="Microsoft YaHei"/>
                <a:cs typeface="Consolas"/>
              </a:rPr>
              <a:t>0.5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2812899" y="3315652"/>
            <a:ext cx="27970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FF8F00"/>
                </a:solidFill>
                <a:latin typeface="Arial"/>
                <a:ea typeface="Microsoft YaHei"/>
                <a:cs typeface="Arial"/>
              </a:rPr>
              <a:t>~5%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4577239" y="3315652"/>
            <a:ext cx="18002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中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403318" y="3601402"/>
            <a:ext cx="24136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1A1A2E"/>
                </a:solidFill>
                <a:latin typeface="Consolas"/>
                <a:ea typeface="Microsoft YaHei"/>
                <a:cs typeface="Consolas"/>
              </a:rPr>
              <a:t>0.1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2789896" y="3601402"/>
            <a:ext cx="32570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C62828"/>
                </a:solidFill>
                <a:latin typeface="Arial"/>
                <a:ea typeface="Microsoft YaHei"/>
                <a:cs typeface="Arial"/>
              </a:rPr>
              <a:t>~10%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4577239" y="3601402"/>
            <a:ext cx="18002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强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6269355" y="2330768"/>
            <a:ext cx="127644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A1A2E"/>
                </a:solidFill>
                <a:latin typeface="Georgia"/>
                <a:ea typeface="KaiTi"/>
                <a:cs typeface="Georgia"/>
              </a:rPr>
              <a:t>安全数据覆盖</a:t>
            </a:r>
          </a:p>
        </p:txBody>
      </p:sp>
      <p:sp>
        <p:nvSpPr>
          <p:cNvPr id="43" name="Rectangle 43"/>
          <p:cNvSpPr/>
          <p:nvPr/>
        </p:nvSpPr>
        <p:spPr>
          <a:xfrm>
            <a:off x="6286500" y="2647950"/>
            <a:ext cx="5143500" cy="13335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</p:spPr>
      </p:sp>
      <p:sp>
        <p:nvSpPr>
          <p:cNvPr id="44" name="Rectangle 44"/>
          <p:cNvSpPr/>
          <p:nvPr/>
        </p:nvSpPr>
        <p:spPr>
          <a:xfrm>
            <a:off x="6286500" y="2647950"/>
            <a:ext cx="5143500" cy="285750"/>
          </a:xfrm>
          <a:prstGeom prst="roundRect">
            <a:avLst>
              <a:gd name="adj" fmla="val 26667"/>
            </a:avLst>
          </a:prstGeom>
          <a:solidFill>
            <a:srgbClr val="1565C0">
              <a:alpha val="8000"/>
            </a:srgbClr>
          </a:solidFill>
          <a:ln>
            <a:noFill/>
          </a:ln>
        </p:spPr>
      </p:sp>
      <p:sp>
        <p:nvSpPr>
          <p:cNvPr id="45" name="Rectangle 45"/>
          <p:cNvSpPr/>
          <p:nvPr/>
        </p:nvSpPr>
        <p:spPr>
          <a:xfrm>
            <a:off x="6286500" y="2857500"/>
            <a:ext cx="5143500" cy="76200"/>
          </a:xfrm>
          <a:prstGeom prst="rect">
            <a:avLst/>
          </a:prstGeom>
          <a:solidFill>
            <a:srgbClr val="1565C0">
              <a:alpha val="8000"/>
            </a:srgbClr>
          </a:solidFill>
          <a:ln>
            <a:noFill/>
          </a:ln>
        </p:spPr>
      </p:sp>
      <p:sp>
        <p:nvSpPr>
          <p:cNvPr id="46" name="TextBox 46"/>
          <p:cNvSpPr txBox="1"/>
          <p:nvPr/>
        </p:nvSpPr>
        <p:spPr>
          <a:xfrm>
            <a:off x="7172349" y="2733199"/>
            <a:ext cx="32380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类别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8621589" y="2733199"/>
            <a:ext cx="47332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覆盖率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10315599" y="2733199"/>
            <a:ext cx="32380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数量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7090886" y="3029902"/>
            <a:ext cx="48672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1A1A2E"/>
                </a:solidFill>
                <a:latin typeface="Arial"/>
                <a:ea typeface="Microsoft YaHei"/>
                <a:cs typeface="Arial"/>
              </a:rPr>
              <a:t>禁忌症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8623512" y="3029902"/>
            <a:ext cx="46947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2E7D32"/>
                </a:solidFill>
                <a:latin typeface="Arial"/>
                <a:ea typeface="Microsoft YaHei"/>
                <a:cs typeface="Arial"/>
              </a:rPr>
              <a:t>95.3%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10161294" y="3029902"/>
            <a:ext cx="63241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1831/1815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7014210" y="3315652"/>
            <a:ext cx="6400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1A1A2E"/>
                </a:solidFill>
                <a:latin typeface="Arial"/>
                <a:ea typeface="Microsoft YaHei"/>
                <a:cs typeface="Arial"/>
              </a:rPr>
              <a:t>药物交互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8643640" y="3315652"/>
            <a:ext cx="42922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8F00"/>
                </a:solidFill>
                <a:latin typeface="Arial"/>
                <a:ea typeface="Microsoft YaHei"/>
                <a:cs typeface="Arial"/>
              </a:rPr>
              <a:t>81.5%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10142125" y="3315652"/>
            <a:ext cx="67075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1480/1815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6860858" y="3601402"/>
            <a:ext cx="94678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1A1A2E"/>
                </a:solidFill>
                <a:latin typeface="Arial"/>
                <a:ea typeface="Microsoft YaHei"/>
                <a:cs typeface="Arial"/>
              </a:rPr>
              <a:t>任意安全数据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8623512" y="3601402"/>
            <a:ext cx="46947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2E7D32"/>
                </a:solidFill>
                <a:latin typeface="Arial"/>
                <a:ea typeface="Microsoft YaHei"/>
                <a:cs typeface="Arial"/>
              </a:rPr>
              <a:t>97.0%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10157460" y="3601402"/>
            <a:ext cx="6400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总体覆盖</a:t>
            </a:r>
          </a:p>
        </p:txBody>
      </p:sp>
      <p:sp>
        <p:nvSpPr>
          <p:cNvPr id="58" name="Rectangle 58"/>
          <p:cNvSpPr/>
          <p:nvPr/>
        </p:nvSpPr>
        <p:spPr>
          <a:xfrm>
            <a:off x="762000" y="4191000"/>
            <a:ext cx="10668000" cy="2000250"/>
          </a:xfrm>
          <a:prstGeom prst="roundRect">
            <a:avLst>
              <a:gd name="adj" fmla="val 4762"/>
            </a:avLst>
          </a:prstGeom>
          <a:solidFill>
            <a:srgbClr val="F5F7FA"/>
          </a:solidFill>
          <a:ln>
            <a:noFill/>
          </a:ln>
        </p:spPr>
      </p:sp>
      <p:sp>
        <p:nvSpPr>
          <p:cNvPr id="59" name="TextBox 59"/>
          <p:cNvSpPr txBox="1"/>
          <p:nvPr/>
        </p:nvSpPr>
        <p:spPr>
          <a:xfrm>
            <a:off x="935355" y="4350068"/>
            <a:ext cx="127644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A1A2E"/>
                </a:solidFill>
                <a:latin typeface="Georgia"/>
                <a:ea typeface="KaiTi"/>
                <a:cs typeface="Georgia"/>
              </a:rPr>
              <a:t>其他关键指标</a:t>
            </a:r>
          </a:p>
        </p:txBody>
      </p:sp>
      <p:sp>
        <p:nvSpPr>
          <p:cNvPr id="60" name="Rectangle 60"/>
          <p:cNvSpPr/>
          <p:nvPr/>
        </p:nvSpPr>
        <p:spPr>
          <a:xfrm>
            <a:off x="952500" y="4667250"/>
            <a:ext cx="2381250" cy="66675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</p:spPr>
      </p:sp>
      <p:sp>
        <p:nvSpPr>
          <p:cNvPr id="61" name="TextBox 61"/>
          <p:cNvSpPr txBox="1"/>
          <p:nvPr/>
        </p:nvSpPr>
        <p:spPr>
          <a:xfrm>
            <a:off x="1673650" y="4707255"/>
            <a:ext cx="938951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rgbClr val="00796B"/>
                </a:solidFill>
                <a:latin typeface="Arial"/>
                <a:ea typeface="Microsoft YaHei"/>
                <a:cs typeface="Arial"/>
              </a:rPr>
              <a:t>92.5%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1561147" y="5085874"/>
            <a:ext cx="116395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适应症路由覆盖率</a:t>
            </a:r>
          </a:p>
        </p:txBody>
      </p:sp>
      <p:sp>
        <p:nvSpPr>
          <p:cNvPr id="63" name="Rectangle 63"/>
          <p:cNvSpPr/>
          <p:nvPr/>
        </p:nvSpPr>
        <p:spPr>
          <a:xfrm>
            <a:off x="3524250" y="4667250"/>
            <a:ext cx="2381250" cy="66675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</p:spPr>
      </p:sp>
      <p:sp>
        <p:nvSpPr>
          <p:cNvPr id="64" name="TextBox 64"/>
          <p:cNvSpPr txBox="1"/>
          <p:nvPr/>
        </p:nvSpPr>
        <p:spPr>
          <a:xfrm>
            <a:off x="4374216" y="4707255"/>
            <a:ext cx="681318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1295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4061698" y="5085874"/>
            <a:ext cx="130635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种中文疾病输入支持</a:t>
            </a:r>
          </a:p>
        </p:txBody>
      </p:sp>
      <p:sp>
        <p:nvSpPr>
          <p:cNvPr id="66" name="Rectangle 66"/>
          <p:cNvSpPr/>
          <p:nvPr/>
        </p:nvSpPr>
        <p:spPr>
          <a:xfrm>
            <a:off x="6096000" y="4667250"/>
            <a:ext cx="2381250" cy="66675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</p:spPr>
      </p:sp>
      <p:sp>
        <p:nvSpPr>
          <p:cNvPr id="67" name="TextBox 67"/>
          <p:cNvSpPr txBox="1"/>
          <p:nvPr/>
        </p:nvSpPr>
        <p:spPr>
          <a:xfrm>
            <a:off x="6897660" y="4707255"/>
            <a:ext cx="777931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rgbClr val="2E7D32"/>
                </a:solidFill>
                <a:latin typeface="Arial"/>
                <a:ea typeface="Microsoft YaHei"/>
                <a:cs typeface="Arial"/>
              </a:rPr>
              <a:t>12/12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6704648" y="5085874"/>
            <a:ext cx="116395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功能测试全部通过</a:t>
            </a:r>
          </a:p>
        </p:txBody>
      </p:sp>
      <p:sp>
        <p:nvSpPr>
          <p:cNvPr id="69" name="Rectangle 69"/>
          <p:cNvSpPr/>
          <p:nvPr/>
        </p:nvSpPr>
        <p:spPr>
          <a:xfrm>
            <a:off x="8667750" y="4667250"/>
            <a:ext cx="2571750" cy="66675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</p:spPr>
      </p:sp>
      <p:sp>
        <p:nvSpPr>
          <p:cNvPr id="70" name="TextBox 70"/>
          <p:cNvSpPr txBox="1"/>
          <p:nvPr/>
        </p:nvSpPr>
        <p:spPr>
          <a:xfrm>
            <a:off x="9468048" y="4707255"/>
            <a:ext cx="971155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rgbClr val="2E7D32"/>
                </a:solidFill>
                <a:latin typeface="Arial"/>
                <a:ea typeface="Microsoft YaHei"/>
                <a:cs typeface="Arial"/>
              </a:rPr>
              <a:t>0 影响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9001411" y="5085874"/>
            <a:ext cx="190442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SafetyFilter不受DP噪声影响</a:t>
            </a:r>
          </a:p>
        </p:txBody>
      </p:sp>
      <p:sp>
        <p:nvSpPr>
          <p:cNvPr id="72" name="Rectangle 72"/>
          <p:cNvSpPr/>
          <p:nvPr/>
        </p:nvSpPr>
        <p:spPr>
          <a:xfrm>
            <a:off x="952500" y="5524500"/>
            <a:ext cx="10287000" cy="476250"/>
          </a:xfrm>
          <a:prstGeom prst="roundRect">
            <a:avLst>
              <a:gd name="adj" fmla="val 16000"/>
            </a:avLst>
          </a:prstGeom>
          <a:solidFill>
            <a:srgbClr val="00796B">
              <a:alpha val="6000"/>
            </a:srgbClr>
          </a:solidFill>
          <a:ln>
            <a:noFill/>
          </a:ln>
        </p:spPr>
      </p:sp>
      <p:sp>
        <p:nvSpPr>
          <p:cNvPr id="73" name="TextBox 73"/>
          <p:cNvSpPr txBox="1"/>
          <p:nvPr/>
        </p:nvSpPr>
        <p:spPr>
          <a:xfrm>
            <a:off x="1954134" y="5688806"/>
            <a:ext cx="828373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00796B"/>
                </a:solidFill>
                <a:latin typeface="Arial"/>
                <a:ea typeface="Microsoft YaHei"/>
                <a:cs typeface="Arial"/>
              </a:rPr>
              <a:t>核心发现：DP保护不降低模型质量 — DP模型separation(0.85)高于无DP基线(0.75)，更好区分高/低分药物</a:t>
            </a:r>
          </a:p>
        </p:txBody>
      </p:sp>
      <p:sp>
        <p:nvSpPr>
          <p:cNvPr id="74" name="TextBox 74"/>
          <p:cNvSpPr txBox="1"/>
          <p:nvPr/>
        </p:nvSpPr>
        <p:spPr>
          <a:xfrm>
            <a:off x="11339703" y="6522720"/>
            <a:ext cx="10172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0A4AE"/>
                </a:solidFill>
                <a:latin typeface="Arial"/>
                <a:ea typeface="Microsoft YaHei"/>
                <a:cs typeface="Arial"/>
              </a:rPr>
              <a:t>11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gradFill>
            <a:gsLst>
              <a:gs pos="0">
                <a:srgbClr val="00796B"/>
              </a:gs>
              <a:gs pos="100000">
                <a:srgbClr val="1565C0"/>
              </a:gs>
            </a:gsLst>
            <a:lin ang="0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29615" y="296228"/>
            <a:ext cx="2802112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1A1A2E"/>
                </a:solidFill>
                <a:latin typeface="Georgia"/>
                <a:ea typeface="KaiTi"/>
                <a:cs typeface="Georgia"/>
              </a:rPr>
              <a:t>结论与未来工作</a:t>
            </a:r>
          </a:p>
        </p:txBody>
      </p:sp>
      <p:sp>
        <p:nvSpPr>
          <p:cNvPr id="5" name="Rectangle 5"/>
          <p:cNvSpPr/>
          <p:nvPr/>
        </p:nvSpPr>
        <p:spPr>
          <a:xfrm>
            <a:off x="762000" y="685800"/>
            <a:ext cx="1143000" cy="28575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0796B"/>
              </a:gs>
              <a:gs pos="100000">
                <a:srgbClr val="1565C0"/>
              </a:gs>
            </a:gsLst>
            <a:lin ang="0" scaled="1"/>
          </a:gra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741045" y="917258"/>
            <a:ext cx="105403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00796B"/>
                </a:solidFill>
                <a:latin typeface="Georgia"/>
                <a:ea typeface="KaiTi"/>
                <a:cs typeface="Georgia"/>
              </a:rPr>
              <a:t>主要工作</a:t>
            </a:r>
          </a:p>
        </p:txBody>
      </p:sp>
      <p:sp>
        <p:nvSpPr>
          <p:cNvPr id="7" name="Rectangle 7"/>
          <p:cNvSpPr/>
          <p:nvPr/>
        </p:nvSpPr>
        <p:spPr>
          <a:xfrm>
            <a:off x="762000" y="1190625"/>
            <a:ext cx="952500" cy="19050"/>
          </a:xfrm>
          <a:prstGeom prst="rect">
            <a:avLst/>
          </a:prstGeom>
          <a:solidFill>
            <a:srgbClr val="00796B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762000" y="1409700"/>
            <a:ext cx="5334000" cy="11430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4288">
            <a:solidFill>
              <a:srgbClr val="00796B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762000" y="1409700"/>
            <a:ext cx="38100" cy="1143000"/>
          </a:xfrm>
          <a:prstGeom prst="roundRect">
            <a:avLst>
              <a:gd name="adj" fmla="val 50000"/>
            </a:avLst>
          </a:prstGeom>
          <a:solidFill>
            <a:srgbClr val="00796B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983932" y="1557814"/>
            <a:ext cx="1205532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b="1" dirty="0">
                <a:solidFill>
                  <a:srgbClr val="00796B"/>
                </a:solidFill>
                <a:latin typeface="Arial"/>
                <a:ea typeface="Microsoft YaHei"/>
                <a:cs typeface="Arial"/>
              </a:rPr>
              <a:t>四层推荐架构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85838" y="1859756"/>
            <a:ext cx="371725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KnowledgeRouter四级路由 + SafetyFilter硬排除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85838" y="2097881"/>
            <a:ext cx="314217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+ RuleMarker软标记 + DeepFM个性化排序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86790" y="2344102"/>
            <a:ext cx="231929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2E7D32"/>
                </a:solidFill>
                <a:latin typeface="Arial"/>
                <a:ea typeface="Microsoft YaHei"/>
                <a:cs typeface="Arial"/>
              </a:rPr>
              <a:t>→ 确定性安全判断不受DP噪声影响</a:t>
            </a:r>
          </a:p>
        </p:txBody>
      </p:sp>
      <p:sp>
        <p:nvSpPr>
          <p:cNvPr id="14" name="Rectangle 14"/>
          <p:cNvSpPr/>
          <p:nvPr/>
        </p:nvSpPr>
        <p:spPr>
          <a:xfrm>
            <a:off x="762000" y="2724150"/>
            <a:ext cx="5334000" cy="11430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4288">
            <a:solidFill>
              <a:srgbClr val="1565C0"/>
            </a:solidFill>
          </a:ln>
        </p:spPr>
      </p:sp>
      <p:sp>
        <p:nvSpPr>
          <p:cNvPr id="15" name="Rectangle 15"/>
          <p:cNvSpPr/>
          <p:nvPr/>
        </p:nvSpPr>
        <p:spPr>
          <a:xfrm>
            <a:off x="762000" y="2724150"/>
            <a:ext cx="38100" cy="1143000"/>
          </a:xfrm>
          <a:prstGeom prst="roundRect">
            <a:avLst>
              <a:gd name="adj" fmla="val 50000"/>
            </a:avLst>
          </a:prstGeom>
          <a:solidFill>
            <a:srgbClr val="1565C0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983932" y="2872264"/>
            <a:ext cx="2183154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b="1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差分隐私与深度学习融合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85838" y="3174206"/>
            <a:ext cx="411158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临床阈值后处理（低分置零、上限裁剪）+ 双重预算追踪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85838" y="3412331"/>
            <a:ext cx="300251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基于DP后处理定理，安全性不受噪声干扰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86790" y="3658552"/>
            <a:ext cx="191290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2E7D32"/>
                </a:solidFill>
                <a:latin typeface="Arial"/>
                <a:ea typeface="Microsoft YaHei"/>
                <a:cs typeface="Arial"/>
              </a:rPr>
              <a:t>→ ε=0.1时准确率仅下降~10%</a:t>
            </a:r>
          </a:p>
        </p:txBody>
      </p:sp>
      <p:sp>
        <p:nvSpPr>
          <p:cNvPr id="20" name="Rectangle 20"/>
          <p:cNvSpPr/>
          <p:nvPr/>
        </p:nvSpPr>
        <p:spPr>
          <a:xfrm>
            <a:off x="762000" y="4038600"/>
            <a:ext cx="5334000" cy="11430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4288">
            <a:solidFill>
              <a:srgbClr val="FF8F00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762000" y="4038600"/>
            <a:ext cx="38100" cy="1143000"/>
          </a:xfrm>
          <a:prstGeom prst="roundRect">
            <a:avLst>
              <a:gd name="adj" fmla="val 50000"/>
            </a:avLst>
          </a:prstGeom>
          <a:solidFill>
            <a:srgbClr val="FF8F00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983932" y="4186714"/>
            <a:ext cx="2183154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b="1" dirty="0">
                <a:solidFill>
                  <a:srgbClr val="FF8F00"/>
                </a:solidFill>
                <a:latin typeface="Arial"/>
                <a:ea typeface="Microsoft YaHei"/>
                <a:cs typeface="Arial"/>
              </a:rPr>
              <a:t>口语增强与审核反馈闭环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85838" y="4488656"/>
            <a:ext cx="380761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三层Fallback支持1295种中文疾病 + 渐进式惩罚优化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985838" y="4726781"/>
            <a:ext cx="315039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构建从患者口语表达到药品推荐的完整链路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986790" y="4973002"/>
            <a:ext cx="169054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2E7D32"/>
                </a:solidFill>
                <a:latin typeface="Arial"/>
                <a:ea typeface="Microsoft YaHei"/>
                <a:cs typeface="Arial"/>
              </a:rPr>
              <a:t>→ 推荐审核闭环持续优化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456045" y="917258"/>
            <a:ext cx="105403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565C0"/>
                </a:solidFill>
                <a:latin typeface="Georgia"/>
                <a:ea typeface="KaiTi"/>
                <a:cs typeface="Georgia"/>
              </a:rPr>
              <a:t>未来方向</a:t>
            </a:r>
          </a:p>
        </p:txBody>
      </p:sp>
      <p:sp>
        <p:nvSpPr>
          <p:cNvPr id="27" name="Rectangle 27"/>
          <p:cNvSpPr/>
          <p:nvPr/>
        </p:nvSpPr>
        <p:spPr>
          <a:xfrm>
            <a:off x="6477000" y="1190625"/>
            <a:ext cx="952500" cy="19050"/>
          </a:xfrm>
          <a:prstGeom prst="rect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28" name="Rectangle 28"/>
          <p:cNvSpPr/>
          <p:nvPr/>
        </p:nvSpPr>
        <p:spPr>
          <a:xfrm>
            <a:off x="6477000" y="1409700"/>
            <a:ext cx="4953000" cy="1143000"/>
          </a:xfrm>
          <a:prstGeom prst="roundRect">
            <a:avLst>
              <a:gd name="adj" fmla="val 8333"/>
            </a:avLst>
          </a:prstGeom>
          <a:solidFill>
            <a:srgbClr val="F5F7FA"/>
          </a:solidFill>
          <a:ln w="9525">
            <a:solidFill>
              <a:srgbClr val="1565C0"/>
            </a:solidFill>
          </a:ln>
        </p:spPr>
      </p:sp>
      <p:sp>
        <p:nvSpPr>
          <p:cNvPr id="29" name="Rectangle 29"/>
          <p:cNvSpPr/>
          <p:nvPr/>
        </p:nvSpPr>
        <p:spPr>
          <a:xfrm>
            <a:off x="6477000" y="1409700"/>
            <a:ext cx="38100" cy="1143000"/>
          </a:xfrm>
          <a:prstGeom prst="roundRect">
            <a:avLst>
              <a:gd name="adj" fmla="val 50000"/>
            </a:avLst>
          </a:prstGeom>
          <a:solidFill>
            <a:srgbClr val="1565C0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6698932" y="1557814"/>
            <a:ext cx="1792105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b="1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扩充罕见病路由覆盖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700838" y="1878806"/>
            <a:ext cx="304359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当前120个罕见病路由覆盖有限，目标100%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6701790" y="2153602"/>
            <a:ext cx="302471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0A4AE"/>
                </a:solidFill>
                <a:latin typeface="Arial"/>
                <a:ea typeface="Microsoft YaHei"/>
                <a:cs typeface="Arial"/>
              </a:rPr>
              <a:t>结合医学知识图谱自动扩充疾病-适应症映射</a:t>
            </a:r>
          </a:p>
        </p:txBody>
      </p:sp>
      <p:sp>
        <p:nvSpPr>
          <p:cNvPr id="33" name="Rectangle 33"/>
          <p:cNvSpPr/>
          <p:nvPr/>
        </p:nvSpPr>
        <p:spPr>
          <a:xfrm>
            <a:off x="6477000" y="2724150"/>
            <a:ext cx="4953000" cy="1143000"/>
          </a:xfrm>
          <a:prstGeom prst="roundRect">
            <a:avLst>
              <a:gd name="adj" fmla="val 8333"/>
            </a:avLst>
          </a:prstGeom>
          <a:solidFill>
            <a:srgbClr val="F5F7FA"/>
          </a:solidFill>
          <a:ln w="9525">
            <a:solidFill>
              <a:srgbClr val="FF8F00"/>
            </a:solidFill>
          </a:ln>
        </p:spPr>
      </p:sp>
      <p:sp>
        <p:nvSpPr>
          <p:cNvPr id="34" name="Rectangle 34"/>
          <p:cNvSpPr/>
          <p:nvPr/>
        </p:nvSpPr>
        <p:spPr>
          <a:xfrm>
            <a:off x="6477000" y="2724150"/>
            <a:ext cx="38100" cy="1143000"/>
          </a:xfrm>
          <a:prstGeom prst="roundRect">
            <a:avLst>
              <a:gd name="adj" fmla="val 50000"/>
            </a:avLst>
          </a:prstGeom>
          <a:solidFill>
            <a:srgbClr val="FF8F00"/>
          </a:solidFill>
          <a:ln>
            <a:noFill/>
          </a:ln>
        </p:spPr>
      </p:sp>
      <p:sp>
        <p:nvSpPr>
          <p:cNvPr id="35" name="TextBox 35"/>
          <p:cNvSpPr txBox="1"/>
          <p:nvPr/>
        </p:nvSpPr>
        <p:spPr>
          <a:xfrm>
            <a:off x="6698932" y="2872264"/>
            <a:ext cx="1987629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b="1" dirty="0">
                <a:solidFill>
                  <a:srgbClr val="FF8F00"/>
                </a:solidFill>
                <a:latin typeface="Arial"/>
                <a:ea typeface="Microsoft YaHei"/>
                <a:cs typeface="Arial"/>
              </a:rPr>
              <a:t>审核反馈数据持续优化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6700838" y="3193256"/>
            <a:ext cx="33147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积累反馈数据，持续优化路由权重和推荐策略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6701790" y="3468052"/>
            <a:ext cx="217360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0A4AE"/>
                </a:solidFill>
                <a:latin typeface="Arial"/>
                <a:ea typeface="Microsoft YaHei"/>
                <a:cs typeface="Arial"/>
              </a:rPr>
              <a:t>从规则驱动逐步过渡到数据驱动</a:t>
            </a:r>
          </a:p>
        </p:txBody>
      </p:sp>
      <p:sp>
        <p:nvSpPr>
          <p:cNvPr id="38" name="Rectangle 38"/>
          <p:cNvSpPr/>
          <p:nvPr/>
        </p:nvSpPr>
        <p:spPr>
          <a:xfrm>
            <a:off x="6477000" y="4038600"/>
            <a:ext cx="4953000" cy="1143000"/>
          </a:xfrm>
          <a:prstGeom prst="roundRect">
            <a:avLst>
              <a:gd name="adj" fmla="val 8333"/>
            </a:avLst>
          </a:prstGeom>
          <a:solidFill>
            <a:srgbClr val="F5F7FA"/>
          </a:solidFill>
          <a:ln w="9525">
            <a:solidFill>
              <a:srgbClr val="00796B"/>
            </a:solidFill>
          </a:ln>
        </p:spPr>
      </p:sp>
      <p:sp>
        <p:nvSpPr>
          <p:cNvPr id="39" name="Rectangle 39"/>
          <p:cNvSpPr/>
          <p:nvPr/>
        </p:nvSpPr>
        <p:spPr>
          <a:xfrm>
            <a:off x="6477000" y="4038600"/>
            <a:ext cx="38100" cy="1143000"/>
          </a:xfrm>
          <a:prstGeom prst="roundRect">
            <a:avLst>
              <a:gd name="adj" fmla="val 50000"/>
            </a:avLst>
          </a:prstGeom>
          <a:solidFill>
            <a:srgbClr val="00796B"/>
          </a:solidFill>
          <a:ln>
            <a:noFill/>
          </a:ln>
        </p:spPr>
      </p:sp>
      <p:sp>
        <p:nvSpPr>
          <p:cNvPr id="40" name="TextBox 40"/>
          <p:cNvSpPr txBox="1"/>
          <p:nvPr/>
        </p:nvSpPr>
        <p:spPr>
          <a:xfrm>
            <a:off x="6698932" y="4186714"/>
            <a:ext cx="2280916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b="1" dirty="0">
                <a:solidFill>
                  <a:srgbClr val="00796B"/>
                </a:solidFill>
                <a:latin typeface="Arial"/>
                <a:ea typeface="Microsoft YaHei"/>
                <a:cs typeface="Arial"/>
              </a:rPr>
              <a:t>安全性特征编码入DeepFM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6700838" y="4507706"/>
            <a:ext cx="232886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禁忌症、交互等编码为模型特征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6700838" y="4774406"/>
            <a:ext cx="265747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实现安全性与排序的端到端联合优化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1306842" y="6522720"/>
            <a:ext cx="13458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0A4AE"/>
                </a:solidFill>
                <a:latin typeface="Arial"/>
                <a:ea typeface="Microsoft YaHei"/>
                <a:cs typeface="Arial"/>
              </a:rPr>
              <a:t>12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0796B">
                  <a:alpha val="4000"/>
                </a:srgbClr>
              </a:gs>
              <a:gs pos="100000">
                <a:srgbClr val="00796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gradFill>
            <a:gsLst>
              <a:gs pos="0">
                <a:srgbClr val="00796B"/>
              </a:gs>
              <a:gs pos="100000">
                <a:srgbClr val="1565C0"/>
              </a:gs>
            </a:gsLst>
            <a:lin ang="0" scaled="1"/>
          </a:gra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762000" y="1905000"/>
            <a:ext cx="38100" cy="2857500"/>
          </a:xfrm>
          <a:prstGeom prst="roundRect">
            <a:avLst>
              <a:gd name="adj" fmla="val 50000"/>
            </a:avLst>
          </a:prstGeom>
          <a:solidFill>
            <a:srgbClr val="00796B">
              <a:alpha val="10000"/>
            </a:srgbClr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5358684" y="1864995"/>
            <a:ext cx="1474632" cy="7924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900" b="1" dirty="0">
                <a:solidFill>
                  <a:srgbClr val="1A1A2E"/>
                </a:solidFill>
                <a:latin typeface="Georgia"/>
                <a:ea typeface="KaiTi"/>
                <a:cs typeface="Georgia"/>
              </a:rPr>
              <a:t>致 谢</a:t>
            </a:r>
          </a:p>
        </p:txBody>
      </p:sp>
      <p:sp>
        <p:nvSpPr>
          <p:cNvPr id="7" name="Rectangle 7"/>
          <p:cNvSpPr/>
          <p:nvPr/>
        </p:nvSpPr>
        <p:spPr>
          <a:xfrm>
            <a:off x="5524500" y="2457450"/>
            <a:ext cx="1143000" cy="28575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0796B"/>
              </a:gs>
              <a:gs pos="100000">
                <a:srgbClr val="1565C0"/>
              </a:gs>
            </a:gsLst>
            <a:lin ang="0" scaled="1"/>
          </a:gra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4147185" y="3060382"/>
            <a:ext cx="3897630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感谢指导教师侯慧莹老师的悉心指导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785711" y="3631882"/>
            <a:ext cx="4620578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感谢人工智能与大数据学院各位老师的培养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870132" y="4203382"/>
            <a:ext cx="2451735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感谢家人的理解与支持</a:t>
            </a:r>
          </a:p>
        </p:txBody>
      </p:sp>
      <p:sp>
        <p:nvSpPr>
          <p:cNvPr id="11" name="Rectangle 11"/>
          <p:cNvSpPr/>
          <p:nvPr/>
        </p:nvSpPr>
        <p:spPr>
          <a:xfrm>
            <a:off x="0" y="5715000"/>
            <a:ext cx="12192000" cy="9525"/>
          </a:xfrm>
          <a:prstGeom prst="rect">
            <a:avLst/>
          </a:prstGeom>
          <a:solidFill>
            <a:srgbClr val="E0E0E0"/>
          </a:solidFill>
          <a:ln>
            <a:noFill/>
          </a:ln>
        </p:spPr>
      </p:sp>
      <p:sp>
        <p:nvSpPr>
          <p:cNvPr id="12" name="Rectangle 12"/>
          <p:cNvSpPr/>
          <p:nvPr/>
        </p:nvSpPr>
        <p:spPr>
          <a:xfrm>
            <a:off x="0" y="6286500"/>
            <a:ext cx="12192000" cy="571500"/>
          </a:xfrm>
          <a:prstGeom prst="rect">
            <a:avLst/>
          </a:prstGeom>
          <a:gradFill>
            <a:gsLst>
              <a:gs pos="0">
                <a:srgbClr val="00796B">
                  <a:alpha val="6000"/>
                </a:srgbClr>
              </a:gs>
              <a:gs pos="100000">
                <a:srgbClr val="1565C0">
                  <a:alpha val="6000"/>
                </a:srgbClr>
              </a:gs>
            </a:gsLst>
            <a:lin ang="0" scaled="1"/>
          </a:gradFill>
          <a:ln>
            <a:noFill/>
          </a:ln>
        </p:spPr>
      </p:sp>
      <p:sp>
        <p:nvSpPr>
          <p:cNvPr id="13" name="Polygon 13"/>
          <p:cNvSpPr/>
          <p:nvPr/>
        </p:nvSpPr>
        <p:spPr>
          <a:xfrm>
            <a:off x="10477500" y="5000625"/>
            <a:ext cx="476250" cy="571500"/>
          </a:xfrm>
          <a:custGeom>
            <a:avLst/>
            <a:gdLst/>
            <a:ahLst/>
            <a:cxnLst/>
            <a:rect l="l" t="t" r="r" b="b"/>
            <a:pathLst>
              <a:path w="476250" h="571500">
                <a:moveTo>
                  <a:pt x="0" y="142875"/>
                </a:moveTo>
                <a:lnTo>
                  <a:pt x="238125" y="0"/>
                </a:lnTo>
                <a:lnTo>
                  <a:pt x="476250" y="142875"/>
                </a:lnTo>
                <a:lnTo>
                  <a:pt x="476250" y="428625"/>
                </a:lnTo>
                <a:lnTo>
                  <a:pt x="238125" y="571500"/>
                </a:lnTo>
                <a:lnTo>
                  <a:pt x="0" y="428625"/>
                </a:lnTo>
                <a:close/>
              </a:path>
            </a:pathLst>
          </a:custGeom>
          <a:noFill/>
          <a:ln w="9525">
            <a:solidFill>
              <a:srgbClr val="00796B">
                <a:alpha val="12000"/>
              </a:srgbClr>
            </a:solidFill>
          </a:ln>
        </p:spPr>
      </p:sp>
      <p:sp>
        <p:nvSpPr>
          <p:cNvPr id="14" name="Polygon 14"/>
          <p:cNvSpPr/>
          <p:nvPr/>
        </p:nvSpPr>
        <p:spPr>
          <a:xfrm>
            <a:off x="10953750" y="5000625"/>
            <a:ext cx="476250" cy="571500"/>
          </a:xfrm>
          <a:custGeom>
            <a:avLst/>
            <a:gdLst/>
            <a:ahLst/>
            <a:cxnLst/>
            <a:rect l="l" t="t" r="r" b="b"/>
            <a:pathLst>
              <a:path w="476250" h="571500">
                <a:moveTo>
                  <a:pt x="0" y="142875"/>
                </a:moveTo>
                <a:lnTo>
                  <a:pt x="238125" y="0"/>
                </a:lnTo>
                <a:lnTo>
                  <a:pt x="476250" y="142875"/>
                </a:lnTo>
                <a:lnTo>
                  <a:pt x="476250" y="428625"/>
                </a:lnTo>
                <a:lnTo>
                  <a:pt x="238125" y="571500"/>
                </a:lnTo>
                <a:lnTo>
                  <a:pt x="0" y="428625"/>
                </a:lnTo>
                <a:close/>
              </a:path>
            </a:pathLst>
          </a:custGeom>
          <a:noFill/>
          <a:ln w="9525">
            <a:solidFill>
              <a:srgbClr val="1565C0">
                <a:alpha val="12000"/>
              </a:srgbClr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1129665" y="6506528"/>
            <a:ext cx="75509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0A4AE"/>
                </a:solidFill>
                <a:latin typeface="Arial"/>
                <a:ea typeface="Microsoft YaHei"/>
                <a:cs typeface="Arial"/>
              </a:rPr>
              <a:t>2026年3月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306842" y="6522720"/>
            <a:ext cx="13458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0A4AE"/>
                </a:solidFill>
                <a:latin typeface="Arial"/>
                <a:ea typeface="Microsoft YaHei"/>
                <a:cs typeface="Arial"/>
              </a:rPr>
              <a:t>13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